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5143500" cx="9144000"/>
  <p:notesSz cx="6858000" cy="9144000"/>
  <p:embeddedFontLst>
    <p:embeddedFont>
      <p:font typeface="Noto Sans KR"/>
      <p:regular r:id="rId33"/>
      <p:bold r:id="rId34"/>
    </p:embeddedFont>
    <p:embeddedFont>
      <p:font typeface="Roboto Mono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NotoSansKR-regular.fntdata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RobotoMono-regular.fntdata"/><Relationship Id="rId12" Type="http://schemas.openxmlformats.org/officeDocument/2006/relationships/slide" Target="slides/slide7.xml"/><Relationship Id="rId34" Type="http://schemas.openxmlformats.org/officeDocument/2006/relationships/font" Target="fonts/NotoSansKR-bold.fntdata"/><Relationship Id="rId15" Type="http://schemas.openxmlformats.org/officeDocument/2006/relationships/slide" Target="slides/slide10.xml"/><Relationship Id="rId37" Type="http://schemas.openxmlformats.org/officeDocument/2006/relationships/font" Target="fonts/RobotoMono-italic.fntdata"/><Relationship Id="rId14" Type="http://schemas.openxmlformats.org/officeDocument/2006/relationships/slide" Target="slides/slide9.xml"/><Relationship Id="rId36" Type="http://schemas.openxmlformats.org/officeDocument/2006/relationships/font" Target="fonts/RobotoMono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schemas.openxmlformats.org/officeDocument/2006/relationships/font" Target="fonts/RobotoMono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h67a11612923e4705_61_14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h67a11612923e4705_61_14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발표자: 윤중호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ko"/>
            </a:br>
            <a:r>
              <a:rPr lang="ko"/>
              <a:t>안녕하세요, [팀명]의 [발표자]입니다. T-Safe System은 요양시설에서 일어나는 사고를 감지하고 대응을 돕는 모니터링 시스템입니다. 직원이 모니터링 창 하나만 보면 낙상, 출입, 장치 상태를 모두 확인하고 빠르게, 놓치지 않고 대응할 수 있게 만드는 것이 목표였습니다.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—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안녕하세요. 천기 팀에서 발표를 맡은 장현우입니다.</a:t>
            </a:r>
            <a:endParaRPr/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h67a11612923e4705_61_14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h67a11612923e4705_61_14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—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ko"/>
              <a:t>저희가 개발한 TSAFE는 요양원에서 낙상 사고가 발생했을 때, 이를 실시간으로 감지하고 신속하게 대응할 수 있도록 도와주는 통합 모니터링 시스템입니다.관리자는 하나의 GUI를 통해 환자들의 상태를 확인하고, 이상 상황이 발생했을 때 적절한 조치를 취할 수 있습니다.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h67a11612923e4705_61_14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h67a11612923e4705_61_14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h67a11612923e4705_61_14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h67a11612923e4705_61_14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—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먼저 저희가 이 프로젝트를 시작하게 된 배경에 대해 설명드리겠습니다.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요양원에서는 고령의 환자들이 낙상 사고를 겪는 경우가 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이때 가장 중요한 것은 사고를 최대한 빨리 발견하고 대응하는 것입니다.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하지만 관리자가 잠시 자리를 비우거나, 야간에 잠들어 있는 상황에서는 사고를 바로 파악하기 어려울 수 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저희는 이러한 문제를 해결하기 위해 자동으로 낙상을 감지하고 관리자에게 알려주는 시스템을 개발하고자 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또 다른 문제는 출입문 관리입니다.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요양원에는 치매를 앓고 계신 어르신들도 계시는데, 특히 야간에 혼자 밖으로 나가려고 하시는 경우가 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이때 출입문이 제대로 관리되지 않으면 실종 사고로 이어질 가능성도 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그리고 외부인의 출입도 관리할 필요가 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누가 시설에 들어왔는지 확인하고, 출입 권한이 없는 사람이 무단으로 들어오는 것을 방지해야 합니다.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마지막으로 낙상 사고가 발생했을 때, 단순히 알림을 받는 것뿐만 아니라 어느 위치에서 사고가 발생했는지도 쉽게 확인할 수 있어야 한다고 생각했습니다.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그래서 저희는 사고 발생 위치를 한눈에 확인할 수 있는 지도 형태의 UI도 고려했습니다.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이러한 문제들을 해결하는 것이 저희 프로젝트의 주요 목표입니다.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7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h67a11612923e4705_61_14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h67a11612923e4705_61_14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h67a11612923e4705_61_14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h67a11612923e4705_61_14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발표자: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앞서 설명드린 목표를 실제 사용 상황에 적용하면 크게 세 가지로 나눌 수 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먼저 </a:t>
            </a:r>
            <a:r>
              <a:rPr b="1" lang="ko">
                <a:solidFill>
                  <a:schemeClr val="dk1"/>
                </a:solidFill>
              </a:rPr>
              <a:t>출입 상황</a:t>
            </a:r>
            <a:r>
              <a:rPr lang="ko">
                <a:solidFill>
                  <a:schemeClr val="dk1"/>
                </a:solidFill>
              </a:rPr>
              <a:t>에서는 카메라로 출입자의 얼굴을 식별하고, 출입 권한에 따라 자동으로 문을 개방하거나 출입을 제한합니다. 이 과정은 기록으로 남아 관리자 화면에 표시됩니다.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b="1" lang="ko">
                <a:solidFill>
                  <a:schemeClr val="dk1"/>
                </a:solidFill>
              </a:rPr>
              <a:t>평상시</a:t>
            </a:r>
            <a:r>
              <a:rPr lang="ko">
                <a:solidFill>
                  <a:schemeClr val="dk1"/>
                </a:solidFill>
              </a:rPr>
              <a:t>에는 입소자와 직원의 정보를 통합 관리하고, CCTV 모니터링과 출입·사고 기록 조회, 원격 출입문 제어 등의 기능을 제공합니다.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700"/>
              </a:spcBef>
              <a:spcAft>
                <a:spcPts val="1700"/>
              </a:spcAft>
              <a:buNone/>
            </a:pPr>
            <a:r>
              <a:rPr lang="ko">
                <a:solidFill>
                  <a:schemeClr val="dk1"/>
                </a:solidFill>
              </a:rPr>
              <a:t>마지막으로 </a:t>
            </a:r>
            <a:r>
              <a:rPr b="1" lang="ko">
                <a:solidFill>
                  <a:schemeClr val="dk1"/>
                </a:solidFill>
              </a:rPr>
              <a:t>쓰러짐 발생 시</a:t>
            </a:r>
            <a:r>
              <a:rPr lang="ko">
                <a:solidFill>
                  <a:schemeClr val="dk1"/>
                </a:solidFill>
              </a:rPr>
              <a:t>에는 CCTV 영상으로 쓰러짐을 감지하고, 발생 위치와 시간을 기록해 관리자에게 알림을 전달합니다.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h67a11612923e4705_61_15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h67a11612923e4705_61_15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h67a11612923e4705_61_15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h67a11612923e4705_61_15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—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전체 시스템의 주요 기능은 크게 세 가지로 정리할 수 있습니다.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첫 번째는 출입문의 개폐를 관리하는 기능입니다.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두 번째는 CCTV를 이용한 실시간 모니터링과 낙상 감지 기능입니다.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세 번째는 환자 정보와 출입 기록 등을 관리하는 데이터베이스 기능입니다.</a:t>
            </a:r>
            <a:endParaRPr/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h67a11612923e4705_61_15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h67a11612923e4705_61_15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[발표: 팀장]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출입자가 접근하면 카메라가 얼굴을 따라가고, 등록된 인물인지와 출입 권한을 확인합니다. 조건을 통과하면 문이 열리고 출입 기록이 남습니다. 미등록자는 문이 열리지 않습니다. 인식 기술과 장치 연결은 데모 뒤의 기술 상세에서 설명하겠습니다.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—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다음으로 얼굴 인식 시스템에 대해 설명드리겠습니다.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요양원에는 다양한 신체적 특징을 가진 분들이 계십니다.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키가 큰 분도 계시고, 허리가 굽은 분도 계시고, 휠체어를 이용하시는 분들도 계십니다.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이처럼 사람마다 얼굴의 높이가 다르기 때문에, 카메라를 고정된 위치에 설치하면 모든 사람의 얼굴을 정확하게 인식하기 어렵다는 문제가 있습니다.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그래서 저희는 카메라가 사람의 얼굴을 따라 움직이도록 하는 자동 추적 기능을 구현했습니다.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사람이 움직이거나 얼굴의 위치가 달라지더라도 카메라가 자동으로 방향을 조절하여 얼굴을 화면 중앙에 유지하도록 했습니다.</a:t>
            </a:r>
            <a:endParaRPr/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h67a11612923e4705_61_15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h67a11612923e4705_61_15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[발표: </a:t>
            </a:r>
            <a:r>
              <a:rPr lang="ko"/>
              <a:t>윤중호</a:t>
            </a:r>
            <a:r>
              <a:rPr lang="ko"/>
              <a:t>]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다음은 입소자·직원 정보 관리 기능입니다.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lang="ko"/>
              <a:t>관리자는 GUI에서 입소자와 직원의 인적사항 및 건강 정보를 등록/수정/삭제 할 수 있습니다.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700"/>
              </a:spcBef>
              <a:spcAft>
                <a:spcPts val="1700"/>
              </a:spcAft>
              <a:buNone/>
            </a:pPr>
            <a:r>
              <a:rPr lang="ko">
                <a:solidFill>
                  <a:schemeClr val="dk1"/>
                </a:solidFill>
              </a:rPr>
              <a:t>GUI에서 </a:t>
            </a:r>
            <a:r>
              <a:rPr lang="ko">
                <a:solidFill>
                  <a:schemeClr val="dk1"/>
                </a:solidFill>
              </a:rPr>
              <a:t>등록/수정/삭제한 </a:t>
            </a:r>
            <a:r>
              <a:rPr lang="ko"/>
              <a:t>내용은 DB에 등록됩니다.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h67a11612923e4705_61_15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h67a11612923e4705_61_15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[발표: 팀장]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[실제 영상이 이 순서로 편집되어 있는지 확인하세요.] 얼굴 인증과 출입, 카메라 추적, 환자 정보 관리, 모니터링, 낙상과 알람 해제 순서로 보여 드리겠습니다.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—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다음은 실제 구현 결과입니다.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먼저 카메라가 사람의 얼굴을 인식하고 자동으로 추적하는 모습을 확인하실 수 있습니다.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그리고 낙상 감지 기능이 작동하는 영상도 준비했습니다.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이 영상에서는 시스템이 낙상 상황을 어떻게 감지하는지 확인하실 수 있습니다.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다음은 관리자가 사용하는 GUI 화면입니다.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GUI에서는 환자의 상태를 확인할 수 있고, 데이터베이스와 연동하여 환자 정보 및 출입 관련 데이터를 관리할 수 있도록 구성했습니다.</a:t>
            </a:r>
            <a:endParaRPr/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h67a11612923e4705_61_15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h67a11612923e4705_61_15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[발표: 팀장]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낙상 감지는 영상 속 사람의 자세와 움직임 변화를 보고 넘어짐 여부를 판단하는 기능입니다. 낙상으로 판정되면 위치와 시간을 남기고 관리자 GUI에 알립니다. YOLO Pose와 LSTM의 구체적인 처리 과정은 기술 상세에서 설명하겠습니다.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h67a11612923e4705_61_15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h67a11612923e4705_61_15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[발표: 팀장]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[실제 영상이 이 순서로 편집되어 있는지 확인하세요.] 얼굴 인증과 출입, 카메라 추적, 환자 정보 관리, 모니터링, 낙상과 알람 해제 순서로 보여 드리겠습니다.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h67a11612923e4705_61_16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h67a11612923e4705_61_16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[발표: 팀장]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기술 상세는 세 부분으로 나눠 발표하겠습니다. 16장부터 21장까지는 팀장이 개발 방법과 요구사항, 시스템 구성, 인터페이스, DB와 모듈의 전체 구조를 설명합니다. 22장부터 31장까지는 각 담당자가 구현을 설명합니다. 이후 공통 규칙과 시험 결과는 팀장이 다시 정리합니다.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h67a11612923e4705_61_16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h67a11612923e4705_61_16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[발표: </a:t>
            </a:r>
            <a:r>
              <a:rPr lang="ko">
                <a:solidFill>
                  <a:schemeClr val="dk1"/>
                </a:solidFill>
              </a:rPr>
              <a:t>윤 중 호</a:t>
            </a:r>
            <a:r>
              <a:rPr lang="ko"/>
              <a:t>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기술 상세는 세 영역으로 나눴습니다. 첫째 출입 관리는 얼굴 추적, 얼굴 감지·인증, 문 열기로 18장부터 20장까지, 둘째 낙상 감지 모니터링은 상시 모니터링, 낙상 감지, 알람 해제로 21장과 22장, 셋째 환자 관리는 명부 등록·수정·삭제와 Main Server, PostgreSQL DB 설계로 23장부터 25장까지 설명합니다.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[다음 발표자 인계]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이상으로 전체 구조 설명을 마칩니다. 이제 얼굴 인식·서버 담당자가 얼굴 인증과 출입 구현을 설명하겠습니다.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h67a11612923e4705_61_16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h67a11612923e4705_61_16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[발표: 윤 중 호]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700"/>
              </a:spcBef>
              <a:spcAft>
                <a:spcPts val="1700"/>
              </a:spcAft>
              <a:buNone/>
            </a:pPr>
            <a:r>
              <a:rPr lang="ko">
                <a:solidFill>
                  <a:schemeClr val="dk1"/>
                </a:solidFill>
              </a:rPr>
              <a:t>다음은 전체 시스템 아키텍처입니다.</a:t>
            </a:r>
            <a:br>
              <a:rPr lang="ko">
                <a:solidFill>
                  <a:schemeClr val="dk1"/>
                </a:solidFill>
              </a:rPr>
            </a:br>
            <a:r>
              <a:rPr lang="ko">
                <a:solidFill>
                  <a:schemeClr val="dk1"/>
                </a:solidFill>
              </a:rPr>
              <a:t>저희 시스템은 기능에 따라 총 4대의 PC로 분산하여 구성했습니다.</a:t>
            </a:r>
            <a:br>
              <a:rPr lang="ko">
                <a:solidFill>
                  <a:schemeClr val="dk1"/>
                </a:solidFill>
              </a:rPr>
            </a:br>
            <a:r>
              <a:rPr lang="ko">
                <a:solidFill>
                  <a:schemeClr val="dk1"/>
                </a:solidFill>
              </a:rPr>
              <a:t>PC4는 출입 카메라와 출입문 제어를 담당하고, PC2는 얼굴 검출과 식별, PC3는 CCTV 영상 기반 쓰러짐 감지를 담당합니다.</a:t>
            </a:r>
            <a:br>
              <a:rPr lang="ko">
                <a:solidFill>
                  <a:schemeClr val="dk1"/>
                </a:solidFill>
              </a:rPr>
            </a:br>
            <a:r>
              <a:rPr lang="ko">
                <a:solidFill>
                  <a:schemeClr val="dk1"/>
                </a:solidFill>
              </a:rPr>
              <a:t>그리고 </a:t>
            </a:r>
            <a:r>
              <a:rPr b="1" lang="ko">
                <a:solidFill>
                  <a:schemeClr val="dk1"/>
                </a:solidFill>
              </a:rPr>
              <a:t>PC1은 이러한 개별 기능들을 통합하는 중앙 시스템</a:t>
            </a:r>
            <a:r>
              <a:rPr lang="ko">
                <a:solidFill>
                  <a:schemeClr val="dk1"/>
                </a:solidFill>
              </a:rPr>
              <a:t>으로, 각 PC에서 전달받은 데이터를 처리하고 출입 권한 판정과 이벤트 기록, 장치 제어 명령 전달을 수행합니다.</a:t>
            </a:r>
            <a:br>
              <a:rPr lang="ko">
                <a:solidFill>
                  <a:schemeClr val="dk1"/>
                </a:solidFill>
              </a:rPr>
            </a:br>
            <a:r>
              <a:rPr lang="ko">
                <a:solidFill>
                  <a:schemeClr val="dk1"/>
                </a:solidFill>
              </a:rPr>
              <a:t>또한 PC1 내부에는 관리자 GUI와 PostgreSQL 데이터베이스를 함께 구성하여, 입소자·직원 정보 관리와 실시간 모니터링 기능을 제공하도록 설계했습니다.</a:t>
            </a:r>
            <a:br>
              <a:rPr lang="ko">
                <a:solidFill>
                  <a:schemeClr val="dk1"/>
                </a:solidFill>
              </a:rPr>
            </a:b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h5c09ddd2111cf2dc_6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h5c09ddd2111cf2dc_6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[발표: </a:t>
            </a:r>
            <a:r>
              <a:rPr lang="ko"/>
              <a:t>윤중호</a:t>
            </a:r>
            <a:r>
              <a:rPr lang="ko"/>
              <a:t>]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다음은 PostgreSQL 데이터베이스 설계입니다.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저희는 인물 정보와 얼굴 식별정보, 출입 기록, 쓰러짐 및 알림 데이터를 크게 세 영역으로 나누어 관리하도록 설계했습니다.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특히 인물마다 고유 ID를 부여하고, 이를 기준으로 얼굴 식별정보와 출입 기록을 연결했습니다.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DB는</a:t>
            </a:r>
            <a:r>
              <a:rPr lang="ko">
                <a:solidFill>
                  <a:schemeClr val="dk1"/>
                </a:solidFill>
              </a:rPr>
              <a:t> 얼굴 인식 모델에서 추출한 512차원 특징벡터를 코사인 유사도 검색을 할 수 있는 pgvector 확장 기능을 활용하기 위해</a:t>
            </a:r>
            <a:r>
              <a:rPr lang="ko">
                <a:solidFill>
                  <a:schemeClr val="dk1"/>
                </a:solidFill>
              </a:rPr>
              <a:t> PostgreSQL을 사용하여 구현했습니다.</a:t>
            </a:r>
            <a:br>
              <a:rPr lang="ko">
                <a:solidFill>
                  <a:schemeClr val="dk1"/>
                </a:solidFill>
              </a:rPr>
            </a:br>
            <a:br>
              <a:rPr lang="ko">
                <a:solidFill>
                  <a:schemeClr val="dk1"/>
                </a:solidFill>
              </a:rPr>
            </a:br>
            <a:r>
              <a:rPr lang="ko">
                <a:solidFill>
                  <a:schemeClr val="dk1"/>
                </a:solidFill>
              </a:rPr>
              <a:t>[예상 질문]</a:t>
            </a:r>
            <a:br>
              <a:rPr lang="ko">
                <a:solidFill>
                  <a:schemeClr val="dk1"/>
                </a:solidFill>
              </a:rPr>
            </a:br>
            <a:r>
              <a:rPr lang="ko">
                <a:solidFill>
                  <a:schemeClr val="dk1"/>
                </a:solidFill>
              </a:rPr>
              <a:t>- 왜 하나의 테이블에 전부 저장하지 않았는가? </a:t>
            </a:r>
            <a:br>
              <a:rPr lang="ko">
                <a:solidFill>
                  <a:schemeClr val="dk1"/>
                </a:solidFill>
              </a:rPr>
            </a:br>
            <a:br>
              <a:rPr lang="ko">
                <a:solidFill>
                  <a:schemeClr val="dk1"/>
                </a:solidFill>
              </a:rPr>
            </a:br>
            <a:r>
              <a:rPr lang="ko">
                <a:solidFill>
                  <a:schemeClr val="dk1"/>
                </a:solidFill>
              </a:rPr>
              <a:t>인물 기본정보와 건강정보, 얼굴 특징벡터는 데이터의 특성과 관리 목적이 다르기 때문에 테이블을 분리했습니다.</a:t>
            </a:r>
            <a:br>
              <a:rPr lang="ko">
                <a:solidFill>
                  <a:schemeClr val="dk1"/>
                </a:solidFill>
              </a:rPr>
            </a:br>
            <a:r>
              <a:rPr lang="ko">
                <a:solidFill>
                  <a:schemeClr val="dk1"/>
                </a:solidFill>
              </a:rPr>
              <a:t>특히 얼굴 특징벡터는 일반 인적사항과 달리 별도로 등록하거나 갱신할 수 있어야 하고, 향후 얼굴 인식 모델이 변경되더라도 유연하게 대응할 수 있도록 설계했습니다.</a:t>
            </a:r>
            <a:br>
              <a:rPr lang="ko">
                <a:solidFill>
                  <a:schemeClr val="dk1"/>
                </a:solidFill>
              </a:rPr>
            </a:br>
            <a:r>
              <a:rPr lang="ko">
                <a:solidFill>
                  <a:schemeClr val="dk1"/>
                </a:solidFill>
              </a:rPr>
              <a:t>대신 공통 </a:t>
            </a:r>
            <a:r>
              <a:rPr lang="ko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person_id</a:t>
            </a:r>
            <a:r>
              <a:rPr lang="ko">
                <a:solidFill>
                  <a:schemeClr val="dk1"/>
                </a:solidFill>
              </a:rPr>
              <a:t>를 외래키로 연결하여 데이터 간 관계와 무결성을 유지했습니다.</a:t>
            </a:r>
            <a:br>
              <a:rPr lang="ko">
                <a:solidFill>
                  <a:schemeClr val="dk1"/>
                </a:solidFill>
              </a:rPr>
            </a:br>
            <a:r>
              <a:rPr b="1" lang="ko" sz="1300">
                <a:solidFill>
                  <a:schemeClr val="dk1"/>
                </a:solidFill>
              </a:rPr>
              <a:t>① 데이터마다 저장 목적과 특성이 다름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persons</a:t>
            </a:r>
            <a:r>
              <a:rPr lang="ko">
                <a:solidFill>
                  <a:schemeClr val="dk1"/>
                </a:solidFill>
              </a:rPr>
              <a:t>: 모든 인물이 공통으로 가지는 기본정보와 출입 권한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patient_profiles</a:t>
            </a:r>
            <a:r>
              <a:rPr lang="ko">
                <a:solidFill>
                  <a:schemeClr val="dk1"/>
                </a:solidFill>
              </a:rPr>
              <a:t>: 건강 관련 상세정보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face_templates</a:t>
            </a:r>
            <a:r>
              <a:rPr lang="ko">
                <a:solidFill>
                  <a:schemeClr val="dk1"/>
                </a:solidFill>
              </a:rPr>
              <a:t>: 얼굴 인식 모델이 생성한 512차원 특징벡터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예를 들어 얼굴 등록이 안 된 사람도 인물 정보는 등록할 수 있어야 해.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그래서 모든 데이터를 하나의 테이블에 넣는 것보다 각각 분리하는 게 유연해.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b="1" lang="ko" sz="1300">
                <a:solidFill>
                  <a:schemeClr val="dk1"/>
                </a:solidFill>
              </a:rPr>
              <a:t>② 얼굴 데이터는 용량과 관리 방식이 다름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lang="ko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persons</a:t>
            </a:r>
            <a:r>
              <a:rPr lang="ko">
                <a:solidFill>
                  <a:schemeClr val="dk1"/>
                </a:solidFill>
              </a:rPr>
              <a:t>의 이름이나 출입 권한은 비교적 작은 데이터지만, 얼굴 특징벡터는 512개의 실수로 구성돼.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또한 인적사항을 수정하는 것과 얼굴 특징벡터를 재등록하는 것은 서로 다른 작업이야.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따라서 얼굴 데이터를 별도 테이블에 두면 인물 정보와 얼굴 식별정보를 독립적으로 관리할 수 있어.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다만 테이블을 분리했다고 해서 단순 조회가 무조건 빨라지는 건 아니야. 필요한 데이터를 합칠 때는 </a:t>
            </a:r>
            <a:r>
              <a:rPr lang="ko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JOIN</a:t>
            </a:r>
            <a:r>
              <a:rPr lang="ko">
                <a:solidFill>
                  <a:schemeClr val="dk1"/>
                </a:solidFill>
              </a:rPr>
              <a:t> 연산이 추가될 수도 있어.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b="1" lang="ko" sz="1300">
                <a:solidFill>
                  <a:schemeClr val="dk1"/>
                </a:solidFill>
              </a:rPr>
              <a:t>③ 얼굴 식별 모델 확장에 유리함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현재 GitHub 코드를 확인하면 </a:t>
            </a:r>
            <a:r>
              <a:rPr lang="ko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face_templates</a:t>
            </a:r>
            <a:r>
              <a:rPr lang="ko">
                <a:solidFill>
                  <a:schemeClr val="dk1"/>
                </a:solidFill>
              </a:rPr>
              <a:t>에는 다음 제약이 있어.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lang="ko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UNIQUE (person_id, model)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즉, 한 사람에 대해 모델별로 서로 다른 얼굴 특징벡터를 저장할 수 있는 구조야.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700"/>
              </a:spcBef>
              <a:spcAft>
                <a:spcPts val="1700"/>
              </a:spcAft>
              <a:buNone/>
            </a:pPr>
            <a:r>
              <a:rPr lang="ko">
                <a:solidFill>
                  <a:schemeClr val="dk1"/>
                </a:solidFill>
              </a:rPr>
              <a:t>예를 들어 추후 새로운 얼굴 인식 모델을 도입하더라도 </a:t>
            </a:r>
            <a:r>
              <a:rPr lang="ko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persons</a:t>
            </a:r>
            <a:r>
              <a:rPr lang="ko">
                <a:solidFill>
                  <a:schemeClr val="dk1"/>
                </a:solidFill>
              </a:rPr>
              <a:t> 테이블 구조를 변경하지 않고 얼굴 템플릿을 추가할 수 있어.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h3a758be815064504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h3a758be815064504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[</a:t>
            </a:r>
            <a:r>
              <a:rPr lang="ko">
                <a:solidFill>
                  <a:schemeClr val="dk1"/>
                </a:solidFill>
              </a:rPr>
              <a:t>발표: 윤중호</a:t>
            </a:r>
            <a:r>
              <a:rPr lang="ko"/>
              <a:t>]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다음은 Main Server 설계입니다.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메인서버는 FastAPI를 기반으로 구현했으며, 각 모듈에서 전달되는 데이터를 통합 처리하는 역할을 담당합니다.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주요 기능은 크게 네 가지로 구분했습니다.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먼저 PC2에서 전달받은 </a:t>
            </a:r>
            <a:r>
              <a:rPr b="1" lang="ko">
                <a:solidFill>
                  <a:schemeClr val="dk1"/>
                </a:solidFill>
              </a:rPr>
              <a:t>추적 좌표를 PC4로 중계</a:t>
            </a:r>
            <a:r>
              <a:rPr lang="ko">
                <a:solidFill>
                  <a:schemeClr val="dk1"/>
                </a:solidFill>
              </a:rPr>
              <a:t>하여 카메라가 사람을 추적하도록 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또한 얼굴 특징벡터를 DB에 등록된 데이터와 비교하고, </a:t>
            </a:r>
            <a:r>
              <a:rPr b="1" lang="ko">
                <a:solidFill>
                  <a:schemeClr val="dk1"/>
                </a:solidFill>
              </a:rPr>
              <a:t>출입 권한에 따라 출입문 개방 여부를 판단</a:t>
            </a:r>
            <a:r>
              <a:rPr lang="ko">
                <a:solidFill>
                  <a:schemeClr val="dk1"/>
                </a:solidFill>
              </a:rPr>
              <a:t>하도록 구현했습니다.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PC3에서 쓰러짐이 감지되면 발생 정보를 DB에 기록하고 관리자 GUI에 알림을 전달하며, GUI에서 요청한 입소자·직원 정보의 등록과 수정, 조회 등의 기능도 처리합니다.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이처럼 각 기능의 통신과 데이터 처리를 중앙 서버로 통합하여, 개별 모듈들이 연계되어 동작하도록 구현했습니다.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7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h67a11612923e4705_61_17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h67a11612923e4705_61_17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[발표: 낙상 감지 담당]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[①② 감지 → 알람]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PC3는 0.5초마다 이미지와 좌표 등을 서버에 보내고 GUI는 최신 화면을 표시합니다. 낙상 발생 시 서버가 fall_events와 alerts를 하나의 트랜잭션으로 저장합니다. 저장 결과를 반영해 GUI에 FALL 알림을 표시합니다. 최신 이미지 조회와 사건 저장은 구분해서 설명하며, GUI의 이미지 조회 방식은 인터페이스 목록에 정리했습니다.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[③ 현장 확인 → 알람 해제]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낙상을 발견하는 단계에서 끝내지 않고 직원이 현장을 확인한 뒤 알람을 해제하는 과정까지 설명합니다. 관리자 GUI의 Emergency release 요청을 받은 서버가 DB에 RESOLVED 상태를 저장합니다. 저장 후 GUI가 NORMAL로 복귀하고 로그를 표시합니다. 첨부 자료에는 PC3로 별도 초기화 명령을 보내는 화살표가 없어 이를 추가하지 않았습니다.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h67a11612923e4705_61_18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6" name="Google Shape;516;h67a11612923e4705_61_18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[발표: 낙상 감지 담당]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낙상 감지는 두 단계입니다. YOLO Pose가 프레임마다 사람의 관절 17개 좌표를 뽑고, 이 좌표를 정규화해서 일정 길이로 묶어 LSTM에 넣습니다. LSTM은 시간에 따른 자세 변화를 보고 낙상인지 정상 동작인지 판단합니다. [학습 데이터와 결과 수치를 채우세요]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h67a11612923e4705_61_17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2" name="Google Shape;562;h67a11612923e4705_61_17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[① 얼굴 추적 — 발표: </a:t>
            </a:r>
            <a:r>
              <a:rPr lang="ko"/>
              <a:t>장현우</a:t>
            </a:r>
            <a:r>
              <a:rPr lang="ko"/>
              <a:t>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카메라 영상은 PC4에서 PC2로 갑니다. PC2가 YOLO로 찾은 얼굴과 몸 좌표는 PC1 서버로 전달되며, 서버가 PC4에 중계합니다. PC4는 좌표를 Arduino로 전달하고 Arduino에서 각도를 계산해 팬틸트 모터를 제어합니다. 첨부 다이어그램은 서버가 1초마다 센서 상태를 요청하는 흐름을 보여 주지만, 통신 요약에는 문 상태 보고 인터페이스가 미정으로 적혀 있습니다. 요청·응답형 센서 조회와 자발적 문 상태 보고의 구분 및 구현 상태는 확인이 필요합니다.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[②③ 인증 · 문 열기 — 발표:</a:t>
            </a:r>
            <a:r>
              <a:rPr lang="ko"/>
              <a:t>장현우</a:t>
            </a:r>
            <a:r>
              <a:rPr lang="ko"/>
              <a:t>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정면 얼굴이 촬영되면 PC2에서 얼굴 임베딩을 추출해 서버에 보냅니다. 서버는 PostgreSQL에서 동일인물을 조회합니다. 첨부 흐름은 일치할 때 PC4로 문 열기를 요청하고 Arduino가 모터를 구동하는 과정입니다. 출입 권한 등 추가 조건은 실제 코드 기준으로 확인해야 합니다. DB에 일치하는 인물이 없으면 문 열기 명령을 보내지 않습니다.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[다음 발표자 인계]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다음으로 펌웨어·하드웨어 담당자가 얼굴 좌표를 따라 카메라를 움직이는 과정과 서보 제어를 설명하겠습니다.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—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다음으로 전체 하드웨어 제어를 담당하는 PC4와 Door Kit에 대해 설명드리겠습니다.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먼저 전체적인 동작 과정을 간단하게 말씀드리겠습니다.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카메라에서 촬영한 영상은 PC2로 전달됩니다.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PC2에서는 사람의 얼굴을 인식하고 추적하는 코드가 실행됩니다.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그리고 얼굴이 약 3초 동안 안정적으로 감지되면 자동으로 사진을 촬영합니다.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이후 촬영한 사진에서 얼굴의 특징 벡터인 임베딩을 추출하고, 해당 정보를 PC1으로 전달합니다.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PC1에서는 전달받은 정보를 데이터베이스에 저장된 얼굴 정보와 비교하여 동일한 사람인지, 그리고 출입 권한이 있는지 확인합니다.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만약 출입 권한이 있는 사람으로 확인되면 PC4로 문을 열라는 명령을 전달합니다.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PC4는 이 명령을 받은 후 USB 시리얼 통신을 통해 Arduino에 제어 신호를 보냅니다.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마지막으로 Arduino가 서보 모터를 움직여 출입문을 열게 됩니다.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이것이 저희가 설계한 전체적인 출입문 제어 과정입니다.</a:t>
            </a:r>
            <a:endParaRPr/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h67a11612923e4705_61_17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9" name="Google Shape;629;h67a11612923e4705_61_17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[발표: </a:t>
            </a:r>
            <a:r>
              <a:rPr lang="ko">
                <a:solidFill>
                  <a:schemeClr val="dk1"/>
                </a:solidFill>
              </a:rPr>
              <a:t>장현우</a:t>
            </a:r>
            <a:r>
              <a:rPr lang="ko"/>
              <a:t>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얼굴 인식은 InsightFace를 썼습니다. 얼굴을 찾고 5개 특징점으로 정렬한 뒤, ArcFace 계열 모델로 512차원 벡터를 만듭니다. 이 벡터를 PostgreSQL에 저장해 두고, 새 얼굴이 오면 가장 가까운 벡터를 찾아 임계값 이상이면 그 사람으로 판정합니다.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face_auth_detail_20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4" name="Google Shape;654;face_auth_detail_20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[발표: </a:t>
            </a:r>
            <a:r>
              <a:rPr lang="ko">
                <a:solidFill>
                  <a:schemeClr val="dk1"/>
                </a:solidFill>
              </a:rPr>
              <a:t>장현우</a:t>
            </a:r>
            <a:r>
              <a:rPr lang="ko"/>
              <a:t>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얼굴 인식은 InsightFace를 썼습니다. 얼굴을 찾고 5개 특징점으로 정렬한 뒤, ArcFace 계열 모델로 512차원 벡터를 만듭니다. 이 벡터를 PostgreSQL에 저장해 두고, 새 얼굴이 오면 가장 가까운 벡터를 찾아 임계값 이상이면 그 사람으로 판정합니다.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h67a11612923e4705_61_19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9" name="Google Shape;679;h67a11612923e4705_61_19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[발표: 팀장]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역할은 이렇게 나눴습니다. 기술 세 영역인 출입 관리, 낙상 감지 모니터링, 환자 관리를 일곱 명이 나눠 맡았습니다. [팀원별로 한 문장씩 소개]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[채우는 법] 표의 [이름]을 바꾸고, 6·7번 줄은 [역할]과 해당 영역의 [담당 업무]만 남기고 나머지 점선 칸은 지우세요.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confluence jira </a:t>
            </a:r>
            <a:r>
              <a:rPr lang="ko"/>
              <a:t>담당 중호님 github 진욱님 ppt 제작 지승님 gui 진욱님 민지님 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h67a11612923e4705_61_20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3" name="Google Shape;713;h67a11612923e4705_61_20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[발표: 팀장]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파트별로 어려웠던 점, 부족했던 데이터와 병목, 배운 점을 정리했습니다. 마지막으로 팀 전체의 Takeaway를 한 문장으로 말합니다. [파트별로 한 줄씩]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[</a:t>
            </a:r>
            <a:r>
              <a:rPr lang="ko"/>
              <a:t>발표: 윤중호</a:t>
            </a:r>
            <a:r>
              <a:rPr lang="ko"/>
              <a:t>]</a:t>
            </a:r>
            <a:br>
              <a:rPr lang="ko"/>
            </a:br>
            <a:r>
              <a:rPr lang="ko">
                <a:solidFill>
                  <a:schemeClr val="dk1"/>
                </a:solidFill>
              </a:rPr>
              <a:t>먼저 </a:t>
            </a:r>
            <a:r>
              <a:rPr b="1" lang="ko">
                <a:solidFill>
                  <a:schemeClr val="dk1"/>
                </a:solidFill>
              </a:rPr>
              <a:t>입소자·직원 정보 관리</a:t>
            </a:r>
            <a:r>
              <a:rPr lang="ko">
                <a:solidFill>
                  <a:schemeClr val="dk1"/>
                </a:solidFill>
              </a:rPr>
              <a:t>에서는 GUI와 메인서버, 데이터베이스 간의 데이터 동기화가 가장 어려웠습니다.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초기에는 GUI의 로컬 데이터와 서버 DB의 정보가 일치하지 않거나 중복 등록되는 문제가 있었는데, 이를 해결하면서 </a:t>
            </a:r>
            <a:r>
              <a:rPr b="1" lang="ko">
                <a:solidFill>
                  <a:schemeClr val="dk1"/>
                </a:solidFill>
              </a:rPr>
              <a:t>서버 DB를 기준으로 데이터를 관리하고, 등록·수정·삭제 결과를 검증하는 과정의 중요성</a:t>
            </a:r>
            <a:r>
              <a:rPr lang="ko">
                <a:solidFill>
                  <a:schemeClr val="dk1"/>
                </a:solidFill>
              </a:rPr>
              <a:t>을 배웠습니다.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다음으로 </a:t>
            </a:r>
            <a:r>
              <a:rPr b="1" lang="ko">
                <a:solidFill>
                  <a:schemeClr val="dk1"/>
                </a:solidFill>
              </a:rPr>
              <a:t>시스템 설계</a:t>
            </a:r>
            <a:r>
              <a:rPr lang="ko">
                <a:solidFill>
                  <a:schemeClr val="dk1"/>
                </a:solidFill>
              </a:rPr>
              <a:t>에서는 각 팀원이 개발한 모듈의 통신 규격을 조율하고, 실제 연동 과정에서 발생하는 문제를 해결하는 것이 가장 어려웠습니다.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특히 개발 중 통신 명세가 변경되면 다른 모듈도 함께 수정해야 했고, 제한된 기간으로 인해 다양한 장애 상황까지 충분히 검증하지 못한 아쉬움이 있었습니다.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이 과정을 통해 </a:t>
            </a:r>
            <a:r>
              <a:rPr b="1" lang="ko">
                <a:solidFill>
                  <a:schemeClr val="dk1"/>
                </a:solidFill>
              </a:rPr>
              <a:t>개별 기능의 구현뿐 아니라, 사전에 시퀀스 다이어그램과 통신 명세를 명확히 정의하고 통합 검증하는 과정이 중요하다</a:t>
            </a:r>
            <a:r>
              <a:rPr lang="ko">
                <a:solidFill>
                  <a:schemeClr val="dk1"/>
                </a:solidFill>
              </a:rPr>
              <a:t>는 것을 배웠습니다.</a:t>
            </a:r>
            <a:endParaRPr/>
          </a:p>
          <a:p>
            <a:pPr indent="0" lvl="0" marL="0" rtl="0" algn="l">
              <a:spcBef>
                <a:spcPts val="1700"/>
              </a:spcBef>
              <a:spcAft>
                <a:spcPts val="0"/>
              </a:spcAft>
              <a:buNone/>
            </a:pPr>
            <a:r>
              <a:rPr lang="ko"/>
              <a:t>[예시 — 본인 이야기로 바꾸세요]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저는 틸트와 문 모터 펌웨어, 그리고 장치 통신을 맡았습니다. 가장 어려웠던 것은 카메라 흔들림이었는데, 원인이 영상 지연이라는 걸 시뮬레이터로 확인하고 멈춘 뒤 찍힌 영상만 쓰는 방식으로 해결했습니다.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—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ko" sz="1700">
                <a:solidFill>
                  <a:schemeClr val="dk1"/>
                </a:solidFill>
              </a:rPr>
              <a:t>12. 도전 과제 및 개선 방향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다음으로 개발 과정에서 겪었던 문제점과 이를 해결한 방법에 대해 말씀드리겠습니다.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사실 저희가 사용한 카메라는 다이소에서 구매한 제품이라 하드웨어적인 한계가 있었습니다.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특히 카메라와 사람의 거리가 너무 가까우면 얼굴을 정확하게 인식하기 어렵다는 문제가 있었습니다.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처음에는 사람의 얼굴 중심과 카메라 화면의 중심이 정확히 일치하도록 설계했습니다.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그런데 실제로 테스트해 보니, 얼굴을 선명하게 촬영하기 위해서는 카메라와 사람 사이에 어느 정도 거리가 필요했습니다.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문제는 거리가 멀어질수록 작은 각도 변화에도 화면에서 얼굴의 위치가 크게 달라진다는 점이었습니다.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서보 모터는 최소 1도 단위로 움직이기 때문에 얼굴의 중심을 정확히 맞추기가 어려웠습니다.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그래서 카메라가 계속 왼쪽과 오른쪽으로 움직이는 진동 현상이 발생했습니다.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이 문제를 해결하기 위해 저희는 기존의 제어 방식을 변경했습니다.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처음에는 얼굴 중심과 화면 중심을 정확히 일치시키는, 말하자면 점과 점을 맞추는 방식이었습니다.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하지만 이를 점과 범위를 맞추는 방식으로 변경했습니다.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즉, 얼굴이 화면 중심의 일정 범위 안에 들어오면 더 이상 불필요하게 움직이지 않도록 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이 범위를 데드존(Dead Zone)이라고 합니다.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또한 서보 모터가 한 번에 회전할 수 있는 각도를 제한하여 카메라가 너무 민감하게 반응하지 않도록 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그리고 얼굴과 신체를 동시에 추적하면 추적 대상이 계속 바뀌는 문제가 발생할 수 있기 때문에, 얼굴이 감지되면 얼굴을 우선적으로 추적하도록 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얼굴이 감지되지 않을 때만 신체를 기준으로 추적하도록 설계했습니다.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마지막으로 얼굴이 화면 중심에서 멀리 떨어져 있을 때는 비교적 큰 움직임으로 위치를 조절하고, 중심에 가까워질수록 작은 움직임으로 미세하게 조절하는 방식을 적용했습니다.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쉽게 비유하자면, 머신러닝에서 경사하강법을 사용할 때 처음에는 큰 학습률로 빠르게 접근하고, 최솟값에 가까워질수록 학습률을 줄여 안정적으로 수렴시키는 것과 비슷한 원리입니다.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이러한 방법들을 통해 카메라의 불필요한 움직임을 줄이고 얼굴 추적의 안정성을 높일 수 있었습니다.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마지막으로 이번 프로젝트에서 어려웠던 점과 앞으로 개선할 수 있는 부분에 대해 말씀드리겠습니다.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먼저 가장 도전적이었던 부분은 얼굴 인식과 카메라 자동 추적 기능이었습니다.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단순히 얼굴을 인식하는 것뿐만 아니라, 실제 하드웨어를 움직이면서 얼굴을 안정적으로 추적해야 했기 때문에 생각보다 많은 시행착오가 있었습니다.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그리고 가장 아쉬웠던 부분은 하드웨어 준비 과정이었습니다.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만약 처음부터 저희 시스템에 적합한 카메라를 준비할 수 있었다면, 얼굴 인식과 추적 기능을 좀 더 안정적으로 구현할 수 있었을 것 같습니다.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또한 하드웨어 Kit를 조금 더 일찍 확보했다면, 테스트할 시간이 더 많았을 것이고 다양한 기능도 추가할 수 있었을 것 같습니다.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예를 들어 초음파 센서를 추가해서 사람과 카메라 사이의 거리를 측정하거나, 이를 이용해 카메라의 움직임을 더욱 정밀하게 제어하는 기능도 구현해 볼 수 있었을 것입니다.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그리고 전체적인 시스템 구조와 하드웨어 구성도 더 최적화할 수 있었을 것 같습니다.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다음으로 팀 협업 측면에서도 개선할 부분이 있었다고 생각합니다.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매일 해야 할 일을 좀 더 구체적으로 계획하고, 정해진 작업은 가능한 한 일정에 맞춰 마무리하는 것이 중요하다고 느꼈습니다.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특히 각자 맡은 작업만 진행하는 것이 아니라, 팀원들과 현재 진행 상황이나 어려운 점을 적극적으로 공유하는 것이 필요했습니다.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물론 Confluence나 Jira에 작업 내용을 정리하는 데에도 시간이 많이 들었습니다.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하지만 이런 과정이 있어야 서로 어떤 작업을 하고 있는지 정확하게 이해하고, 중복 작업이나 의사소통 문제를 줄일 수 있다고 생각합니다.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또한 중요한 결정을 혼자 내리기보다는 팀원들과 충분히 상의하고 함께 방향을 정하는 것이 중요하다고 느꼈습니다.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결국 이번 프로젝트를 통해 기술적인 구현뿐만 아니라, 체계적인 계획과 원활한 의사소통이 프로젝트의 완성도에 큰 영향을 준다는 것을 배울 수 있었습니다.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이상으로 발표를 마치겠습니다. 감사합니다.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h67a11612923e4705_61_20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1" name="Google Shape;741;h67a11612923e4705_61_20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마지막으로 저희 프로젝트의 한계와 앞으로의 개선 방향에 대해 말씀드리겠습니다.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먼저 가장 큰 한계는 모든 기능에 대한 실제 환경 테스트를 끝내지 못했다는 점입니다.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펌웨어와 통신 기능, 그리고 출입문 제어와 카메라 추적 기능의 일부는 가상 환경과 시뮬레이터에서 확인했습니다.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하지만 얼굴 인식과 낙상 감지 모델의 정확도, 서버와 DB 연동, 그리고 낙상 감지부터 GUI 알림까지의 전체 통합 테스트는 아직 완료하지 못했습니다.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따라서 다음 단계에서는 실제 시험 데이터를 준비하고, 구현한 기능들을 실제 하드웨어 환경에서도 검증할 계획입니다.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그 외에도 몇 가지 개선하고 싶은 부분이 있습니다.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첫 번째는 하드웨어 개선입니다.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저희가 사용한 카메라에는 거리와 화각의 한계가 있었기 때문에, 앞으로는 더 적합한 카메라를 사용하고 싶습니다.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또한 초음파 센서를 추가하여 사람과 카메라 사이의 거리를 측정하고, 출입문 주변에 사람이 있는지도 감지할 수 있도록 개선하고 싶습니다.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두 번째는 통신 안정성입니다.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PC1에서 PC4로 주기적으로 상태 확인 신호를 보내고, PC4에서 응답을 받는 기능을 추가하고자 합니다.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예를 들어 1분마다 통신 상태를 확인하고, 응답이 없을 경우 연결 이상을 감지하여 관리자에게 알리는 방식입니다.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이를 통해 Door Kit가 정상적으로 작동하고 있는지 지속적으로 확인할 수 있습니다.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세 번째는 인식 정확도 개선입니다.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야간이나 어두운 환경에서도 안정적으로 작동할 수 있도록 개선하고, 여러 사람이 동시에 나타나는 상황에서도 정확하게 추적할 수 있도록 보완할 계획입니다.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또한 실제 요양원 환경의 데이터를 더 수집하여 낙상 감지의 오탐을 줄이고 싶습니다.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마지막으로 비상 상황에서의 출입문 제어, 모바일 알림 기능, 그리고 얼굴 인식 데이터의 개인정보 보호도 추가적으로 고려해야 합니다.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결국 저희의 목표는 단순히 기능을 추가하는 것뿐만 아니라, 실제 요양원에서도 안정적으로 작동할 수 있는 시스템을 만드는 것입니다.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이상으로 발표를 마치겠습니다. 감사합니다.</a:t>
            </a:r>
            <a:endParaRPr/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h67a11612923e4705_61_20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1" name="Google Shape;761;h67a11612923e4705_61_20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[발표: 팀장]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들어 주셔서 감사합니다. 질문 받겠습니다.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://drive.google.com/file/d/1ArJfE9__KePPgTdTbDpHQ9M2Z1WrcHRD/view" TargetMode="External"/><Relationship Id="rId4" Type="http://schemas.openxmlformats.org/officeDocument/2006/relationships/image" Target="../media/image5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://drive.google.com/file/d/1mcPL0o9NWWHuUaPGeTKpDiemUTFtXA6H/view" TargetMode="External"/><Relationship Id="rId4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4EA6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609600" y="1033653"/>
            <a:ext cx="7924800" cy="8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8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T-SAFE</a:t>
            </a:r>
            <a:endParaRPr b="1" sz="380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T</a:t>
            </a:r>
            <a:r>
              <a:rPr b="1" lang="ko" sz="1200">
                <a:solidFill>
                  <a:srgbClr val="78909C"/>
                </a:solidFill>
                <a:latin typeface="Noto Sans KR"/>
                <a:ea typeface="Noto Sans KR"/>
                <a:cs typeface="Noto Sans KR"/>
                <a:sym typeface="Noto Sans KR"/>
              </a:rPr>
              <a:t>ianji - </a:t>
            </a:r>
            <a:r>
              <a:rPr b="1" lang="ko" sz="12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S</a:t>
            </a:r>
            <a:r>
              <a:rPr b="1" lang="ko" sz="1200">
                <a:solidFill>
                  <a:srgbClr val="78909C"/>
                </a:solidFill>
                <a:latin typeface="Noto Sans KR"/>
                <a:ea typeface="Noto Sans KR"/>
                <a:cs typeface="Noto Sans KR"/>
                <a:sym typeface="Noto Sans KR"/>
              </a:rPr>
              <a:t>mart </a:t>
            </a:r>
            <a:r>
              <a:rPr b="1" lang="ko" sz="12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A</a:t>
            </a:r>
            <a:r>
              <a:rPr b="1" lang="ko" sz="1200">
                <a:solidFill>
                  <a:srgbClr val="78909C"/>
                </a:solidFill>
                <a:latin typeface="Noto Sans KR"/>
                <a:ea typeface="Noto Sans KR"/>
                <a:cs typeface="Noto Sans KR"/>
                <a:sym typeface="Noto Sans KR"/>
              </a:rPr>
              <a:t>lert &amp; </a:t>
            </a:r>
            <a:r>
              <a:rPr b="1" lang="ko" sz="12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F</a:t>
            </a:r>
            <a:r>
              <a:rPr b="1" lang="ko" sz="1200">
                <a:solidFill>
                  <a:srgbClr val="78909C"/>
                </a:solidFill>
                <a:latin typeface="Noto Sans KR"/>
                <a:ea typeface="Noto Sans KR"/>
                <a:cs typeface="Noto Sans KR"/>
                <a:sym typeface="Noto Sans KR"/>
              </a:rPr>
              <a:t>acial Security </a:t>
            </a:r>
            <a:r>
              <a:rPr b="1" lang="ko" sz="12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E</a:t>
            </a:r>
            <a:r>
              <a:rPr b="1" lang="ko" sz="1200">
                <a:solidFill>
                  <a:srgbClr val="78909C"/>
                </a:solidFill>
                <a:latin typeface="Noto Sans KR"/>
                <a:ea typeface="Noto Sans KR"/>
                <a:cs typeface="Noto Sans KR"/>
                <a:sym typeface="Noto Sans KR"/>
              </a:rPr>
              <a:t>nvironment</a:t>
            </a:r>
            <a:endParaRPr b="1" sz="1200">
              <a:solidFill>
                <a:srgbClr val="78909C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609600" y="1905000"/>
            <a:ext cx="7924800" cy="5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요양시설 사고 감지 및 대응 모니터링 시스템</a:t>
            </a:r>
            <a:endParaRPr b="1" sz="180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609600" y="4089400"/>
            <a:ext cx="7924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D2E3FC"/>
                </a:solidFill>
                <a:latin typeface="Noto Sans KR"/>
                <a:ea typeface="Noto Sans KR"/>
                <a:cs typeface="Noto Sans KR"/>
                <a:sym typeface="Noto Sans KR"/>
              </a:rPr>
              <a:t>티엔찌</a:t>
            </a:r>
            <a:r>
              <a:rPr lang="ko" sz="1200">
                <a:solidFill>
                  <a:srgbClr val="D2E3FC"/>
                </a:solidFill>
                <a:latin typeface="Noto Sans KR"/>
                <a:ea typeface="Noto Sans KR"/>
                <a:cs typeface="Noto Sans KR"/>
                <a:sym typeface="Noto Sans KR"/>
              </a:rPr>
              <a:t>   ·   2026. 10. 26</a:t>
            </a:r>
            <a:endParaRPr sz="1200">
              <a:solidFill>
                <a:srgbClr val="D2E3FC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2819908" y="1851152"/>
            <a:ext cx="6352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7416800" y="4800600"/>
            <a:ext cx="1269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9AA0A6"/>
                </a:solidFill>
                <a:latin typeface="Noto Sans KR"/>
                <a:ea typeface="Noto Sans KR"/>
                <a:cs typeface="Noto Sans KR"/>
                <a:sym typeface="Noto Sans KR"/>
              </a:rPr>
              <a:t>1</a:t>
            </a:r>
            <a:r>
              <a:rPr lang="ko" sz="800">
                <a:solidFill>
                  <a:srgbClr val="9AA0A6"/>
                </a:solidFill>
                <a:latin typeface="Noto Sans KR"/>
                <a:ea typeface="Noto Sans KR"/>
                <a:cs typeface="Noto Sans KR"/>
                <a:sym typeface="Noto Sans KR"/>
              </a:rPr>
              <a:t> / 27</a:t>
            </a:r>
            <a:endParaRPr sz="800">
              <a:solidFill>
                <a:srgbClr val="9AA0A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rPr>
              <a:t>목차</a:t>
            </a:r>
            <a:endParaRPr b="1" sz="2000">
              <a:solidFill>
                <a:srgbClr val="202124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457200" y="4800600"/>
            <a:ext cx="5079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9AA0A6"/>
                </a:solidFill>
                <a:latin typeface="Noto Sans KR"/>
                <a:ea typeface="Noto Sans KR"/>
                <a:cs typeface="Noto Sans KR"/>
                <a:sym typeface="Noto Sans KR"/>
              </a:rPr>
              <a:t>T-Safe System · 요양시설 사고 감지 및 대응 모니터링 시스템</a:t>
            </a:r>
            <a:endParaRPr sz="800">
              <a:solidFill>
                <a:srgbClr val="9AA0A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7416800" y="4800600"/>
            <a:ext cx="1269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9AA0A6"/>
                </a:solidFill>
                <a:latin typeface="Noto Sans KR"/>
                <a:ea typeface="Noto Sans KR"/>
                <a:cs typeface="Noto Sans KR"/>
                <a:sym typeface="Noto Sans KR"/>
              </a:rPr>
              <a:t>2 / </a:t>
            </a:r>
            <a:r>
              <a:rPr lang="ko" sz="800">
                <a:solidFill>
                  <a:srgbClr val="9AA0A6"/>
                </a:solidFill>
                <a:latin typeface="Noto Sans KR"/>
                <a:ea typeface="Noto Sans KR"/>
                <a:cs typeface="Noto Sans KR"/>
                <a:sym typeface="Noto Sans KR"/>
              </a:rPr>
              <a:t>27</a:t>
            </a:r>
            <a:endParaRPr sz="800">
              <a:solidFill>
                <a:srgbClr val="9AA0A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558700" y="1158400"/>
            <a:ext cx="762000" cy="8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600">
                <a:solidFill>
                  <a:srgbClr val="1A73E8"/>
                </a:solidFill>
                <a:latin typeface="Noto Sans KR"/>
                <a:ea typeface="Noto Sans KR"/>
                <a:cs typeface="Noto Sans KR"/>
                <a:sym typeface="Noto Sans KR"/>
              </a:rPr>
              <a:t>01</a:t>
            </a:r>
            <a:endParaRPr b="1" sz="2600">
              <a:solidFill>
                <a:srgbClr val="1A73E8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1422300" y="1326130"/>
            <a:ext cx="6603900" cy="5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60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rPr>
              <a:t>프로젝트 </a:t>
            </a:r>
            <a:r>
              <a:rPr b="1" lang="ko" sz="160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rPr>
              <a:t>개요</a:t>
            </a:r>
            <a:br>
              <a:rPr b="1" lang="ko" sz="160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endParaRPr b="1" sz="1600">
              <a:solidFill>
                <a:srgbClr val="202124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68" name="Google Shape;68;p14"/>
          <p:cNvCxnSpPr/>
          <p:nvPr/>
        </p:nvCxnSpPr>
        <p:spPr>
          <a:xfrm>
            <a:off x="1422300" y="2207227"/>
            <a:ext cx="7264500" cy="0"/>
          </a:xfrm>
          <a:prstGeom prst="straightConnector1">
            <a:avLst/>
          </a:prstGeom>
          <a:noFill/>
          <a:ln cap="flat" cmpd="sng" w="9525">
            <a:solidFill>
              <a:srgbClr val="DADCE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" name="Google Shape;69;p14"/>
          <p:cNvSpPr txBox="1"/>
          <p:nvPr/>
        </p:nvSpPr>
        <p:spPr>
          <a:xfrm>
            <a:off x="558700" y="2333086"/>
            <a:ext cx="762000" cy="8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600">
                <a:solidFill>
                  <a:srgbClr val="1A73E8"/>
                </a:solidFill>
                <a:latin typeface="Noto Sans KR"/>
                <a:ea typeface="Noto Sans KR"/>
                <a:cs typeface="Noto Sans KR"/>
                <a:sym typeface="Noto Sans KR"/>
              </a:rPr>
              <a:t>02</a:t>
            </a:r>
            <a:endParaRPr b="1" sz="2600">
              <a:solidFill>
                <a:srgbClr val="1A73E8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1422300" y="2500816"/>
            <a:ext cx="6603900" cy="5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60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rPr>
              <a:t>주요 기능</a:t>
            </a:r>
            <a:endParaRPr b="1" sz="1600">
              <a:solidFill>
                <a:srgbClr val="202124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71" name="Google Shape;71;p14"/>
          <p:cNvCxnSpPr/>
          <p:nvPr/>
        </p:nvCxnSpPr>
        <p:spPr>
          <a:xfrm>
            <a:off x="1422300" y="3381914"/>
            <a:ext cx="7264500" cy="0"/>
          </a:xfrm>
          <a:prstGeom prst="straightConnector1">
            <a:avLst/>
          </a:prstGeom>
          <a:noFill/>
          <a:ln cap="flat" cmpd="sng" w="9525">
            <a:solidFill>
              <a:srgbClr val="DADCE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" name="Google Shape;72;p14"/>
          <p:cNvSpPr txBox="1"/>
          <p:nvPr/>
        </p:nvSpPr>
        <p:spPr>
          <a:xfrm>
            <a:off x="558700" y="3507773"/>
            <a:ext cx="762000" cy="8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600">
                <a:solidFill>
                  <a:srgbClr val="1A73E8"/>
                </a:solidFill>
                <a:latin typeface="Noto Sans KR"/>
                <a:ea typeface="Noto Sans KR"/>
                <a:cs typeface="Noto Sans KR"/>
                <a:sym typeface="Noto Sans KR"/>
              </a:rPr>
              <a:t>03</a:t>
            </a:r>
            <a:endParaRPr b="1" sz="2600">
              <a:solidFill>
                <a:srgbClr val="1A73E8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3" name="Google Shape;73;p14"/>
          <p:cNvSpPr txBox="1"/>
          <p:nvPr/>
        </p:nvSpPr>
        <p:spPr>
          <a:xfrm>
            <a:off x="1422300" y="3675503"/>
            <a:ext cx="6603900" cy="5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60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rPr>
              <a:t>기술 상세</a:t>
            </a:r>
            <a:endParaRPr b="1" sz="1600">
              <a:solidFill>
                <a:srgbClr val="202124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202124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74" name="Google Shape;74;p14"/>
          <p:cNvCxnSpPr/>
          <p:nvPr/>
        </p:nvCxnSpPr>
        <p:spPr>
          <a:xfrm>
            <a:off x="1422300" y="4556600"/>
            <a:ext cx="7264500" cy="0"/>
          </a:xfrm>
          <a:prstGeom prst="straightConnector1">
            <a:avLst/>
          </a:prstGeom>
          <a:noFill/>
          <a:ln cap="flat" cmpd="sng" w="9525">
            <a:solidFill>
              <a:srgbClr val="DADCE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4EA6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/>
        </p:nvSpPr>
        <p:spPr>
          <a:xfrm>
            <a:off x="609600" y="939800"/>
            <a:ext cx="25401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5600">
                <a:solidFill>
                  <a:srgbClr val="8AB4F8"/>
                </a:solidFill>
                <a:latin typeface="Noto Sans KR"/>
                <a:ea typeface="Noto Sans KR"/>
                <a:cs typeface="Noto Sans KR"/>
                <a:sym typeface="Noto Sans KR"/>
              </a:rPr>
              <a:t>01</a:t>
            </a:r>
            <a:endParaRPr b="1" sz="5600">
              <a:solidFill>
                <a:srgbClr val="8AB4F8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609600" y="2184400"/>
            <a:ext cx="79248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0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프로젝트 </a:t>
            </a:r>
            <a:r>
              <a:rPr b="1" lang="ko" sz="30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개요</a:t>
            </a:r>
            <a:endParaRPr b="1" sz="300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609600" y="3759200"/>
            <a:ext cx="79248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D2E3FC"/>
                </a:solidFill>
                <a:latin typeface="Noto Sans KR"/>
                <a:ea typeface="Noto Sans KR"/>
                <a:cs typeface="Noto Sans KR"/>
                <a:sym typeface="Noto Sans KR"/>
              </a:rPr>
              <a:t>배경과 문제   ·   목표   ·   한눈에 보기</a:t>
            </a:r>
            <a:endParaRPr sz="1200">
              <a:solidFill>
                <a:srgbClr val="D2E3FC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2" name="Google Shape;82;p15"/>
          <p:cNvSpPr txBox="1"/>
          <p:nvPr/>
        </p:nvSpPr>
        <p:spPr>
          <a:xfrm>
            <a:off x="7416800" y="4800600"/>
            <a:ext cx="1269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D2E3FC"/>
                </a:solidFill>
                <a:latin typeface="Noto Sans KR"/>
                <a:ea typeface="Noto Sans KR"/>
                <a:cs typeface="Noto Sans KR"/>
                <a:sym typeface="Noto Sans KR"/>
              </a:rPr>
              <a:t>3 / </a:t>
            </a:r>
            <a:r>
              <a:rPr lang="ko" sz="800">
                <a:solidFill>
                  <a:srgbClr val="9AA0A6"/>
                </a:solidFill>
                <a:latin typeface="Noto Sans KR"/>
                <a:ea typeface="Noto Sans KR"/>
                <a:cs typeface="Noto Sans KR"/>
                <a:sym typeface="Noto Sans KR"/>
              </a:rPr>
              <a:t>27</a:t>
            </a:r>
            <a:endParaRPr sz="800">
              <a:solidFill>
                <a:srgbClr val="D2E3FC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/>
          <p:nvPr/>
        </p:nvSpPr>
        <p:spPr>
          <a:xfrm>
            <a:off x="457200" y="177800"/>
            <a:ext cx="4445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50">
                <a:solidFill>
                  <a:srgbClr val="1A73E8"/>
                </a:solidFill>
                <a:latin typeface="Noto Sans KR"/>
                <a:ea typeface="Noto Sans KR"/>
                <a:cs typeface="Noto Sans KR"/>
                <a:sym typeface="Noto Sans KR"/>
              </a:rPr>
              <a:t>01  프로젝트 </a:t>
            </a:r>
            <a:r>
              <a:rPr b="1" lang="ko" sz="950">
                <a:solidFill>
                  <a:srgbClr val="1A73E8"/>
                </a:solidFill>
                <a:latin typeface="Noto Sans KR"/>
                <a:ea typeface="Noto Sans KR"/>
                <a:cs typeface="Noto Sans KR"/>
                <a:sym typeface="Noto Sans KR"/>
              </a:rPr>
              <a:t>개요</a:t>
            </a:r>
            <a:endParaRPr b="1" sz="950">
              <a:solidFill>
                <a:srgbClr val="1A73E8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8" name="Google Shape;88;p16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rPr>
              <a:t>배경과 문제</a:t>
            </a:r>
            <a:endParaRPr b="1" sz="2000">
              <a:solidFill>
                <a:srgbClr val="202124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9" name="Google Shape;89;p16"/>
          <p:cNvSpPr txBox="1"/>
          <p:nvPr/>
        </p:nvSpPr>
        <p:spPr>
          <a:xfrm>
            <a:off x="457200" y="4800600"/>
            <a:ext cx="5079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9AA0A6"/>
                </a:solidFill>
                <a:latin typeface="Noto Sans KR"/>
                <a:ea typeface="Noto Sans KR"/>
                <a:cs typeface="Noto Sans KR"/>
                <a:sym typeface="Noto Sans KR"/>
              </a:rPr>
              <a:t>T-Safe System · 요양시설 사고 감지 및 대응 모니터링 시스템</a:t>
            </a:r>
            <a:endParaRPr sz="800">
              <a:solidFill>
                <a:srgbClr val="9AA0A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0" name="Google Shape;90;p16"/>
          <p:cNvSpPr txBox="1"/>
          <p:nvPr/>
        </p:nvSpPr>
        <p:spPr>
          <a:xfrm>
            <a:off x="7416800" y="4800600"/>
            <a:ext cx="1269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9AA0A6"/>
                </a:solidFill>
                <a:latin typeface="Noto Sans KR"/>
                <a:ea typeface="Noto Sans KR"/>
                <a:cs typeface="Noto Sans KR"/>
                <a:sym typeface="Noto Sans KR"/>
              </a:rPr>
              <a:t>4 / </a:t>
            </a:r>
            <a:r>
              <a:rPr lang="ko" sz="800">
                <a:solidFill>
                  <a:srgbClr val="9AA0A6"/>
                </a:solidFill>
                <a:latin typeface="Noto Sans KR"/>
                <a:ea typeface="Noto Sans KR"/>
                <a:cs typeface="Noto Sans KR"/>
                <a:sym typeface="Noto Sans KR"/>
              </a:rPr>
              <a:t>27</a:t>
            </a:r>
            <a:endParaRPr sz="800">
              <a:solidFill>
                <a:srgbClr val="9AA0A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1" name="Google Shape;91;p16"/>
          <p:cNvSpPr/>
          <p:nvPr/>
        </p:nvSpPr>
        <p:spPr>
          <a:xfrm>
            <a:off x="457200" y="1137920"/>
            <a:ext cx="4038600" cy="1574700"/>
          </a:xfrm>
          <a:prstGeom prst="roundRect">
            <a:avLst>
              <a:gd fmla="val 16667" name="adj"/>
            </a:avLst>
          </a:prstGeom>
          <a:solidFill>
            <a:srgbClr val="F1F3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6"/>
          <p:cNvSpPr txBox="1"/>
          <p:nvPr/>
        </p:nvSpPr>
        <p:spPr>
          <a:xfrm>
            <a:off x="584200" y="1239520"/>
            <a:ext cx="3784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550">
                <a:solidFill>
                  <a:srgbClr val="1A73E8"/>
                </a:solidFill>
                <a:latin typeface="Noto Sans KR"/>
                <a:ea typeface="Noto Sans KR"/>
                <a:cs typeface="Noto Sans KR"/>
                <a:sym typeface="Noto Sans KR"/>
              </a:rPr>
              <a:t>쓰러짐</a:t>
            </a:r>
            <a:r>
              <a:rPr b="1" lang="ko" sz="1550">
                <a:solidFill>
                  <a:srgbClr val="1A73E8"/>
                </a:solidFill>
                <a:latin typeface="Noto Sans KR"/>
                <a:ea typeface="Noto Sans KR"/>
                <a:cs typeface="Noto Sans KR"/>
                <a:sym typeface="Noto Sans KR"/>
              </a:rPr>
              <a:t>을 늦게 발견함</a:t>
            </a:r>
            <a:endParaRPr b="1" sz="1550">
              <a:solidFill>
                <a:srgbClr val="1A73E8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3" name="Google Shape;93;p16"/>
          <p:cNvSpPr/>
          <p:nvPr/>
        </p:nvSpPr>
        <p:spPr>
          <a:xfrm>
            <a:off x="4648200" y="1137920"/>
            <a:ext cx="4038600" cy="1574700"/>
          </a:xfrm>
          <a:prstGeom prst="roundRect">
            <a:avLst>
              <a:gd fmla="val 16667" name="adj"/>
            </a:avLst>
          </a:prstGeom>
          <a:solidFill>
            <a:srgbClr val="F1F3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6"/>
          <p:cNvSpPr txBox="1"/>
          <p:nvPr/>
        </p:nvSpPr>
        <p:spPr>
          <a:xfrm>
            <a:off x="584200" y="1722120"/>
            <a:ext cx="37845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rPr>
              <a:t>야간 · 휴게시간처럼 지켜보는 눈이 적을 때,</a:t>
            </a:r>
            <a:endParaRPr sz="1050">
              <a:solidFill>
                <a:srgbClr val="202124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rPr>
              <a:t>입소자의 </a:t>
            </a:r>
            <a:r>
              <a:rPr lang="ko" sz="105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rPr>
              <a:t>쓰러진 것을 바로 알기 어려움</a:t>
            </a:r>
            <a:endParaRPr sz="1050">
              <a:solidFill>
                <a:srgbClr val="202124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50">
              <a:solidFill>
                <a:srgbClr val="202124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5" name="Google Shape;95;p16"/>
          <p:cNvSpPr txBox="1"/>
          <p:nvPr/>
        </p:nvSpPr>
        <p:spPr>
          <a:xfrm>
            <a:off x="4775200" y="1239520"/>
            <a:ext cx="3784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550">
                <a:solidFill>
                  <a:srgbClr val="1A73E8"/>
                </a:solidFill>
                <a:latin typeface="Noto Sans KR"/>
                <a:ea typeface="Noto Sans KR"/>
                <a:cs typeface="Noto Sans KR"/>
                <a:sym typeface="Noto Sans KR"/>
              </a:rPr>
              <a:t>출입 관리가 어려움</a:t>
            </a:r>
            <a:endParaRPr b="1" sz="1550">
              <a:solidFill>
                <a:srgbClr val="1A73E8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6" name="Google Shape;96;p16"/>
          <p:cNvSpPr txBox="1"/>
          <p:nvPr/>
        </p:nvSpPr>
        <p:spPr>
          <a:xfrm>
            <a:off x="4775200" y="1722120"/>
            <a:ext cx="37845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rPr>
              <a:t>외부인 출입과 </a:t>
            </a:r>
            <a:r>
              <a:rPr lang="ko" sz="105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rPr>
              <a:t>입소자의</a:t>
            </a:r>
            <a:r>
              <a:rPr lang="ko" sz="105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rPr>
              <a:t> 무단 외출을 </a:t>
            </a:r>
            <a:r>
              <a:rPr lang="ko" sz="105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rPr>
              <a:t>직원</a:t>
            </a:r>
            <a:r>
              <a:rPr lang="ko" sz="105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rPr>
              <a:t>이 일일이 확인해야 함</a:t>
            </a:r>
            <a:endParaRPr sz="1050">
              <a:solidFill>
                <a:srgbClr val="202124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50">
              <a:solidFill>
                <a:srgbClr val="202124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457200" y="2865120"/>
            <a:ext cx="4038600" cy="1574700"/>
          </a:xfrm>
          <a:prstGeom prst="roundRect">
            <a:avLst>
              <a:gd fmla="val 16667" name="adj"/>
            </a:avLst>
          </a:prstGeom>
          <a:solidFill>
            <a:srgbClr val="F1F3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6"/>
          <p:cNvSpPr txBox="1"/>
          <p:nvPr/>
        </p:nvSpPr>
        <p:spPr>
          <a:xfrm>
            <a:off x="584200" y="2966720"/>
            <a:ext cx="3784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550">
                <a:solidFill>
                  <a:srgbClr val="1A73E8"/>
                </a:solidFill>
                <a:latin typeface="Noto Sans KR"/>
                <a:ea typeface="Noto Sans KR"/>
                <a:cs typeface="Noto Sans KR"/>
                <a:sym typeface="Noto Sans KR"/>
              </a:rPr>
              <a:t>입소자 정보와 기록을 관리하기 어려움</a:t>
            </a:r>
            <a:endParaRPr b="1" sz="1550">
              <a:solidFill>
                <a:srgbClr val="1A73E8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9" name="Google Shape;99;p16"/>
          <p:cNvSpPr txBox="1"/>
          <p:nvPr/>
        </p:nvSpPr>
        <p:spPr>
          <a:xfrm>
            <a:off x="584200" y="3449325"/>
            <a:ext cx="36069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rPr>
              <a:t>입소자 · 직원 정보와 출입 · 사고 기록을 각각 확인하고 관리해야 함</a:t>
            </a:r>
            <a:endParaRPr sz="1050">
              <a:solidFill>
                <a:srgbClr val="202124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50">
              <a:solidFill>
                <a:srgbClr val="202124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0" name="Google Shape;100;p16"/>
          <p:cNvSpPr/>
          <p:nvPr/>
        </p:nvSpPr>
        <p:spPr>
          <a:xfrm>
            <a:off x="4648200" y="2865120"/>
            <a:ext cx="4038600" cy="1574700"/>
          </a:xfrm>
          <a:prstGeom prst="roundRect">
            <a:avLst>
              <a:gd fmla="val 16667" name="adj"/>
            </a:avLst>
          </a:prstGeom>
          <a:solidFill>
            <a:srgbClr val="F1F3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6"/>
          <p:cNvSpPr txBox="1"/>
          <p:nvPr/>
        </p:nvSpPr>
        <p:spPr>
          <a:xfrm>
            <a:off x="4775200" y="2951480"/>
            <a:ext cx="3784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550">
                <a:solidFill>
                  <a:srgbClr val="1A73E8"/>
                </a:solidFill>
                <a:latin typeface="Noto Sans KR"/>
                <a:ea typeface="Noto Sans KR"/>
                <a:cs typeface="Noto Sans KR"/>
                <a:sym typeface="Noto Sans KR"/>
              </a:rPr>
              <a:t>시설 내 상황을 한눈에 파악하기 어려움</a:t>
            </a:r>
            <a:endParaRPr b="1" sz="1550">
              <a:solidFill>
                <a:srgbClr val="1A73E8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2" name="Google Shape;102;p16"/>
          <p:cNvSpPr txBox="1"/>
          <p:nvPr/>
        </p:nvSpPr>
        <p:spPr>
          <a:xfrm>
            <a:off x="4775200" y="3388360"/>
            <a:ext cx="37845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rPr>
              <a:t>현재 발생하는 상황을 실시간으로 확인하고 대응하기 어려움 </a:t>
            </a:r>
            <a:endParaRPr sz="1050">
              <a:solidFill>
                <a:srgbClr val="202124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02124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50">
              <a:solidFill>
                <a:srgbClr val="202124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/>
          <p:nvPr/>
        </p:nvSpPr>
        <p:spPr>
          <a:xfrm>
            <a:off x="457200" y="177800"/>
            <a:ext cx="4445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50">
                <a:solidFill>
                  <a:srgbClr val="1A73E8"/>
                </a:solidFill>
                <a:latin typeface="Noto Sans KR"/>
                <a:ea typeface="Noto Sans KR"/>
                <a:cs typeface="Noto Sans KR"/>
                <a:sym typeface="Noto Sans KR"/>
              </a:rPr>
              <a:t>01  프로젝트 </a:t>
            </a:r>
            <a:r>
              <a:rPr b="1" lang="ko" sz="950">
                <a:solidFill>
                  <a:srgbClr val="1A73E8"/>
                </a:solidFill>
                <a:latin typeface="Noto Sans KR"/>
                <a:ea typeface="Noto Sans KR"/>
                <a:cs typeface="Noto Sans KR"/>
                <a:sym typeface="Noto Sans KR"/>
              </a:rPr>
              <a:t>개요</a:t>
            </a:r>
            <a:endParaRPr b="1" sz="950">
              <a:solidFill>
                <a:srgbClr val="1A73E8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8" name="Google Shape;108;p17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rPr>
              <a:t>목표</a:t>
            </a:r>
            <a:endParaRPr b="1" sz="2000">
              <a:solidFill>
                <a:srgbClr val="202124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9" name="Google Shape;109;p17"/>
          <p:cNvSpPr txBox="1"/>
          <p:nvPr/>
        </p:nvSpPr>
        <p:spPr>
          <a:xfrm>
            <a:off x="457200" y="4800600"/>
            <a:ext cx="5079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9AA0A6"/>
                </a:solidFill>
                <a:latin typeface="Noto Sans KR"/>
                <a:ea typeface="Noto Sans KR"/>
                <a:cs typeface="Noto Sans KR"/>
                <a:sym typeface="Noto Sans KR"/>
              </a:rPr>
              <a:t>T-Safe System · 요양시설 사고 감지 및 대응 모니터링 시스템</a:t>
            </a:r>
            <a:endParaRPr sz="800">
              <a:solidFill>
                <a:srgbClr val="9AA0A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0" name="Google Shape;110;p17"/>
          <p:cNvSpPr txBox="1"/>
          <p:nvPr/>
        </p:nvSpPr>
        <p:spPr>
          <a:xfrm>
            <a:off x="7416800" y="4800600"/>
            <a:ext cx="1269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9AA0A6"/>
                </a:solidFill>
                <a:latin typeface="Noto Sans KR"/>
                <a:ea typeface="Noto Sans KR"/>
                <a:cs typeface="Noto Sans KR"/>
                <a:sym typeface="Noto Sans KR"/>
              </a:rPr>
              <a:t>5 / </a:t>
            </a:r>
            <a:r>
              <a:rPr lang="ko" sz="800">
                <a:solidFill>
                  <a:srgbClr val="9AA0A6"/>
                </a:solidFill>
                <a:latin typeface="Noto Sans KR"/>
                <a:ea typeface="Noto Sans KR"/>
                <a:cs typeface="Noto Sans KR"/>
                <a:sym typeface="Noto Sans KR"/>
              </a:rPr>
              <a:t>27</a:t>
            </a:r>
            <a:endParaRPr sz="800">
              <a:solidFill>
                <a:srgbClr val="9AA0A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pSp>
        <p:nvGrpSpPr>
          <p:cNvPr id="111" name="Google Shape;111;p17"/>
          <p:cNvGrpSpPr/>
          <p:nvPr/>
        </p:nvGrpSpPr>
        <p:grpSpPr>
          <a:xfrm>
            <a:off x="514325" y="1436200"/>
            <a:ext cx="8102700" cy="596900"/>
            <a:chOff x="508000" y="1066800"/>
            <a:chExt cx="8102700" cy="596900"/>
          </a:xfrm>
        </p:grpSpPr>
        <p:sp>
          <p:nvSpPr>
            <p:cNvPr id="112" name="Google Shape;112;p17"/>
            <p:cNvSpPr/>
            <p:nvPr/>
          </p:nvSpPr>
          <p:spPr>
            <a:xfrm>
              <a:off x="508000" y="1130300"/>
              <a:ext cx="457200" cy="457200"/>
            </a:xfrm>
            <a:prstGeom prst="ellipse">
              <a:avLst/>
            </a:prstGeom>
            <a:solidFill>
              <a:srgbClr val="1A73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3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1</a:t>
              </a:r>
              <a:endParaRPr b="1" sz="13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13" name="Google Shape;113;p17"/>
            <p:cNvSpPr txBox="1"/>
            <p:nvPr/>
          </p:nvSpPr>
          <p:spPr>
            <a:xfrm>
              <a:off x="1117600" y="1066800"/>
              <a:ext cx="74931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500">
                  <a:solidFill>
                    <a:srgbClr val="202124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얼굴 인식 기반 자동 출입 관리</a:t>
              </a:r>
              <a:endParaRPr b="1" sz="150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14" name="Google Shape;114;p17"/>
            <p:cNvSpPr txBox="1"/>
            <p:nvPr/>
          </p:nvSpPr>
          <p:spPr>
            <a:xfrm>
              <a:off x="1117600" y="1358900"/>
              <a:ext cx="74931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ko" sz="1100">
                  <a:solidFill>
                    <a:srgbClr val="5F6368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얼굴 식별 및 출입 권한 판정을 통한 출입문 제어</a:t>
              </a:r>
              <a:endParaRPr sz="1100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1100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115" name="Google Shape;115;p17"/>
          <p:cNvGrpSpPr/>
          <p:nvPr/>
        </p:nvGrpSpPr>
        <p:grpSpPr>
          <a:xfrm>
            <a:off x="514325" y="2411213"/>
            <a:ext cx="8102700" cy="596900"/>
            <a:chOff x="508000" y="1790700"/>
            <a:chExt cx="8102700" cy="596900"/>
          </a:xfrm>
        </p:grpSpPr>
        <p:sp>
          <p:nvSpPr>
            <p:cNvPr id="116" name="Google Shape;116;p17"/>
            <p:cNvSpPr/>
            <p:nvPr/>
          </p:nvSpPr>
          <p:spPr>
            <a:xfrm>
              <a:off x="508000" y="1854200"/>
              <a:ext cx="457200" cy="457200"/>
            </a:xfrm>
            <a:prstGeom prst="ellipse">
              <a:avLst/>
            </a:prstGeom>
            <a:solidFill>
              <a:srgbClr val="1A73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3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2</a:t>
              </a:r>
              <a:endParaRPr b="1" sz="13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17" name="Google Shape;117;p17"/>
            <p:cNvSpPr txBox="1"/>
            <p:nvPr/>
          </p:nvSpPr>
          <p:spPr>
            <a:xfrm>
              <a:off x="1117600" y="1790700"/>
              <a:ext cx="74931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ko" sz="1500">
                  <a:solidFill>
                    <a:srgbClr val="202124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입소자·직원 정보 통합 관리</a:t>
              </a:r>
              <a:endParaRPr b="1" sz="150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b="1" sz="150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50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18" name="Google Shape;118;p17"/>
            <p:cNvSpPr txBox="1"/>
            <p:nvPr/>
          </p:nvSpPr>
          <p:spPr>
            <a:xfrm>
              <a:off x="1117600" y="2082800"/>
              <a:ext cx="74931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ko" sz="1100">
                  <a:solidFill>
                    <a:srgbClr val="5F6368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인적사항 등록·조회·수정 및 얼굴 식별정보를 인물별로 연계 관리</a:t>
              </a:r>
              <a:endParaRPr sz="1100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1100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119" name="Google Shape;119;p17"/>
          <p:cNvGrpSpPr/>
          <p:nvPr/>
        </p:nvGrpSpPr>
        <p:grpSpPr>
          <a:xfrm>
            <a:off x="514325" y="3386225"/>
            <a:ext cx="8102700" cy="596900"/>
            <a:chOff x="520650" y="3325750"/>
            <a:chExt cx="8102700" cy="596900"/>
          </a:xfrm>
        </p:grpSpPr>
        <p:sp>
          <p:nvSpPr>
            <p:cNvPr id="120" name="Google Shape;120;p17"/>
            <p:cNvSpPr/>
            <p:nvPr/>
          </p:nvSpPr>
          <p:spPr>
            <a:xfrm>
              <a:off x="520650" y="3404369"/>
              <a:ext cx="457200" cy="457200"/>
            </a:xfrm>
            <a:prstGeom prst="ellipse">
              <a:avLst/>
            </a:prstGeom>
            <a:solidFill>
              <a:srgbClr val="1A73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3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3</a:t>
              </a:r>
              <a:endParaRPr b="1" sz="13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grpSp>
          <p:nvGrpSpPr>
            <p:cNvPr id="121" name="Google Shape;121;p17"/>
            <p:cNvGrpSpPr/>
            <p:nvPr/>
          </p:nvGrpSpPr>
          <p:grpSpPr>
            <a:xfrm>
              <a:off x="1130250" y="3325750"/>
              <a:ext cx="7493100" cy="596900"/>
              <a:chOff x="1104950" y="2345300"/>
              <a:chExt cx="7493100" cy="596900"/>
            </a:xfrm>
          </p:grpSpPr>
          <p:sp>
            <p:nvSpPr>
              <p:cNvPr id="122" name="Google Shape;122;p17"/>
              <p:cNvSpPr txBox="1"/>
              <p:nvPr/>
            </p:nvSpPr>
            <p:spPr>
              <a:xfrm>
                <a:off x="1104950" y="2345300"/>
                <a:ext cx="74931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b="1" lang="ko" sz="1500">
                    <a:solidFill>
                      <a:srgbClr val="202124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쓰러짐 자동 감지 및 알림</a:t>
                </a:r>
                <a:endParaRPr b="1" sz="1500">
                  <a:solidFill>
                    <a:srgbClr val="202124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  <a:p>
                <a:pPr indent="0" lvl="0" marL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1" sz="1500">
                  <a:solidFill>
                    <a:srgbClr val="202124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  <a:p>
                <a:pPr indent="0" lvl="0" marL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500">
                  <a:solidFill>
                    <a:srgbClr val="202124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  <p:sp>
            <p:nvSpPr>
              <p:cNvPr id="123" name="Google Shape;123;p17"/>
              <p:cNvSpPr txBox="1"/>
              <p:nvPr/>
            </p:nvSpPr>
            <p:spPr>
              <a:xfrm>
                <a:off x="1104950" y="2637400"/>
                <a:ext cx="74931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sz="1100">
                    <a:solidFill>
                      <a:srgbClr val="5F6368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쓰러짐 감지 알림 및 발생 위치·시간 기록</a:t>
                </a:r>
                <a:endParaRPr sz="1100">
                  <a:solidFill>
                    <a:srgbClr val="5F6368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8"/>
          <p:cNvSpPr txBox="1"/>
          <p:nvPr/>
        </p:nvSpPr>
        <p:spPr>
          <a:xfrm>
            <a:off x="457200" y="177800"/>
            <a:ext cx="4445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50">
                <a:solidFill>
                  <a:srgbClr val="1A73E8"/>
                </a:solidFill>
                <a:latin typeface="Noto Sans KR"/>
                <a:ea typeface="Noto Sans KR"/>
                <a:cs typeface="Noto Sans KR"/>
                <a:sym typeface="Noto Sans KR"/>
              </a:rPr>
              <a:t>01  프로젝트 </a:t>
            </a:r>
            <a:r>
              <a:rPr b="1" lang="ko" sz="950">
                <a:solidFill>
                  <a:srgbClr val="1A73E8"/>
                </a:solidFill>
                <a:latin typeface="Noto Sans KR"/>
                <a:ea typeface="Noto Sans KR"/>
                <a:cs typeface="Noto Sans KR"/>
                <a:sym typeface="Noto Sans KR"/>
              </a:rPr>
              <a:t>개요</a:t>
            </a:r>
            <a:endParaRPr b="1" sz="950">
              <a:solidFill>
                <a:srgbClr val="1A73E8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9" name="Google Shape;129;p18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rPr>
              <a:t>한눈에 보기</a:t>
            </a:r>
            <a:endParaRPr b="1" sz="2000">
              <a:solidFill>
                <a:srgbClr val="202124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0" name="Google Shape;130;p18"/>
          <p:cNvSpPr txBox="1"/>
          <p:nvPr/>
        </p:nvSpPr>
        <p:spPr>
          <a:xfrm>
            <a:off x="457200" y="4800600"/>
            <a:ext cx="5079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9AA0A6"/>
                </a:solidFill>
                <a:latin typeface="Noto Sans KR"/>
                <a:ea typeface="Noto Sans KR"/>
                <a:cs typeface="Noto Sans KR"/>
                <a:sym typeface="Noto Sans KR"/>
              </a:rPr>
              <a:t>T-Safe System · 요양시설 사고 감지 및 대응 모니터링 시스템</a:t>
            </a:r>
            <a:endParaRPr sz="800">
              <a:solidFill>
                <a:srgbClr val="9AA0A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1" name="Google Shape;131;p18"/>
          <p:cNvSpPr txBox="1"/>
          <p:nvPr/>
        </p:nvSpPr>
        <p:spPr>
          <a:xfrm>
            <a:off x="7416800" y="4800600"/>
            <a:ext cx="1269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9AA0A6"/>
                </a:solidFill>
                <a:latin typeface="Noto Sans KR"/>
                <a:ea typeface="Noto Sans KR"/>
                <a:cs typeface="Noto Sans KR"/>
                <a:sym typeface="Noto Sans KR"/>
              </a:rPr>
              <a:t>6 / </a:t>
            </a:r>
            <a:r>
              <a:rPr lang="ko" sz="800">
                <a:solidFill>
                  <a:srgbClr val="9AA0A6"/>
                </a:solidFill>
                <a:latin typeface="Noto Sans KR"/>
                <a:ea typeface="Noto Sans KR"/>
                <a:cs typeface="Noto Sans KR"/>
                <a:sym typeface="Noto Sans KR"/>
              </a:rPr>
              <a:t>27</a:t>
            </a:r>
            <a:endParaRPr sz="800">
              <a:solidFill>
                <a:srgbClr val="9AA0A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2" name="Google Shape;132;p18"/>
          <p:cNvSpPr/>
          <p:nvPr/>
        </p:nvSpPr>
        <p:spPr>
          <a:xfrm>
            <a:off x="457200" y="1066800"/>
            <a:ext cx="2641500" cy="457200"/>
          </a:xfrm>
          <a:prstGeom prst="roundRect">
            <a:avLst>
              <a:gd fmla="val 16667" name="adj"/>
            </a:avLst>
          </a:prstGeom>
          <a:solidFill>
            <a:srgbClr val="1A73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3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출입할 때</a:t>
            </a:r>
            <a:endParaRPr b="1" sz="130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3" name="Google Shape;133;p18"/>
          <p:cNvSpPr/>
          <p:nvPr/>
        </p:nvSpPr>
        <p:spPr>
          <a:xfrm>
            <a:off x="457200" y="1676400"/>
            <a:ext cx="2641500" cy="558900"/>
          </a:xfrm>
          <a:prstGeom prst="roundRect">
            <a:avLst>
              <a:gd fmla="val 16667" name="adj"/>
            </a:avLst>
          </a:prstGeom>
          <a:solidFill>
            <a:srgbClr val="E8F0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rPr>
              <a:t>얼굴인식 카메라가</a:t>
            </a:r>
            <a:r>
              <a:rPr lang="ko" sz="105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rPr>
              <a:t> 얼굴을 </a:t>
            </a:r>
            <a:r>
              <a:rPr lang="ko" sz="105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rPr>
              <a:t>인식</a:t>
            </a:r>
            <a:endParaRPr sz="1050">
              <a:solidFill>
                <a:srgbClr val="202124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134" name="Google Shape;134;p18"/>
          <p:cNvCxnSpPr/>
          <p:nvPr/>
        </p:nvCxnSpPr>
        <p:spPr>
          <a:xfrm>
            <a:off x="1778000" y="2235200"/>
            <a:ext cx="0" cy="177900"/>
          </a:xfrm>
          <a:prstGeom prst="straightConnector1">
            <a:avLst/>
          </a:prstGeom>
          <a:noFill/>
          <a:ln cap="flat" cmpd="sng" w="19050">
            <a:solidFill>
              <a:srgbClr val="1A73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5" name="Google Shape;135;p18"/>
          <p:cNvSpPr/>
          <p:nvPr/>
        </p:nvSpPr>
        <p:spPr>
          <a:xfrm>
            <a:off x="457200" y="2413000"/>
            <a:ext cx="2641500" cy="558900"/>
          </a:xfrm>
          <a:prstGeom prst="roundRect">
            <a:avLst>
              <a:gd fmla="val 16667" name="adj"/>
            </a:avLst>
          </a:prstGeom>
          <a:solidFill>
            <a:srgbClr val="E8F0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rPr>
              <a:t>출입 권한 확인</a:t>
            </a:r>
            <a:endParaRPr sz="1050">
              <a:solidFill>
                <a:srgbClr val="202124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136" name="Google Shape;136;p18"/>
          <p:cNvCxnSpPr/>
          <p:nvPr/>
        </p:nvCxnSpPr>
        <p:spPr>
          <a:xfrm>
            <a:off x="1778000" y="2971800"/>
            <a:ext cx="0" cy="177900"/>
          </a:xfrm>
          <a:prstGeom prst="straightConnector1">
            <a:avLst/>
          </a:prstGeom>
          <a:noFill/>
          <a:ln cap="flat" cmpd="sng" w="19050">
            <a:solidFill>
              <a:srgbClr val="1A73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7" name="Google Shape;137;p18"/>
          <p:cNvSpPr/>
          <p:nvPr/>
        </p:nvSpPr>
        <p:spPr>
          <a:xfrm>
            <a:off x="457200" y="3149600"/>
            <a:ext cx="2641500" cy="558900"/>
          </a:xfrm>
          <a:prstGeom prst="roundRect">
            <a:avLst>
              <a:gd fmla="val 16667" name="adj"/>
            </a:avLst>
          </a:prstGeom>
          <a:solidFill>
            <a:srgbClr val="E8F0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rPr>
              <a:t>직원</a:t>
            </a:r>
            <a:r>
              <a:rPr lang="ko" sz="105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rPr>
              <a:t> → 문 열림</a:t>
            </a:r>
            <a:endParaRPr sz="1050">
              <a:solidFill>
                <a:srgbClr val="202124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rPr>
              <a:t>등록X or 입소자 </a:t>
            </a:r>
            <a:r>
              <a:rPr lang="ko" sz="105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rPr>
              <a:t>→ 문 열리지 않음</a:t>
            </a:r>
            <a:endParaRPr sz="1050">
              <a:solidFill>
                <a:srgbClr val="202124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138" name="Google Shape;138;p18"/>
          <p:cNvCxnSpPr/>
          <p:nvPr/>
        </p:nvCxnSpPr>
        <p:spPr>
          <a:xfrm>
            <a:off x="1778000" y="3708400"/>
            <a:ext cx="0" cy="177900"/>
          </a:xfrm>
          <a:prstGeom prst="straightConnector1">
            <a:avLst/>
          </a:prstGeom>
          <a:noFill/>
          <a:ln cap="flat" cmpd="sng" w="19050">
            <a:solidFill>
              <a:srgbClr val="1A73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9" name="Google Shape;139;p18"/>
          <p:cNvSpPr/>
          <p:nvPr/>
        </p:nvSpPr>
        <p:spPr>
          <a:xfrm>
            <a:off x="457200" y="3886200"/>
            <a:ext cx="2641500" cy="558900"/>
          </a:xfrm>
          <a:prstGeom prst="roundRect">
            <a:avLst>
              <a:gd fmla="val 16667" name="adj"/>
            </a:avLst>
          </a:prstGeom>
          <a:solidFill>
            <a:srgbClr val="E8F0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rPr>
              <a:t>출입 기록 · 화면 표시</a:t>
            </a:r>
            <a:endParaRPr sz="1050">
              <a:solidFill>
                <a:srgbClr val="202124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0" name="Google Shape;140;p18"/>
          <p:cNvSpPr/>
          <p:nvPr/>
        </p:nvSpPr>
        <p:spPr>
          <a:xfrm>
            <a:off x="3251200" y="1066800"/>
            <a:ext cx="2641500" cy="457200"/>
          </a:xfrm>
          <a:prstGeom prst="roundRect">
            <a:avLst>
              <a:gd fmla="val 16667" name="adj"/>
            </a:avLst>
          </a:prstGeom>
          <a:solidFill>
            <a:srgbClr val="1880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3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평소에</a:t>
            </a:r>
            <a:endParaRPr b="1" sz="130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1" name="Google Shape;141;p18"/>
          <p:cNvSpPr/>
          <p:nvPr/>
        </p:nvSpPr>
        <p:spPr>
          <a:xfrm>
            <a:off x="3251200" y="1676400"/>
            <a:ext cx="2641500" cy="558900"/>
          </a:xfrm>
          <a:prstGeom prst="roundRect">
            <a:avLst>
              <a:gd fmla="val 16667" name="adj"/>
            </a:avLst>
          </a:prstGeom>
          <a:solidFill>
            <a:srgbClr val="E6F4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rPr>
              <a:t>통합 명부 관리 (입소자 · 직원)</a:t>
            </a:r>
            <a:endParaRPr sz="1050">
              <a:solidFill>
                <a:srgbClr val="202124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142" name="Google Shape;142;p18"/>
          <p:cNvCxnSpPr/>
          <p:nvPr/>
        </p:nvCxnSpPr>
        <p:spPr>
          <a:xfrm>
            <a:off x="4572000" y="2235200"/>
            <a:ext cx="0" cy="177900"/>
          </a:xfrm>
          <a:prstGeom prst="straightConnector1">
            <a:avLst/>
          </a:prstGeom>
          <a:noFill/>
          <a:ln cap="flat" cmpd="sng" w="19050">
            <a:solidFill>
              <a:srgbClr val="18803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3" name="Google Shape;143;p18"/>
          <p:cNvSpPr/>
          <p:nvPr/>
        </p:nvSpPr>
        <p:spPr>
          <a:xfrm>
            <a:off x="3251200" y="2413000"/>
            <a:ext cx="2641500" cy="558900"/>
          </a:xfrm>
          <a:prstGeom prst="roundRect">
            <a:avLst>
              <a:gd fmla="val 16667" name="adj"/>
            </a:avLst>
          </a:prstGeom>
          <a:solidFill>
            <a:srgbClr val="E6F4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rPr>
              <a:t>CCTV 화면 모니터링</a:t>
            </a:r>
            <a:endParaRPr sz="1050">
              <a:solidFill>
                <a:srgbClr val="202124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144" name="Google Shape;144;p18"/>
          <p:cNvCxnSpPr/>
          <p:nvPr/>
        </p:nvCxnSpPr>
        <p:spPr>
          <a:xfrm>
            <a:off x="4572000" y="2971800"/>
            <a:ext cx="0" cy="177900"/>
          </a:xfrm>
          <a:prstGeom prst="straightConnector1">
            <a:avLst/>
          </a:prstGeom>
          <a:noFill/>
          <a:ln cap="flat" cmpd="sng" w="19050">
            <a:solidFill>
              <a:srgbClr val="18803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5" name="Google Shape;145;p18"/>
          <p:cNvSpPr/>
          <p:nvPr/>
        </p:nvSpPr>
        <p:spPr>
          <a:xfrm>
            <a:off x="3251200" y="3149600"/>
            <a:ext cx="2641500" cy="558900"/>
          </a:xfrm>
          <a:prstGeom prst="roundRect">
            <a:avLst>
              <a:gd fmla="val 16667" name="adj"/>
            </a:avLst>
          </a:prstGeom>
          <a:solidFill>
            <a:srgbClr val="E6F4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rPr>
              <a:t>출입 · </a:t>
            </a:r>
            <a:r>
              <a:rPr lang="ko" sz="105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rPr>
              <a:t>쓰러짐</a:t>
            </a:r>
            <a:r>
              <a:rPr lang="ko" sz="105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rPr>
              <a:t> 기록 조회</a:t>
            </a:r>
            <a:endParaRPr sz="1050">
              <a:solidFill>
                <a:srgbClr val="202124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146" name="Google Shape;146;p18"/>
          <p:cNvCxnSpPr/>
          <p:nvPr/>
        </p:nvCxnSpPr>
        <p:spPr>
          <a:xfrm>
            <a:off x="4572000" y="3708400"/>
            <a:ext cx="0" cy="177900"/>
          </a:xfrm>
          <a:prstGeom prst="straightConnector1">
            <a:avLst/>
          </a:prstGeom>
          <a:noFill/>
          <a:ln cap="flat" cmpd="sng" w="19050">
            <a:solidFill>
              <a:srgbClr val="18803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7" name="Google Shape;147;p18"/>
          <p:cNvSpPr/>
          <p:nvPr/>
        </p:nvSpPr>
        <p:spPr>
          <a:xfrm>
            <a:off x="3251200" y="3886200"/>
            <a:ext cx="2641500" cy="558900"/>
          </a:xfrm>
          <a:prstGeom prst="roundRect">
            <a:avLst>
              <a:gd fmla="val 16667" name="adj"/>
            </a:avLst>
          </a:prstGeom>
          <a:solidFill>
            <a:srgbClr val="E6F4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rPr>
              <a:t>원격 문 열기</a:t>
            </a:r>
            <a:endParaRPr sz="1050">
              <a:solidFill>
                <a:srgbClr val="202124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8" name="Google Shape;148;p18"/>
          <p:cNvSpPr/>
          <p:nvPr/>
        </p:nvSpPr>
        <p:spPr>
          <a:xfrm>
            <a:off x="6045200" y="1066800"/>
            <a:ext cx="2641500" cy="457200"/>
          </a:xfrm>
          <a:prstGeom prst="roundRect">
            <a:avLst>
              <a:gd fmla="val 16667" name="adj"/>
            </a:avLst>
          </a:prstGeom>
          <a:solidFill>
            <a:srgbClr val="C522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3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넘어졌을 때</a:t>
            </a:r>
            <a:endParaRPr b="1" sz="130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9" name="Google Shape;149;p18"/>
          <p:cNvSpPr/>
          <p:nvPr/>
        </p:nvSpPr>
        <p:spPr>
          <a:xfrm>
            <a:off x="6045200" y="1676400"/>
            <a:ext cx="2641500" cy="558900"/>
          </a:xfrm>
          <a:prstGeom prst="roundRect">
            <a:avLst>
              <a:gd fmla="val 16667" name="adj"/>
            </a:avLst>
          </a:prstGeom>
          <a:solidFill>
            <a:srgbClr val="FCE8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rPr>
              <a:t>CCTV가</a:t>
            </a:r>
            <a:r>
              <a:rPr lang="ko" sz="105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rPr>
              <a:t> 자세를 </a:t>
            </a:r>
            <a:r>
              <a:rPr lang="ko" sz="105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rPr>
              <a:t>모니터링</a:t>
            </a:r>
            <a:endParaRPr sz="1050">
              <a:solidFill>
                <a:srgbClr val="202124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150" name="Google Shape;150;p18"/>
          <p:cNvCxnSpPr/>
          <p:nvPr/>
        </p:nvCxnSpPr>
        <p:spPr>
          <a:xfrm>
            <a:off x="7366000" y="2235200"/>
            <a:ext cx="0" cy="177900"/>
          </a:xfrm>
          <a:prstGeom prst="straightConnector1">
            <a:avLst/>
          </a:prstGeom>
          <a:noFill/>
          <a:ln cap="flat" cmpd="sng" w="19050">
            <a:solidFill>
              <a:srgbClr val="C5221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1" name="Google Shape;151;p18"/>
          <p:cNvSpPr/>
          <p:nvPr/>
        </p:nvSpPr>
        <p:spPr>
          <a:xfrm>
            <a:off x="6045200" y="2413000"/>
            <a:ext cx="2641500" cy="558900"/>
          </a:xfrm>
          <a:prstGeom prst="roundRect">
            <a:avLst>
              <a:gd fmla="val 16667" name="adj"/>
            </a:avLst>
          </a:prstGeom>
          <a:solidFill>
            <a:srgbClr val="FCE8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rPr>
              <a:t>쓰러짐</a:t>
            </a:r>
            <a:r>
              <a:rPr lang="ko" sz="105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rPr>
              <a:t> 판정</a:t>
            </a:r>
            <a:endParaRPr sz="1050">
              <a:solidFill>
                <a:srgbClr val="202124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2" name="Google Shape;152;p18"/>
          <p:cNvSpPr/>
          <p:nvPr/>
        </p:nvSpPr>
        <p:spPr>
          <a:xfrm>
            <a:off x="6045200" y="3149600"/>
            <a:ext cx="2641500" cy="558900"/>
          </a:xfrm>
          <a:prstGeom prst="roundRect">
            <a:avLst>
              <a:gd fmla="val 16667" name="adj"/>
            </a:avLst>
          </a:prstGeom>
          <a:solidFill>
            <a:srgbClr val="FCE8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rPr>
              <a:t>쓰러짐 위치 · 시각 기록</a:t>
            </a:r>
            <a:endParaRPr sz="1050">
              <a:solidFill>
                <a:srgbClr val="202124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153" name="Google Shape;153;p18"/>
          <p:cNvCxnSpPr/>
          <p:nvPr/>
        </p:nvCxnSpPr>
        <p:spPr>
          <a:xfrm>
            <a:off x="7366000" y="2971800"/>
            <a:ext cx="0" cy="177900"/>
          </a:xfrm>
          <a:prstGeom prst="straightConnector1">
            <a:avLst/>
          </a:prstGeom>
          <a:noFill/>
          <a:ln cap="flat" cmpd="sng" w="19050">
            <a:solidFill>
              <a:srgbClr val="C5221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4" name="Google Shape;154;p18"/>
          <p:cNvCxnSpPr/>
          <p:nvPr/>
        </p:nvCxnSpPr>
        <p:spPr>
          <a:xfrm>
            <a:off x="7366000" y="3708400"/>
            <a:ext cx="0" cy="177900"/>
          </a:xfrm>
          <a:prstGeom prst="straightConnector1">
            <a:avLst/>
          </a:prstGeom>
          <a:noFill/>
          <a:ln cap="flat" cmpd="sng" w="19050">
            <a:solidFill>
              <a:srgbClr val="C5221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5" name="Google Shape;155;p18"/>
          <p:cNvSpPr/>
          <p:nvPr/>
        </p:nvSpPr>
        <p:spPr>
          <a:xfrm>
            <a:off x="6045200" y="3886200"/>
            <a:ext cx="2641500" cy="558900"/>
          </a:xfrm>
          <a:prstGeom prst="roundRect">
            <a:avLst>
              <a:gd fmla="val 16667" name="adj"/>
            </a:avLst>
          </a:prstGeom>
          <a:solidFill>
            <a:srgbClr val="FCE8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rPr>
              <a:t>관리자 화면</a:t>
            </a:r>
            <a:r>
              <a:rPr lang="ko" sz="105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rPr>
              <a:t>에 알림</a:t>
            </a:r>
            <a:endParaRPr sz="1050">
              <a:solidFill>
                <a:srgbClr val="202124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4EA6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9"/>
          <p:cNvSpPr txBox="1"/>
          <p:nvPr/>
        </p:nvSpPr>
        <p:spPr>
          <a:xfrm>
            <a:off x="609600" y="939800"/>
            <a:ext cx="25401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5600">
                <a:solidFill>
                  <a:srgbClr val="8AB4F8"/>
                </a:solidFill>
                <a:latin typeface="Noto Sans KR"/>
                <a:ea typeface="Noto Sans KR"/>
                <a:cs typeface="Noto Sans KR"/>
                <a:sym typeface="Noto Sans KR"/>
              </a:rPr>
              <a:t>02</a:t>
            </a:r>
            <a:endParaRPr b="1" sz="5600">
              <a:solidFill>
                <a:srgbClr val="8AB4F8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61" name="Google Shape;161;p19"/>
          <p:cNvSpPr txBox="1"/>
          <p:nvPr/>
        </p:nvSpPr>
        <p:spPr>
          <a:xfrm>
            <a:off x="609600" y="2184400"/>
            <a:ext cx="79248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0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주요 기능</a:t>
            </a:r>
            <a:endParaRPr b="1" sz="300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62" name="Google Shape;162;p19"/>
          <p:cNvSpPr txBox="1"/>
          <p:nvPr/>
        </p:nvSpPr>
        <p:spPr>
          <a:xfrm>
            <a:off x="609600" y="3759200"/>
            <a:ext cx="79248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D2E3FC"/>
                </a:solidFill>
                <a:latin typeface="Noto Sans KR"/>
                <a:ea typeface="Noto Sans KR"/>
                <a:cs typeface="Noto Sans KR"/>
                <a:sym typeface="Noto Sans KR"/>
              </a:rPr>
              <a:t>문출입 제어</a:t>
            </a:r>
            <a:r>
              <a:rPr lang="ko" sz="1200">
                <a:solidFill>
                  <a:srgbClr val="D2E3FC"/>
                </a:solidFill>
                <a:latin typeface="Noto Sans KR"/>
                <a:ea typeface="Noto Sans KR"/>
                <a:cs typeface="Noto Sans KR"/>
                <a:sym typeface="Noto Sans KR"/>
              </a:rPr>
              <a:t>   ·   CCTV </a:t>
            </a:r>
            <a:r>
              <a:rPr lang="ko" sz="1200">
                <a:solidFill>
                  <a:srgbClr val="D2E3FC"/>
                </a:solidFill>
                <a:latin typeface="Noto Sans KR"/>
                <a:ea typeface="Noto Sans KR"/>
                <a:cs typeface="Noto Sans KR"/>
                <a:sym typeface="Noto Sans KR"/>
              </a:rPr>
              <a:t>모니터링 및 쓰러짐 감지</a:t>
            </a:r>
            <a:r>
              <a:rPr lang="ko" sz="1200">
                <a:solidFill>
                  <a:srgbClr val="D2E3FC"/>
                </a:solidFill>
                <a:latin typeface="Noto Sans KR"/>
                <a:ea typeface="Noto Sans KR"/>
                <a:cs typeface="Noto Sans KR"/>
                <a:sym typeface="Noto Sans KR"/>
              </a:rPr>
              <a:t>   ·   </a:t>
            </a:r>
            <a:r>
              <a:rPr lang="ko" sz="1200">
                <a:solidFill>
                  <a:srgbClr val="D2E3FC"/>
                </a:solidFill>
                <a:latin typeface="Noto Sans KR"/>
                <a:ea typeface="Noto Sans KR"/>
                <a:cs typeface="Noto Sans KR"/>
                <a:sym typeface="Noto Sans KR"/>
              </a:rPr>
              <a:t>입소자·직원</a:t>
            </a:r>
            <a:r>
              <a:rPr lang="ko" sz="1200">
                <a:solidFill>
                  <a:srgbClr val="D2E3FC"/>
                </a:solidFill>
                <a:latin typeface="Noto Sans KR"/>
                <a:ea typeface="Noto Sans KR"/>
                <a:cs typeface="Noto Sans KR"/>
                <a:sym typeface="Noto Sans KR"/>
              </a:rPr>
              <a:t> 정보 관리</a:t>
            </a:r>
            <a:endParaRPr sz="1200">
              <a:solidFill>
                <a:srgbClr val="D2E3FC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>
            <a:off x="7416800" y="4800600"/>
            <a:ext cx="1269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D2E3FC"/>
                </a:solidFill>
                <a:latin typeface="Noto Sans KR"/>
                <a:ea typeface="Noto Sans KR"/>
                <a:cs typeface="Noto Sans KR"/>
                <a:sym typeface="Noto Sans KR"/>
              </a:rPr>
              <a:t>7 / </a:t>
            </a:r>
            <a:r>
              <a:rPr lang="ko" sz="800">
                <a:solidFill>
                  <a:srgbClr val="9AA0A6"/>
                </a:solidFill>
                <a:latin typeface="Noto Sans KR"/>
                <a:ea typeface="Noto Sans KR"/>
                <a:cs typeface="Noto Sans KR"/>
                <a:sym typeface="Noto Sans KR"/>
              </a:rPr>
              <a:t>27</a:t>
            </a:r>
            <a:endParaRPr sz="800">
              <a:solidFill>
                <a:srgbClr val="D2E3FC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0"/>
          <p:cNvSpPr txBox="1"/>
          <p:nvPr/>
        </p:nvSpPr>
        <p:spPr>
          <a:xfrm>
            <a:off x="457200" y="177800"/>
            <a:ext cx="4445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50">
                <a:solidFill>
                  <a:srgbClr val="1A73E8"/>
                </a:solidFill>
                <a:latin typeface="Noto Sans KR"/>
                <a:ea typeface="Noto Sans KR"/>
                <a:cs typeface="Noto Sans KR"/>
                <a:sym typeface="Noto Sans KR"/>
              </a:rPr>
              <a:t>02  주요 기능</a:t>
            </a:r>
            <a:endParaRPr b="1" sz="950">
              <a:solidFill>
                <a:srgbClr val="1A73E8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rPr>
              <a:t>주요기능</a:t>
            </a:r>
            <a:endParaRPr b="1" sz="2000">
              <a:solidFill>
                <a:srgbClr val="202124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70" name="Google Shape;170;p20"/>
          <p:cNvSpPr txBox="1"/>
          <p:nvPr/>
        </p:nvSpPr>
        <p:spPr>
          <a:xfrm>
            <a:off x="457200" y="4800600"/>
            <a:ext cx="5079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9AA0A6"/>
                </a:solidFill>
                <a:latin typeface="Noto Sans KR"/>
                <a:ea typeface="Noto Sans KR"/>
                <a:cs typeface="Noto Sans KR"/>
                <a:sym typeface="Noto Sans KR"/>
              </a:rPr>
              <a:t>T-Safe System · 요양시설 사고 감지 및 대응 모니터링 시스템</a:t>
            </a:r>
            <a:endParaRPr sz="800">
              <a:solidFill>
                <a:srgbClr val="9AA0A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7416800" y="4800600"/>
            <a:ext cx="1269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9AA0A6"/>
                </a:solidFill>
                <a:latin typeface="Noto Sans KR"/>
                <a:ea typeface="Noto Sans KR"/>
                <a:cs typeface="Noto Sans KR"/>
                <a:sym typeface="Noto Sans KR"/>
              </a:rPr>
              <a:t>8 </a:t>
            </a:r>
            <a:r>
              <a:rPr lang="ko" sz="800">
                <a:solidFill>
                  <a:srgbClr val="9AA0A6"/>
                </a:solidFill>
                <a:latin typeface="Noto Sans KR"/>
                <a:ea typeface="Noto Sans KR"/>
                <a:cs typeface="Noto Sans KR"/>
                <a:sym typeface="Noto Sans KR"/>
              </a:rPr>
              <a:t>/ </a:t>
            </a:r>
            <a:r>
              <a:rPr lang="ko" sz="800">
                <a:solidFill>
                  <a:srgbClr val="9AA0A6"/>
                </a:solidFill>
                <a:latin typeface="Noto Sans KR"/>
                <a:ea typeface="Noto Sans KR"/>
                <a:cs typeface="Noto Sans KR"/>
                <a:sym typeface="Noto Sans KR"/>
              </a:rPr>
              <a:t>27</a:t>
            </a:r>
            <a:endParaRPr sz="800">
              <a:solidFill>
                <a:srgbClr val="9AA0A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72" name="Google Shape;172;p20"/>
          <p:cNvSpPr/>
          <p:nvPr/>
        </p:nvSpPr>
        <p:spPr>
          <a:xfrm>
            <a:off x="508000" y="1516449"/>
            <a:ext cx="457200" cy="45720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3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1</a:t>
            </a:r>
            <a:endParaRPr b="1" sz="130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1117600" y="1452949"/>
            <a:ext cx="7493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50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rPr>
              <a:t>문 출입 제어</a:t>
            </a:r>
            <a:endParaRPr b="1" sz="1500">
              <a:solidFill>
                <a:srgbClr val="202124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202124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1117600" y="1745049"/>
            <a:ext cx="7493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출입자 얼굴 추적 및 식별, 출입 권한에 따른 자동 출입문 제어</a:t>
            </a:r>
            <a:endParaRPr sz="1100">
              <a:solidFill>
                <a:srgbClr val="5F6368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508000" y="2545149"/>
            <a:ext cx="457200" cy="45720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3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2</a:t>
            </a:r>
            <a:endParaRPr b="1" sz="130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1193600" y="3503999"/>
            <a:ext cx="7493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50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rPr>
              <a:t>CCTV 모니터링 및 쓰러짐 감지</a:t>
            </a:r>
            <a:endParaRPr b="1" sz="1500">
              <a:solidFill>
                <a:srgbClr val="202124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1193600" y="3796099"/>
            <a:ext cx="7493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실시간 영상 모니터링, 쓰러짐 자동 감지 및 발생 위치·시간 기록과 알림</a:t>
            </a:r>
            <a:endParaRPr sz="1100">
              <a:solidFill>
                <a:srgbClr val="5F6368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5F6368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5F6368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508000" y="3573849"/>
            <a:ext cx="457200" cy="45720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3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3</a:t>
            </a:r>
            <a:endParaRPr b="1" sz="130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1193600" y="2475299"/>
            <a:ext cx="7493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50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rPr>
              <a:t>입소자·직원 정보 관리</a:t>
            </a:r>
            <a:endParaRPr b="1" sz="1500">
              <a:solidFill>
                <a:srgbClr val="202124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202124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1193600" y="2767399"/>
            <a:ext cx="7493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인적사항 등록·조회·수정·삭제</a:t>
            </a:r>
            <a:endParaRPr sz="1100">
              <a:solidFill>
                <a:srgbClr val="5F6368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1"/>
          <p:cNvSpPr txBox="1"/>
          <p:nvPr/>
        </p:nvSpPr>
        <p:spPr>
          <a:xfrm>
            <a:off x="457200" y="177800"/>
            <a:ext cx="4445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50">
                <a:solidFill>
                  <a:srgbClr val="1A73E8"/>
                </a:solidFill>
                <a:latin typeface="Noto Sans KR"/>
                <a:ea typeface="Noto Sans KR"/>
                <a:cs typeface="Noto Sans KR"/>
                <a:sym typeface="Noto Sans KR"/>
              </a:rPr>
              <a:t>02  주요 기능 -  </a:t>
            </a:r>
            <a:r>
              <a:rPr b="1" lang="ko" sz="950">
                <a:solidFill>
                  <a:srgbClr val="1A73E8"/>
                </a:solidFill>
                <a:latin typeface="Noto Sans KR"/>
                <a:ea typeface="Noto Sans KR"/>
                <a:cs typeface="Noto Sans KR"/>
                <a:sym typeface="Noto Sans KR"/>
              </a:rPr>
              <a:t>문 출입 제어</a:t>
            </a:r>
            <a:endParaRPr b="1" sz="950">
              <a:solidFill>
                <a:srgbClr val="1A73E8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50">
              <a:solidFill>
                <a:srgbClr val="1A73E8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50">
              <a:solidFill>
                <a:srgbClr val="1A73E8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6" name="Google Shape;186;p21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rPr>
              <a:t>① </a:t>
            </a:r>
            <a:r>
              <a:rPr b="1" lang="ko" sz="200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rPr>
              <a:t>얼굴 인식·출입 GUI</a:t>
            </a:r>
            <a:endParaRPr b="1" sz="2000">
              <a:solidFill>
                <a:srgbClr val="202124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7" name="Google Shape;187;p21"/>
          <p:cNvSpPr txBox="1"/>
          <p:nvPr/>
        </p:nvSpPr>
        <p:spPr>
          <a:xfrm>
            <a:off x="457200" y="4800600"/>
            <a:ext cx="5079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9AA0A6"/>
                </a:solidFill>
                <a:latin typeface="Noto Sans KR"/>
                <a:ea typeface="Noto Sans KR"/>
                <a:cs typeface="Noto Sans KR"/>
                <a:sym typeface="Noto Sans KR"/>
              </a:rPr>
              <a:t>T-Safe System · 요양시설 사고 감지 및 대응 모니터링 시스템</a:t>
            </a:r>
            <a:endParaRPr sz="800">
              <a:solidFill>
                <a:srgbClr val="9AA0A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8" name="Google Shape;188;p21"/>
          <p:cNvSpPr txBox="1"/>
          <p:nvPr/>
        </p:nvSpPr>
        <p:spPr>
          <a:xfrm>
            <a:off x="7416800" y="4800600"/>
            <a:ext cx="1269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9AA0A6"/>
                </a:solidFill>
                <a:latin typeface="Noto Sans KR"/>
                <a:ea typeface="Noto Sans KR"/>
                <a:cs typeface="Noto Sans KR"/>
                <a:sym typeface="Noto Sans KR"/>
              </a:rPr>
              <a:t>9 </a:t>
            </a:r>
            <a:r>
              <a:rPr lang="ko" sz="800">
                <a:solidFill>
                  <a:srgbClr val="9AA0A6"/>
                </a:solidFill>
                <a:latin typeface="Noto Sans KR"/>
                <a:ea typeface="Noto Sans KR"/>
                <a:cs typeface="Noto Sans KR"/>
                <a:sym typeface="Noto Sans KR"/>
              </a:rPr>
              <a:t>/ </a:t>
            </a:r>
            <a:r>
              <a:rPr lang="ko" sz="800">
                <a:solidFill>
                  <a:srgbClr val="9AA0A6"/>
                </a:solidFill>
                <a:latin typeface="Noto Sans KR"/>
                <a:ea typeface="Noto Sans KR"/>
                <a:cs typeface="Noto Sans KR"/>
                <a:sym typeface="Noto Sans KR"/>
              </a:rPr>
              <a:t>27</a:t>
            </a:r>
            <a:endParaRPr sz="800">
              <a:solidFill>
                <a:srgbClr val="9AA0A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9" name="Google Shape;189;p21"/>
          <p:cNvSpPr/>
          <p:nvPr/>
        </p:nvSpPr>
        <p:spPr>
          <a:xfrm>
            <a:off x="457200" y="990600"/>
            <a:ext cx="1320900" cy="507900"/>
          </a:xfrm>
          <a:prstGeom prst="roundRect">
            <a:avLst>
              <a:gd fmla="val 16667" name="adj"/>
            </a:avLst>
          </a:prstGeom>
          <a:solidFill>
            <a:srgbClr val="E8F0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rPr>
              <a:t>출입자 접근</a:t>
            </a:r>
            <a:endParaRPr sz="1000">
              <a:solidFill>
                <a:srgbClr val="202124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190" name="Google Shape;190;p21"/>
          <p:cNvCxnSpPr/>
          <p:nvPr/>
        </p:nvCxnSpPr>
        <p:spPr>
          <a:xfrm>
            <a:off x="1117600" y="1498600"/>
            <a:ext cx="0" cy="147300"/>
          </a:xfrm>
          <a:prstGeom prst="straightConnector1">
            <a:avLst/>
          </a:prstGeom>
          <a:noFill/>
          <a:ln cap="flat" cmpd="sng" w="19050">
            <a:solidFill>
              <a:srgbClr val="1A73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1" name="Google Shape;191;p21"/>
          <p:cNvSpPr/>
          <p:nvPr/>
        </p:nvSpPr>
        <p:spPr>
          <a:xfrm>
            <a:off x="457200" y="1645920"/>
            <a:ext cx="1320900" cy="507900"/>
          </a:xfrm>
          <a:prstGeom prst="roundRect">
            <a:avLst>
              <a:gd fmla="val 16667" name="adj"/>
            </a:avLst>
          </a:prstGeom>
          <a:solidFill>
            <a:srgbClr val="E8F0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rPr>
              <a:t>카메라가</a:t>
            </a:r>
            <a:endParaRPr sz="1000">
              <a:solidFill>
                <a:srgbClr val="202124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rPr>
              <a:t>얼굴을 따라감</a:t>
            </a:r>
            <a:endParaRPr sz="1000">
              <a:solidFill>
                <a:srgbClr val="202124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192" name="Google Shape;192;p21"/>
          <p:cNvCxnSpPr/>
          <p:nvPr/>
        </p:nvCxnSpPr>
        <p:spPr>
          <a:xfrm>
            <a:off x="1117600" y="2153920"/>
            <a:ext cx="0" cy="147300"/>
          </a:xfrm>
          <a:prstGeom prst="straightConnector1">
            <a:avLst/>
          </a:prstGeom>
          <a:noFill/>
          <a:ln cap="flat" cmpd="sng" w="19050">
            <a:solidFill>
              <a:srgbClr val="1A73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3" name="Google Shape;193;p21"/>
          <p:cNvSpPr/>
          <p:nvPr/>
        </p:nvSpPr>
        <p:spPr>
          <a:xfrm>
            <a:off x="457200" y="2301240"/>
            <a:ext cx="1320900" cy="507900"/>
          </a:xfrm>
          <a:prstGeom prst="roundRect">
            <a:avLst>
              <a:gd fmla="val 16667" name="adj"/>
            </a:avLst>
          </a:prstGeom>
          <a:solidFill>
            <a:srgbClr val="E8F0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rPr>
              <a:t>얼굴 확인</a:t>
            </a:r>
            <a:endParaRPr sz="1000">
              <a:solidFill>
                <a:srgbClr val="202124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194" name="Google Shape;194;p21"/>
          <p:cNvCxnSpPr/>
          <p:nvPr/>
        </p:nvCxnSpPr>
        <p:spPr>
          <a:xfrm>
            <a:off x="1117600" y="2809240"/>
            <a:ext cx="0" cy="147300"/>
          </a:xfrm>
          <a:prstGeom prst="straightConnector1">
            <a:avLst/>
          </a:prstGeom>
          <a:noFill/>
          <a:ln cap="flat" cmpd="sng" w="19050">
            <a:solidFill>
              <a:srgbClr val="1A73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5" name="Google Shape;195;p21"/>
          <p:cNvSpPr/>
          <p:nvPr/>
        </p:nvSpPr>
        <p:spPr>
          <a:xfrm>
            <a:off x="457200" y="2956560"/>
            <a:ext cx="1320900" cy="507900"/>
          </a:xfrm>
          <a:prstGeom prst="roundRect">
            <a:avLst>
              <a:gd fmla="val 16667" name="adj"/>
            </a:avLst>
          </a:prstGeom>
          <a:solidFill>
            <a:srgbClr val="E8F0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rPr>
              <a:t>출입 권한</a:t>
            </a:r>
            <a:endParaRPr sz="1000">
              <a:solidFill>
                <a:srgbClr val="202124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rPr>
              <a:t>판정</a:t>
            </a:r>
            <a:endParaRPr sz="1000">
              <a:solidFill>
                <a:srgbClr val="202124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196" name="Google Shape;196;p21"/>
          <p:cNvCxnSpPr/>
          <p:nvPr/>
        </p:nvCxnSpPr>
        <p:spPr>
          <a:xfrm>
            <a:off x="1117600" y="3464560"/>
            <a:ext cx="0" cy="147300"/>
          </a:xfrm>
          <a:prstGeom prst="straightConnector1">
            <a:avLst/>
          </a:prstGeom>
          <a:noFill/>
          <a:ln cap="flat" cmpd="sng" w="19050">
            <a:solidFill>
              <a:srgbClr val="1A73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7" name="Google Shape;197;p21"/>
          <p:cNvSpPr/>
          <p:nvPr/>
        </p:nvSpPr>
        <p:spPr>
          <a:xfrm>
            <a:off x="457200" y="3611880"/>
            <a:ext cx="1320900" cy="507900"/>
          </a:xfrm>
          <a:prstGeom prst="roundRect">
            <a:avLst>
              <a:gd fmla="val 16667" name="adj"/>
            </a:avLst>
          </a:prstGeom>
          <a:solidFill>
            <a:srgbClr val="E8F0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rPr>
              <a:t>문 열림</a:t>
            </a:r>
            <a:endParaRPr sz="1000">
              <a:solidFill>
                <a:srgbClr val="202124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198" name="Google Shape;198;p21"/>
          <p:cNvCxnSpPr/>
          <p:nvPr/>
        </p:nvCxnSpPr>
        <p:spPr>
          <a:xfrm>
            <a:off x="1117600" y="4119880"/>
            <a:ext cx="0" cy="147300"/>
          </a:xfrm>
          <a:prstGeom prst="straightConnector1">
            <a:avLst/>
          </a:prstGeom>
          <a:noFill/>
          <a:ln cap="flat" cmpd="sng" w="19050">
            <a:solidFill>
              <a:srgbClr val="1A73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9" name="Google Shape;199;p21"/>
          <p:cNvSpPr/>
          <p:nvPr/>
        </p:nvSpPr>
        <p:spPr>
          <a:xfrm>
            <a:off x="457200" y="4267200"/>
            <a:ext cx="1320900" cy="507900"/>
          </a:xfrm>
          <a:prstGeom prst="roundRect">
            <a:avLst>
              <a:gd fmla="val 16667" name="adj"/>
            </a:avLst>
          </a:prstGeom>
          <a:solidFill>
            <a:srgbClr val="E8F0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rPr>
              <a:t>출입 기록</a:t>
            </a:r>
            <a:endParaRPr sz="1000">
              <a:solidFill>
                <a:srgbClr val="202124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rPr>
              <a:t>화면 표시</a:t>
            </a:r>
            <a:endParaRPr sz="1000">
              <a:solidFill>
                <a:srgbClr val="202124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0" name="Google Shape;200;p21"/>
          <p:cNvSpPr/>
          <p:nvPr/>
        </p:nvSpPr>
        <p:spPr>
          <a:xfrm>
            <a:off x="2037588" y="990600"/>
            <a:ext cx="6649200" cy="3784500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1" name="Google Shape;201;p21" title="door_access.png"/>
          <p:cNvPicPr preferRelativeResize="0"/>
          <p:nvPr/>
        </p:nvPicPr>
        <p:blipFill rotWithShape="1">
          <a:blip r:embed="rId3">
            <a:alphaModFix/>
          </a:blip>
          <a:srcRect b="4995" l="0" r="0" t="5004"/>
          <a:stretch/>
        </p:blipFill>
        <p:spPr>
          <a:xfrm>
            <a:off x="2088416" y="1041400"/>
            <a:ext cx="6547555" cy="368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2"/>
          <p:cNvSpPr txBox="1"/>
          <p:nvPr/>
        </p:nvSpPr>
        <p:spPr>
          <a:xfrm>
            <a:off x="457200" y="177800"/>
            <a:ext cx="4445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50">
                <a:solidFill>
                  <a:srgbClr val="1A73E8"/>
                </a:solidFill>
                <a:latin typeface="Noto Sans KR"/>
                <a:ea typeface="Noto Sans KR"/>
                <a:cs typeface="Noto Sans KR"/>
                <a:sym typeface="Noto Sans KR"/>
              </a:rPr>
              <a:t>02  주요 기능 -  </a:t>
            </a:r>
            <a:r>
              <a:rPr b="1" lang="ko" sz="950">
                <a:solidFill>
                  <a:srgbClr val="1A73E8"/>
                </a:solidFill>
                <a:latin typeface="Noto Sans KR"/>
                <a:ea typeface="Noto Sans KR"/>
                <a:cs typeface="Noto Sans KR"/>
                <a:sym typeface="Noto Sans KR"/>
              </a:rPr>
              <a:t>입소자·직원 정보 관리</a:t>
            </a:r>
            <a:endParaRPr b="1" sz="950">
              <a:solidFill>
                <a:srgbClr val="1A73E8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50">
              <a:solidFill>
                <a:srgbClr val="1A73E8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7" name="Google Shape;207;p22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rPr>
              <a:t>②  사람 등록·조회 GUI  |  서버 DB 연동</a:t>
            </a:r>
            <a:endParaRPr b="1" sz="2000">
              <a:solidFill>
                <a:srgbClr val="202124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8" name="Google Shape;208;p22"/>
          <p:cNvSpPr txBox="1"/>
          <p:nvPr/>
        </p:nvSpPr>
        <p:spPr>
          <a:xfrm>
            <a:off x="457200" y="4800600"/>
            <a:ext cx="5079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9AA0A6"/>
                </a:solidFill>
                <a:latin typeface="Noto Sans KR"/>
                <a:ea typeface="Noto Sans KR"/>
                <a:cs typeface="Noto Sans KR"/>
                <a:sym typeface="Noto Sans KR"/>
              </a:rPr>
              <a:t>T-Safe System · 요양시설 사고 감지 및 대응 모니터링 시스템</a:t>
            </a:r>
            <a:endParaRPr sz="800">
              <a:solidFill>
                <a:srgbClr val="9AA0A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9" name="Google Shape;209;p22"/>
          <p:cNvSpPr txBox="1"/>
          <p:nvPr/>
        </p:nvSpPr>
        <p:spPr>
          <a:xfrm>
            <a:off x="7416800" y="4800600"/>
            <a:ext cx="1269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9AA0A6"/>
                </a:solidFill>
                <a:latin typeface="Noto Sans KR"/>
                <a:ea typeface="Noto Sans KR"/>
                <a:cs typeface="Noto Sans KR"/>
                <a:sym typeface="Noto Sans KR"/>
              </a:rPr>
              <a:t>10 / </a:t>
            </a:r>
            <a:r>
              <a:rPr lang="ko" sz="800">
                <a:solidFill>
                  <a:srgbClr val="9AA0A6"/>
                </a:solidFill>
                <a:latin typeface="Noto Sans KR"/>
                <a:ea typeface="Noto Sans KR"/>
                <a:cs typeface="Noto Sans KR"/>
                <a:sym typeface="Noto Sans KR"/>
              </a:rPr>
              <a:t>27</a:t>
            </a:r>
            <a:endParaRPr sz="800">
              <a:solidFill>
                <a:srgbClr val="9AA0A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210" name="Google Shape;21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000" y="1450000"/>
            <a:ext cx="3970000" cy="24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0000" y="1450000"/>
            <a:ext cx="3970000" cy="24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2"/>
          <p:cNvSpPr txBox="1"/>
          <p:nvPr/>
        </p:nvSpPr>
        <p:spPr>
          <a:xfrm>
            <a:off x="450000" y="1100000"/>
            <a:ext cx="39699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300">
                <a:solidFill>
                  <a:srgbClr val="0D4245"/>
                </a:solidFill>
              </a:rPr>
              <a:t>01  People · 등록 인원 조회·관리</a:t>
            </a:r>
            <a:endParaRPr b="1" sz="1300">
              <a:solidFill>
                <a:srgbClr val="0D4245"/>
              </a:solidFill>
            </a:endParaRPr>
          </a:p>
        </p:txBody>
      </p:sp>
      <p:sp>
        <p:nvSpPr>
          <p:cNvPr id="213" name="Google Shape;213;p22"/>
          <p:cNvSpPr txBox="1"/>
          <p:nvPr/>
        </p:nvSpPr>
        <p:spPr>
          <a:xfrm>
            <a:off x="4720000" y="1100000"/>
            <a:ext cx="39699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300">
                <a:solidFill>
                  <a:srgbClr val="0D4245"/>
                </a:solidFill>
              </a:rPr>
              <a:t>02  Register · 인적사항 입력·저장</a:t>
            </a:r>
            <a:endParaRPr b="1" sz="1300">
              <a:solidFill>
                <a:srgbClr val="0D4245"/>
              </a:solidFill>
            </a:endParaRPr>
          </a:p>
        </p:txBody>
      </p:sp>
      <p:sp>
        <p:nvSpPr>
          <p:cNvPr id="214" name="Google Shape;214;p22"/>
          <p:cNvSpPr txBox="1"/>
          <p:nvPr/>
        </p:nvSpPr>
        <p:spPr>
          <a:xfrm>
            <a:off x="750000" y="4170000"/>
            <a:ext cx="75999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rgbClr val="0D4245"/>
                </a:solidFill>
              </a:rPr>
              <a:t>GUI 입력  →  PC1 서버 API  →  PostgreSQL DB  →  저장 상태·목록 반영</a:t>
            </a:r>
            <a:endParaRPr b="1">
              <a:solidFill>
                <a:srgbClr val="0D4245"/>
              </a:solidFill>
            </a:endParaRPr>
          </a:p>
        </p:txBody>
      </p:sp>
      <p:sp>
        <p:nvSpPr>
          <p:cNvPr id="215" name="Google Shape;215;p22"/>
          <p:cNvSpPr txBox="1"/>
          <p:nvPr/>
        </p:nvSpPr>
        <p:spPr>
          <a:xfrm>
            <a:off x="2472000" y="4570000"/>
            <a:ext cx="42000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4A5E63"/>
                </a:solidFill>
              </a:rPr>
              <a:t>주요 기능  |  인원 등록 · 정보 수정 · 등록 정보 삭제</a:t>
            </a:r>
            <a:endParaRPr sz="1000">
              <a:solidFill>
                <a:srgbClr val="4A5E63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3"/>
          <p:cNvSpPr txBox="1"/>
          <p:nvPr/>
        </p:nvSpPr>
        <p:spPr>
          <a:xfrm>
            <a:off x="457200" y="177800"/>
            <a:ext cx="4445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50">
                <a:solidFill>
                  <a:srgbClr val="1A73E8"/>
                </a:solidFill>
                <a:latin typeface="Noto Sans KR"/>
                <a:ea typeface="Noto Sans KR"/>
                <a:cs typeface="Noto Sans KR"/>
                <a:sym typeface="Noto Sans KR"/>
              </a:rPr>
              <a:t>02  주요 기능 -  </a:t>
            </a:r>
            <a:r>
              <a:rPr b="1" lang="ko" sz="950">
                <a:solidFill>
                  <a:srgbClr val="1A73E8"/>
                </a:solidFill>
                <a:latin typeface="Noto Sans KR"/>
                <a:ea typeface="Noto Sans KR"/>
                <a:cs typeface="Noto Sans KR"/>
                <a:sym typeface="Noto Sans KR"/>
              </a:rPr>
              <a:t>문출입 제어</a:t>
            </a:r>
            <a:endParaRPr b="1" sz="950">
              <a:solidFill>
                <a:srgbClr val="1A73E8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50">
              <a:solidFill>
                <a:srgbClr val="1A73E8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50">
              <a:solidFill>
                <a:srgbClr val="1A73E8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21" name="Google Shape;221;p23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rPr>
              <a:t>시연 영상</a:t>
            </a:r>
            <a:endParaRPr b="1" sz="2000">
              <a:solidFill>
                <a:srgbClr val="202124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202124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22" name="Google Shape;222;p23"/>
          <p:cNvSpPr txBox="1"/>
          <p:nvPr/>
        </p:nvSpPr>
        <p:spPr>
          <a:xfrm>
            <a:off x="457200" y="4800600"/>
            <a:ext cx="5079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9AA0A6"/>
                </a:solidFill>
                <a:latin typeface="Noto Sans KR"/>
                <a:ea typeface="Noto Sans KR"/>
                <a:cs typeface="Noto Sans KR"/>
                <a:sym typeface="Noto Sans KR"/>
              </a:rPr>
              <a:t>T-Safe System · 요양시설 사고 감지 및 대응 모니터링 시스템</a:t>
            </a:r>
            <a:endParaRPr sz="800">
              <a:solidFill>
                <a:srgbClr val="9AA0A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23" name="Google Shape;223;p23"/>
          <p:cNvSpPr txBox="1"/>
          <p:nvPr/>
        </p:nvSpPr>
        <p:spPr>
          <a:xfrm>
            <a:off x="7416800" y="4800600"/>
            <a:ext cx="1269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9AA0A6"/>
                </a:solidFill>
                <a:latin typeface="Noto Sans KR"/>
                <a:ea typeface="Noto Sans KR"/>
                <a:cs typeface="Noto Sans KR"/>
                <a:sym typeface="Noto Sans KR"/>
              </a:rPr>
              <a:t>11 </a:t>
            </a:r>
            <a:r>
              <a:rPr lang="ko" sz="800">
                <a:solidFill>
                  <a:srgbClr val="9AA0A6"/>
                </a:solidFill>
                <a:latin typeface="Noto Sans KR"/>
                <a:ea typeface="Noto Sans KR"/>
                <a:cs typeface="Noto Sans KR"/>
                <a:sym typeface="Noto Sans KR"/>
              </a:rPr>
              <a:t>/ </a:t>
            </a:r>
            <a:r>
              <a:rPr lang="ko" sz="800">
                <a:solidFill>
                  <a:srgbClr val="9AA0A6"/>
                </a:solidFill>
                <a:latin typeface="Noto Sans KR"/>
                <a:ea typeface="Noto Sans KR"/>
                <a:cs typeface="Noto Sans KR"/>
                <a:sym typeface="Noto Sans KR"/>
              </a:rPr>
              <a:t>27</a:t>
            </a:r>
            <a:endParaRPr sz="800">
              <a:solidFill>
                <a:srgbClr val="9AA0A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224" name="Google Shape;224;p23" title="얼굴인식 출입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18450" y="927167"/>
            <a:ext cx="6907099" cy="3885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4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rPr>
              <a:t>② 쓰러짐 감지 모니터링 GUI</a:t>
            </a:r>
            <a:endParaRPr b="1" sz="2000">
              <a:solidFill>
                <a:srgbClr val="202124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30" name="Google Shape;230;p24"/>
          <p:cNvSpPr txBox="1"/>
          <p:nvPr/>
        </p:nvSpPr>
        <p:spPr>
          <a:xfrm>
            <a:off x="457200" y="4800600"/>
            <a:ext cx="5079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9AA0A6"/>
                </a:solidFill>
                <a:latin typeface="Noto Sans KR"/>
                <a:ea typeface="Noto Sans KR"/>
                <a:cs typeface="Noto Sans KR"/>
                <a:sym typeface="Noto Sans KR"/>
              </a:rPr>
              <a:t>T-Safe System · 요양시설 사고 감지 및 대응 모니터링 시스템</a:t>
            </a:r>
            <a:endParaRPr sz="800">
              <a:solidFill>
                <a:srgbClr val="9AA0A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31" name="Google Shape;231;p24"/>
          <p:cNvSpPr txBox="1"/>
          <p:nvPr/>
        </p:nvSpPr>
        <p:spPr>
          <a:xfrm>
            <a:off x="7416800" y="4800600"/>
            <a:ext cx="1269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9AA0A6"/>
                </a:solidFill>
                <a:latin typeface="Noto Sans KR"/>
                <a:ea typeface="Noto Sans KR"/>
                <a:cs typeface="Noto Sans KR"/>
                <a:sym typeface="Noto Sans KR"/>
              </a:rPr>
              <a:t>12 / </a:t>
            </a:r>
            <a:r>
              <a:rPr lang="ko" sz="800">
                <a:solidFill>
                  <a:srgbClr val="9AA0A6"/>
                </a:solidFill>
                <a:latin typeface="Noto Sans KR"/>
                <a:ea typeface="Noto Sans KR"/>
                <a:cs typeface="Noto Sans KR"/>
                <a:sym typeface="Noto Sans KR"/>
              </a:rPr>
              <a:t>27</a:t>
            </a:r>
            <a:endParaRPr sz="800">
              <a:solidFill>
                <a:srgbClr val="9AA0A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32" name="Google Shape;232;p24"/>
          <p:cNvSpPr/>
          <p:nvPr/>
        </p:nvSpPr>
        <p:spPr>
          <a:xfrm>
            <a:off x="457200" y="1010000"/>
            <a:ext cx="1320900" cy="969900"/>
          </a:xfrm>
          <a:prstGeom prst="roundRect">
            <a:avLst>
              <a:gd fmla="val 16667" name="adj"/>
            </a:avLst>
          </a:prstGeom>
          <a:solidFill>
            <a:srgbClr val="FCE8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50">
                <a:solidFill>
                  <a:srgbClr val="21292E"/>
                </a:solidFill>
                <a:latin typeface="Noto Sans KR"/>
                <a:ea typeface="Noto Sans KR"/>
                <a:cs typeface="Noto Sans KR"/>
                <a:sym typeface="Noto Sans KR"/>
              </a:rPr>
              <a:t>실시간 CCTV</a:t>
            </a:r>
            <a:endParaRPr b="1" sz="1250">
              <a:solidFill>
                <a:srgbClr val="21292E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50">
                <a:solidFill>
                  <a:srgbClr val="21292E"/>
                </a:solidFill>
                <a:latin typeface="Noto Sans KR"/>
                <a:ea typeface="Noto Sans KR"/>
                <a:cs typeface="Noto Sans KR"/>
                <a:sym typeface="Noto Sans KR"/>
              </a:rPr>
              <a:t>모니터링</a:t>
            </a:r>
            <a:endParaRPr b="1" sz="1250">
              <a:solidFill>
                <a:srgbClr val="21292E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47595E"/>
                </a:solidFill>
                <a:latin typeface="Noto Sans KR"/>
                <a:ea typeface="Noto Sans KR"/>
                <a:cs typeface="Noto Sans KR"/>
                <a:sym typeface="Noto Sans KR"/>
              </a:rPr>
              <a:t>영상·분석 결과 확인</a:t>
            </a:r>
            <a:endParaRPr sz="900">
              <a:solidFill>
                <a:srgbClr val="47595E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233" name="Google Shape;233;p24"/>
          <p:cNvCxnSpPr/>
          <p:nvPr/>
        </p:nvCxnSpPr>
        <p:spPr>
          <a:xfrm>
            <a:off x="1117600" y="2070000"/>
            <a:ext cx="0" cy="147300"/>
          </a:xfrm>
          <a:prstGeom prst="straightConnector1">
            <a:avLst/>
          </a:prstGeom>
          <a:noFill/>
          <a:ln cap="flat" cmpd="sng" w="19050">
            <a:solidFill>
              <a:srgbClr val="C5221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4" name="Google Shape;234;p24"/>
          <p:cNvSpPr/>
          <p:nvPr/>
        </p:nvSpPr>
        <p:spPr>
          <a:xfrm>
            <a:off x="457200" y="2280000"/>
            <a:ext cx="1320900" cy="969900"/>
          </a:xfrm>
          <a:prstGeom prst="roundRect">
            <a:avLst>
              <a:gd fmla="val 16667" name="adj"/>
            </a:avLst>
          </a:prstGeom>
          <a:solidFill>
            <a:srgbClr val="FCE8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50">
                <a:solidFill>
                  <a:srgbClr val="21292E"/>
                </a:solidFill>
                <a:latin typeface="Noto Sans KR"/>
                <a:ea typeface="Noto Sans KR"/>
                <a:cs typeface="Noto Sans KR"/>
                <a:sym typeface="Noto Sans KR"/>
              </a:rPr>
              <a:t>쓰러짐 감지</a:t>
            </a:r>
            <a:endParaRPr b="1" sz="1250">
              <a:solidFill>
                <a:srgbClr val="21292E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50">
                <a:solidFill>
                  <a:srgbClr val="21292E"/>
                </a:solidFill>
                <a:latin typeface="Noto Sans KR"/>
                <a:ea typeface="Noto Sans KR"/>
                <a:cs typeface="Noto Sans KR"/>
                <a:sym typeface="Noto Sans KR"/>
              </a:rPr>
              <a:t>및 사고 알림</a:t>
            </a:r>
            <a:endParaRPr b="1" sz="1250">
              <a:solidFill>
                <a:srgbClr val="21292E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47595E"/>
                </a:solidFill>
                <a:latin typeface="Noto Sans KR"/>
                <a:ea typeface="Noto Sans KR"/>
                <a:cs typeface="Noto Sans KR"/>
                <a:sym typeface="Noto Sans KR"/>
              </a:rPr>
              <a:t>GUI에 FALL 경고 표시</a:t>
            </a:r>
            <a:endParaRPr sz="900">
              <a:solidFill>
                <a:srgbClr val="47595E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235" name="Google Shape;235;p24"/>
          <p:cNvCxnSpPr/>
          <p:nvPr/>
        </p:nvCxnSpPr>
        <p:spPr>
          <a:xfrm>
            <a:off x="1117600" y="3340000"/>
            <a:ext cx="0" cy="147300"/>
          </a:xfrm>
          <a:prstGeom prst="straightConnector1">
            <a:avLst/>
          </a:prstGeom>
          <a:noFill/>
          <a:ln cap="flat" cmpd="sng" w="19050">
            <a:solidFill>
              <a:srgbClr val="C5221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6" name="Google Shape;236;p24"/>
          <p:cNvSpPr/>
          <p:nvPr/>
        </p:nvSpPr>
        <p:spPr>
          <a:xfrm>
            <a:off x="457200" y="3550000"/>
            <a:ext cx="1320900" cy="969900"/>
          </a:xfrm>
          <a:prstGeom prst="roundRect">
            <a:avLst>
              <a:gd fmla="val 16667" name="adj"/>
            </a:avLst>
          </a:prstGeom>
          <a:solidFill>
            <a:srgbClr val="FCE8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50">
                <a:solidFill>
                  <a:srgbClr val="21292E"/>
                </a:solidFill>
                <a:latin typeface="Noto Sans KR"/>
                <a:ea typeface="Noto Sans KR"/>
                <a:cs typeface="Noto Sans KR"/>
                <a:sym typeface="Noto Sans KR"/>
              </a:rPr>
              <a:t>관리자 확인</a:t>
            </a:r>
            <a:endParaRPr b="1" sz="1250">
              <a:solidFill>
                <a:srgbClr val="21292E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50">
                <a:solidFill>
                  <a:srgbClr val="21292E"/>
                </a:solidFill>
                <a:latin typeface="Noto Sans KR"/>
                <a:ea typeface="Noto Sans KR"/>
                <a:cs typeface="Noto Sans KR"/>
                <a:sym typeface="Noto Sans KR"/>
              </a:rPr>
              <a:t>및 대응</a:t>
            </a:r>
            <a:endParaRPr b="1" sz="1250">
              <a:solidFill>
                <a:srgbClr val="21292E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47595E"/>
                </a:solidFill>
                <a:latin typeface="Noto Sans KR"/>
                <a:ea typeface="Noto Sans KR"/>
                <a:cs typeface="Noto Sans KR"/>
                <a:sym typeface="Noto Sans KR"/>
              </a:rPr>
              <a:t>현장 대응 후 상황 종료</a:t>
            </a:r>
            <a:endParaRPr sz="900">
              <a:solidFill>
                <a:srgbClr val="47595E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37" name="Google Shape;237;p24"/>
          <p:cNvSpPr/>
          <p:nvPr/>
        </p:nvSpPr>
        <p:spPr>
          <a:xfrm>
            <a:off x="2037588" y="990600"/>
            <a:ext cx="6649200" cy="3784500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5794" y="1041400"/>
            <a:ext cx="5892800" cy="368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36774" y="2011073"/>
            <a:ext cx="3793488" cy="2134971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4"/>
          <p:cNvSpPr/>
          <p:nvPr/>
        </p:nvSpPr>
        <p:spPr>
          <a:xfrm>
            <a:off x="6651244" y="2008188"/>
            <a:ext cx="1459500" cy="1026600"/>
          </a:xfrm>
          <a:prstGeom prst="rect">
            <a:avLst/>
          </a:prstGeom>
          <a:solidFill>
            <a:srgbClr val="FBFDFC"/>
          </a:solidFill>
          <a:ln cap="flat" cmpd="sng" w="11425">
            <a:solidFill>
              <a:srgbClr val="9DB5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4"/>
          <p:cNvSpPr/>
          <p:nvPr/>
        </p:nvSpPr>
        <p:spPr>
          <a:xfrm>
            <a:off x="6655848" y="2012791"/>
            <a:ext cx="1450200" cy="138000"/>
          </a:xfrm>
          <a:prstGeom prst="rect">
            <a:avLst/>
          </a:prstGeom>
          <a:solidFill>
            <a:srgbClr val="E4F1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4"/>
          <p:cNvSpPr txBox="1"/>
          <p:nvPr/>
        </p:nvSpPr>
        <p:spPr>
          <a:xfrm>
            <a:off x="6715696" y="2026603"/>
            <a:ext cx="897600" cy="1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20">
                <a:solidFill>
                  <a:srgbClr val="18584D"/>
                </a:solidFill>
              </a:rPr>
              <a:t>1F  시설 안내도</a:t>
            </a:r>
            <a:endParaRPr b="1" sz="820">
              <a:solidFill>
                <a:srgbClr val="18584D"/>
              </a:solidFill>
            </a:endParaRPr>
          </a:p>
        </p:txBody>
      </p:sp>
      <p:sp>
        <p:nvSpPr>
          <p:cNvPr id="243" name="Google Shape;243;p24"/>
          <p:cNvSpPr txBox="1"/>
          <p:nvPr/>
        </p:nvSpPr>
        <p:spPr>
          <a:xfrm>
            <a:off x="7774559" y="2031206"/>
            <a:ext cx="290100" cy="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540">
                <a:solidFill>
                  <a:srgbClr val="70857D"/>
                </a:solidFill>
              </a:rPr>
              <a:t>배치 예시</a:t>
            </a:r>
            <a:endParaRPr sz="540">
              <a:solidFill>
                <a:srgbClr val="70857D"/>
              </a:solidFill>
            </a:endParaRPr>
          </a:p>
        </p:txBody>
      </p:sp>
      <p:sp>
        <p:nvSpPr>
          <p:cNvPr id="244" name="Google Shape;244;p24"/>
          <p:cNvSpPr/>
          <p:nvPr/>
        </p:nvSpPr>
        <p:spPr>
          <a:xfrm>
            <a:off x="6692678" y="2178526"/>
            <a:ext cx="1376400" cy="796500"/>
          </a:xfrm>
          <a:prstGeom prst="rect">
            <a:avLst/>
          </a:prstGeom>
          <a:solidFill>
            <a:srgbClr val="FEFEFE"/>
          </a:solidFill>
          <a:ln cap="flat" cmpd="sng" w="11425">
            <a:solidFill>
              <a:srgbClr val="6F93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4"/>
          <p:cNvSpPr/>
          <p:nvPr/>
        </p:nvSpPr>
        <p:spPr>
          <a:xfrm>
            <a:off x="6720300" y="2215356"/>
            <a:ext cx="243900" cy="243900"/>
          </a:xfrm>
          <a:prstGeom prst="rect">
            <a:avLst/>
          </a:prstGeom>
          <a:solidFill>
            <a:srgbClr val="F0F5F3"/>
          </a:solidFill>
          <a:ln cap="flat" cmpd="sng" w="8250">
            <a:solidFill>
              <a:srgbClr val="7898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4"/>
          <p:cNvSpPr txBox="1"/>
          <p:nvPr/>
        </p:nvSpPr>
        <p:spPr>
          <a:xfrm>
            <a:off x="6729508" y="2289016"/>
            <a:ext cx="225600" cy="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660">
                <a:solidFill>
                  <a:srgbClr val="425D55"/>
                </a:solidFill>
              </a:rPr>
              <a:t>101호</a:t>
            </a:r>
            <a:endParaRPr b="1" sz="660">
              <a:solidFill>
                <a:srgbClr val="425D55"/>
              </a:solidFill>
            </a:endParaRPr>
          </a:p>
        </p:txBody>
      </p:sp>
      <p:sp>
        <p:nvSpPr>
          <p:cNvPr id="247" name="Google Shape;247;p24"/>
          <p:cNvSpPr/>
          <p:nvPr/>
        </p:nvSpPr>
        <p:spPr>
          <a:xfrm>
            <a:off x="6973506" y="2215356"/>
            <a:ext cx="243900" cy="243900"/>
          </a:xfrm>
          <a:prstGeom prst="rect">
            <a:avLst/>
          </a:prstGeom>
          <a:solidFill>
            <a:srgbClr val="F0F5F3"/>
          </a:solidFill>
          <a:ln cap="flat" cmpd="sng" w="8250">
            <a:solidFill>
              <a:srgbClr val="7898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4"/>
          <p:cNvSpPr txBox="1"/>
          <p:nvPr/>
        </p:nvSpPr>
        <p:spPr>
          <a:xfrm>
            <a:off x="6982714" y="2289016"/>
            <a:ext cx="225600" cy="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660">
                <a:solidFill>
                  <a:srgbClr val="425D55"/>
                </a:solidFill>
              </a:rPr>
              <a:t>102호</a:t>
            </a:r>
            <a:endParaRPr b="1" sz="660">
              <a:solidFill>
                <a:srgbClr val="425D55"/>
              </a:solidFill>
            </a:endParaRPr>
          </a:p>
        </p:txBody>
      </p:sp>
      <p:sp>
        <p:nvSpPr>
          <p:cNvPr id="249" name="Google Shape;249;p24"/>
          <p:cNvSpPr/>
          <p:nvPr/>
        </p:nvSpPr>
        <p:spPr>
          <a:xfrm>
            <a:off x="7226713" y="2215356"/>
            <a:ext cx="243900" cy="243900"/>
          </a:xfrm>
          <a:prstGeom prst="rect">
            <a:avLst/>
          </a:prstGeom>
          <a:solidFill>
            <a:srgbClr val="F0F5F3"/>
          </a:solidFill>
          <a:ln cap="flat" cmpd="sng" w="8250">
            <a:solidFill>
              <a:srgbClr val="7898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4"/>
          <p:cNvSpPr txBox="1"/>
          <p:nvPr/>
        </p:nvSpPr>
        <p:spPr>
          <a:xfrm>
            <a:off x="7235920" y="2289016"/>
            <a:ext cx="225600" cy="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660">
                <a:solidFill>
                  <a:srgbClr val="425D55"/>
                </a:solidFill>
              </a:rPr>
              <a:t>103호</a:t>
            </a:r>
            <a:endParaRPr b="1" sz="660">
              <a:solidFill>
                <a:srgbClr val="425D55"/>
              </a:solidFill>
            </a:endParaRPr>
          </a:p>
        </p:txBody>
      </p:sp>
      <p:sp>
        <p:nvSpPr>
          <p:cNvPr id="251" name="Google Shape;251;p24"/>
          <p:cNvSpPr/>
          <p:nvPr/>
        </p:nvSpPr>
        <p:spPr>
          <a:xfrm>
            <a:off x="7479919" y="2215356"/>
            <a:ext cx="280800" cy="243900"/>
          </a:xfrm>
          <a:prstGeom prst="rect">
            <a:avLst/>
          </a:prstGeom>
          <a:solidFill>
            <a:srgbClr val="EAF3F0"/>
          </a:solidFill>
          <a:ln cap="flat" cmpd="sng" w="8250">
            <a:solidFill>
              <a:srgbClr val="7898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4"/>
          <p:cNvSpPr txBox="1"/>
          <p:nvPr/>
        </p:nvSpPr>
        <p:spPr>
          <a:xfrm>
            <a:off x="7489126" y="2289016"/>
            <a:ext cx="262500" cy="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660">
                <a:solidFill>
                  <a:srgbClr val="425D55"/>
                </a:solidFill>
              </a:rPr>
              <a:t>간호실</a:t>
            </a:r>
            <a:endParaRPr b="1" sz="660">
              <a:solidFill>
                <a:srgbClr val="425D55"/>
              </a:solidFill>
            </a:endParaRPr>
          </a:p>
        </p:txBody>
      </p:sp>
      <p:sp>
        <p:nvSpPr>
          <p:cNvPr id="253" name="Google Shape;253;p24"/>
          <p:cNvSpPr/>
          <p:nvPr/>
        </p:nvSpPr>
        <p:spPr>
          <a:xfrm>
            <a:off x="7769955" y="2215356"/>
            <a:ext cx="271500" cy="243900"/>
          </a:xfrm>
          <a:prstGeom prst="rect">
            <a:avLst/>
          </a:prstGeom>
          <a:solidFill>
            <a:srgbClr val="EAF3F0"/>
          </a:solidFill>
          <a:ln cap="flat" cmpd="sng" w="8250">
            <a:solidFill>
              <a:srgbClr val="7898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4"/>
          <p:cNvSpPr txBox="1"/>
          <p:nvPr/>
        </p:nvSpPr>
        <p:spPr>
          <a:xfrm>
            <a:off x="7779163" y="2289016"/>
            <a:ext cx="253200" cy="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660">
                <a:solidFill>
                  <a:srgbClr val="425D55"/>
                </a:solidFill>
              </a:rPr>
              <a:t>휴게실</a:t>
            </a:r>
            <a:endParaRPr b="1" sz="660">
              <a:solidFill>
                <a:srgbClr val="425D55"/>
              </a:solidFill>
            </a:endParaRPr>
          </a:p>
        </p:txBody>
      </p:sp>
      <p:sp>
        <p:nvSpPr>
          <p:cNvPr id="255" name="Google Shape;255;p24"/>
          <p:cNvSpPr/>
          <p:nvPr/>
        </p:nvSpPr>
        <p:spPr>
          <a:xfrm>
            <a:off x="6720300" y="2638901"/>
            <a:ext cx="639900" cy="303900"/>
          </a:xfrm>
          <a:prstGeom prst="rect">
            <a:avLst/>
          </a:prstGeom>
          <a:solidFill>
            <a:srgbClr val="FBE3E1"/>
          </a:solidFill>
          <a:ln cap="flat" cmpd="sng" w="19050">
            <a:solidFill>
              <a:srgbClr val="DD40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4"/>
          <p:cNvSpPr txBox="1"/>
          <p:nvPr/>
        </p:nvSpPr>
        <p:spPr>
          <a:xfrm>
            <a:off x="6729508" y="2680335"/>
            <a:ext cx="621600" cy="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780">
                <a:solidFill>
                  <a:srgbClr val="C92E2B"/>
                </a:solidFill>
              </a:rPr>
              <a:t>공용생활실</a:t>
            </a:r>
            <a:endParaRPr b="1" sz="780">
              <a:solidFill>
                <a:srgbClr val="C92E2B"/>
              </a:solidFill>
            </a:endParaRPr>
          </a:p>
        </p:txBody>
      </p:sp>
      <p:sp>
        <p:nvSpPr>
          <p:cNvPr id="257" name="Google Shape;257;p24"/>
          <p:cNvSpPr/>
          <p:nvPr/>
        </p:nvSpPr>
        <p:spPr>
          <a:xfrm>
            <a:off x="7369429" y="2638901"/>
            <a:ext cx="377400" cy="303900"/>
          </a:xfrm>
          <a:prstGeom prst="rect">
            <a:avLst/>
          </a:prstGeom>
          <a:solidFill>
            <a:srgbClr val="F3F5F2"/>
          </a:solidFill>
          <a:ln cap="flat" cmpd="sng" w="8250">
            <a:solidFill>
              <a:srgbClr val="7898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4"/>
          <p:cNvSpPr txBox="1"/>
          <p:nvPr/>
        </p:nvSpPr>
        <p:spPr>
          <a:xfrm>
            <a:off x="7378636" y="2712561"/>
            <a:ext cx="359100" cy="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660">
                <a:solidFill>
                  <a:srgbClr val="425D55"/>
                </a:solidFill>
              </a:rPr>
              <a:t>식당</a:t>
            </a:r>
            <a:endParaRPr b="1" sz="660">
              <a:solidFill>
                <a:srgbClr val="425D55"/>
              </a:solidFill>
            </a:endParaRPr>
          </a:p>
        </p:txBody>
      </p:sp>
      <p:sp>
        <p:nvSpPr>
          <p:cNvPr id="259" name="Google Shape;259;p24"/>
          <p:cNvSpPr/>
          <p:nvPr/>
        </p:nvSpPr>
        <p:spPr>
          <a:xfrm>
            <a:off x="7756144" y="2638901"/>
            <a:ext cx="285300" cy="303900"/>
          </a:xfrm>
          <a:prstGeom prst="rect">
            <a:avLst/>
          </a:prstGeom>
          <a:solidFill>
            <a:srgbClr val="EFF4F1"/>
          </a:solidFill>
          <a:ln cap="flat" cmpd="sng" w="8250">
            <a:solidFill>
              <a:srgbClr val="7898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4"/>
          <p:cNvSpPr txBox="1"/>
          <p:nvPr/>
        </p:nvSpPr>
        <p:spPr>
          <a:xfrm>
            <a:off x="7765351" y="2712561"/>
            <a:ext cx="267000" cy="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660">
                <a:solidFill>
                  <a:srgbClr val="425D55"/>
                </a:solidFill>
              </a:rPr>
              <a:t>출입구</a:t>
            </a:r>
            <a:endParaRPr b="1" sz="660">
              <a:solidFill>
                <a:srgbClr val="425D55"/>
              </a:solidFill>
            </a:endParaRPr>
          </a:p>
        </p:txBody>
      </p:sp>
      <p:sp>
        <p:nvSpPr>
          <p:cNvPr id="261" name="Google Shape;261;p24"/>
          <p:cNvSpPr/>
          <p:nvPr/>
        </p:nvSpPr>
        <p:spPr>
          <a:xfrm>
            <a:off x="6720300" y="2477770"/>
            <a:ext cx="1321200" cy="138000"/>
          </a:xfrm>
          <a:prstGeom prst="rect">
            <a:avLst/>
          </a:prstGeom>
          <a:solidFill>
            <a:srgbClr val="E5EC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4"/>
          <p:cNvSpPr txBox="1"/>
          <p:nvPr/>
        </p:nvSpPr>
        <p:spPr>
          <a:xfrm>
            <a:off x="7143845" y="2482374"/>
            <a:ext cx="437400" cy="11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730">
                <a:solidFill>
                  <a:srgbClr val="657D73"/>
                </a:solidFill>
              </a:rPr>
              <a:t>복도</a:t>
            </a:r>
            <a:endParaRPr b="1" sz="730">
              <a:solidFill>
                <a:srgbClr val="657D73"/>
              </a:solidFill>
            </a:endParaRPr>
          </a:p>
        </p:txBody>
      </p:sp>
      <p:sp>
        <p:nvSpPr>
          <p:cNvPr id="263" name="Google Shape;263;p24"/>
          <p:cNvSpPr/>
          <p:nvPr/>
        </p:nvSpPr>
        <p:spPr>
          <a:xfrm>
            <a:off x="6964299" y="2763203"/>
            <a:ext cx="133500" cy="133500"/>
          </a:xfrm>
          <a:prstGeom prst="ellipse">
            <a:avLst/>
          </a:prstGeom>
          <a:solidFill>
            <a:srgbClr val="FAD1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24"/>
          <p:cNvSpPr/>
          <p:nvPr/>
        </p:nvSpPr>
        <p:spPr>
          <a:xfrm>
            <a:off x="7005733" y="2800033"/>
            <a:ext cx="55200" cy="55200"/>
          </a:xfrm>
          <a:prstGeom prst="ellipse">
            <a:avLst/>
          </a:prstGeom>
          <a:solidFill>
            <a:srgbClr val="DC37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4"/>
          <p:cNvSpPr txBox="1"/>
          <p:nvPr/>
        </p:nvSpPr>
        <p:spPr>
          <a:xfrm>
            <a:off x="457200" y="177800"/>
            <a:ext cx="4445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50">
                <a:solidFill>
                  <a:srgbClr val="1A73E8"/>
                </a:solidFill>
                <a:latin typeface="Noto Sans KR"/>
                <a:ea typeface="Noto Sans KR"/>
                <a:cs typeface="Noto Sans KR"/>
                <a:sym typeface="Noto Sans KR"/>
              </a:rPr>
              <a:t>02  주요 기능 -  CCTV 모니터링 및 쓰러짐 감지</a:t>
            </a:r>
            <a:endParaRPr b="1" sz="950">
              <a:solidFill>
                <a:srgbClr val="1A73E8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50">
              <a:solidFill>
                <a:srgbClr val="1A73E8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50">
              <a:solidFill>
                <a:srgbClr val="1A73E8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5"/>
          <p:cNvSpPr txBox="1"/>
          <p:nvPr/>
        </p:nvSpPr>
        <p:spPr>
          <a:xfrm>
            <a:off x="457200" y="177800"/>
            <a:ext cx="4445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50">
                <a:solidFill>
                  <a:srgbClr val="1A73E8"/>
                </a:solidFill>
                <a:latin typeface="Noto Sans KR"/>
                <a:ea typeface="Noto Sans KR"/>
                <a:cs typeface="Noto Sans KR"/>
                <a:sym typeface="Noto Sans KR"/>
              </a:rPr>
              <a:t>02  주요 기능 -  </a:t>
            </a:r>
            <a:r>
              <a:rPr b="1" lang="ko" sz="950">
                <a:solidFill>
                  <a:srgbClr val="1A73E8"/>
                </a:solidFill>
                <a:latin typeface="Noto Sans KR"/>
                <a:ea typeface="Noto Sans KR"/>
                <a:cs typeface="Noto Sans KR"/>
                <a:sym typeface="Noto Sans KR"/>
              </a:rPr>
              <a:t>CCTV 모니터링 및 쓰러짐 감지</a:t>
            </a:r>
            <a:endParaRPr b="1" sz="950">
              <a:solidFill>
                <a:srgbClr val="1A73E8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50">
              <a:solidFill>
                <a:srgbClr val="1A73E8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50">
              <a:solidFill>
                <a:srgbClr val="1A73E8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71" name="Google Shape;271;p25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rPr>
              <a:t>시연 영상</a:t>
            </a:r>
            <a:endParaRPr b="1" sz="2000">
              <a:solidFill>
                <a:srgbClr val="202124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202124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72" name="Google Shape;272;p25"/>
          <p:cNvSpPr txBox="1"/>
          <p:nvPr/>
        </p:nvSpPr>
        <p:spPr>
          <a:xfrm>
            <a:off x="457200" y="4800600"/>
            <a:ext cx="5079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9AA0A6"/>
                </a:solidFill>
                <a:latin typeface="Noto Sans KR"/>
                <a:ea typeface="Noto Sans KR"/>
                <a:cs typeface="Noto Sans KR"/>
                <a:sym typeface="Noto Sans KR"/>
              </a:rPr>
              <a:t>T-Safe System · 요양시설 사고 감지 및 대응 모니터링 시스템</a:t>
            </a:r>
            <a:endParaRPr sz="800">
              <a:solidFill>
                <a:srgbClr val="9AA0A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73" name="Google Shape;273;p25"/>
          <p:cNvSpPr txBox="1"/>
          <p:nvPr/>
        </p:nvSpPr>
        <p:spPr>
          <a:xfrm>
            <a:off x="7416800" y="4800600"/>
            <a:ext cx="1269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9AA0A6"/>
                </a:solidFill>
                <a:latin typeface="Noto Sans KR"/>
                <a:ea typeface="Noto Sans KR"/>
                <a:cs typeface="Noto Sans KR"/>
                <a:sym typeface="Noto Sans KR"/>
              </a:rPr>
              <a:t>13 / </a:t>
            </a:r>
            <a:r>
              <a:rPr lang="ko" sz="800">
                <a:solidFill>
                  <a:srgbClr val="9AA0A6"/>
                </a:solidFill>
                <a:latin typeface="Noto Sans KR"/>
                <a:ea typeface="Noto Sans KR"/>
                <a:cs typeface="Noto Sans KR"/>
                <a:sym typeface="Noto Sans KR"/>
              </a:rPr>
              <a:t>27</a:t>
            </a:r>
            <a:endParaRPr sz="800">
              <a:solidFill>
                <a:srgbClr val="9AA0A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74" name="Google Shape;274;p25"/>
          <p:cNvSpPr txBox="1"/>
          <p:nvPr/>
        </p:nvSpPr>
        <p:spPr>
          <a:xfrm>
            <a:off x="6121400" y="1117600"/>
            <a:ext cx="25653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174EA6"/>
                </a:solidFill>
                <a:latin typeface="Noto Sans KR"/>
                <a:ea typeface="Noto Sans KR"/>
                <a:cs typeface="Noto Sans KR"/>
                <a:sym typeface="Noto Sans KR"/>
              </a:rPr>
              <a:t>영상에서 볼 장면</a:t>
            </a:r>
            <a:endParaRPr b="1" sz="1200">
              <a:solidFill>
                <a:srgbClr val="174EA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75" name="Google Shape;275;p25"/>
          <p:cNvSpPr txBox="1"/>
          <p:nvPr/>
        </p:nvSpPr>
        <p:spPr>
          <a:xfrm>
            <a:off x="6121400" y="1587500"/>
            <a:ext cx="2565300" cy="25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595959"/>
                </a:solidFill>
              </a:rPr>
              <a:t>일</a:t>
            </a:r>
            <a:r>
              <a:rPr lang="ko" sz="1800">
                <a:solidFill>
                  <a:srgbClr val="595959"/>
                </a:solidFill>
              </a:rPr>
              <a:t>영상 분석 → 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595959"/>
                </a:solidFill>
              </a:rPr>
              <a:t>사고 알림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595959"/>
                </a:solidFill>
              </a:rPr>
              <a:t>관리자 확인 → 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595959"/>
                </a:solidFill>
              </a:rPr>
              <a:t>상황 종료</a:t>
            </a:r>
            <a:endParaRPr sz="1800">
              <a:solidFill>
                <a:srgbClr val="595959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pic>
        <p:nvPicPr>
          <p:cNvPr id="276" name="Google Shape;276;p25" title="T-SAFE_presentation_highlights_v6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6050" y="978825"/>
            <a:ext cx="7638427" cy="375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4EA6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6"/>
          <p:cNvSpPr txBox="1"/>
          <p:nvPr/>
        </p:nvSpPr>
        <p:spPr>
          <a:xfrm>
            <a:off x="609600" y="939800"/>
            <a:ext cx="25401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5600">
                <a:solidFill>
                  <a:srgbClr val="8AB4F8"/>
                </a:solidFill>
                <a:latin typeface="Noto Sans KR"/>
                <a:ea typeface="Noto Sans KR"/>
                <a:cs typeface="Noto Sans KR"/>
                <a:sym typeface="Noto Sans KR"/>
              </a:rPr>
              <a:t>03</a:t>
            </a:r>
            <a:endParaRPr b="1" sz="5600">
              <a:solidFill>
                <a:srgbClr val="8AB4F8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82" name="Google Shape;282;p26"/>
          <p:cNvSpPr txBox="1"/>
          <p:nvPr/>
        </p:nvSpPr>
        <p:spPr>
          <a:xfrm>
            <a:off x="609600" y="2184400"/>
            <a:ext cx="79248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0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기술 상세</a:t>
            </a:r>
            <a:endParaRPr b="1" sz="300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83" name="Google Shape;283;p26"/>
          <p:cNvSpPr txBox="1"/>
          <p:nvPr/>
        </p:nvSpPr>
        <p:spPr>
          <a:xfrm>
            <a:off x="609600" y="3759200"/>
            <a:ext cx="79248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D2E3FC"/>
                </a:solidFill>
                <a:latin typeface="Noto Sans KR"/>
                <a:ea typeface="Noto Sans KR"/>
                <a:cs typeface="Noto Sans KR"/>
                <a:sym typeface="Noto Sans KR"/>
              </a:rPr>
              <a:t>시스템 설계</a:t>
            </a:r>
            <a:r>
              <a:rPr lang="ko" sz="1200">
                <a:solidFill>
                  <a:srgbClr val="D2E3FC"/>
                </a:solidFill>
                <a:latin typeface="Noto Sans KR"/>
                <a:ea typeface="Noto Sans KR"/>
                <a:cs typeface="Noto Sans KR"/>
                <a:sym typeface="Noto Sans KR"/>
              </a:rPr>
              <a:t>   ·   </a:t>
            </a:r>
            <a:r>
              <a:rPr lang="ko" sz="1200">
                <a:solidFill>
                  <a:srgbClr val="D2E3FC"/>
                </a:solidFill>
                <a:latin typeface="Noto Sans KR"/>
                <a:ea typeface="Noto Sans KR"/>
                <a:cs typeface="Noto Sans KR"/>
                <a:sym typeface="Noto Sans KR"/>
              </a:rPr>
              <a:t>쓰러짐 감지 모니터링</a:t>
            </a:r>
            <a:r>
              <a:rPr lang="ko" sz="1200">
                <a:solidFill>
                  <a:srgbClr val="D2E3FC"/>
                </a:solidFill>
                <a:latin typeface="Noto Sans KR"/>
                <a:ea typeface="Noto Sans KR"/>
                <a:cs typeface="Noto Sans KR"/>
                <a:sym typeface="Noto Sans KR"/>
              </a:rPr>
              <a:t>   ·   </a:t>
            </a:r>
            <a:r>
              <a:rPr lang="ko" sz="1200">
                <a:solidFill>
                  <a:srgbClr val="D2E3FC"/>
                </a:solidFill>
                <a:latin typeface="Noto Sans KR"/>
                <a:ea typeface="Noto Sans KR"/>
                <a:cs typeface="Noto Sans KR"/>
                <a:sym typeface="Noto Sans KR"/>
              </a:rPr>
              <a:t>출입 관리</a:t>
            </a:r>
            <a:endParaRPr sz="1200">
              <a:solidFill>
                <a:srgbClr val="D2E3FC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D2E3FC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84" name="Google Shape;284;p26"/>
          <p:cNvSpPr txBox="1"/>
          <p:nvPr/>
        </p:nvSpPr>
        <p:spPr>
          <a:xfrm>
            <a:off x="7416800" y="4800600"/>
            <a:ext cx="1269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D2E3FC"/>
                </a:solidFill>
                <a:latin typeface="Noto Sans KR"/>
                <a:ea typeface="Noto Sans KR"/>
                <a:cs typeface="Noto Sans KR"/>
                <a:sym typeface="Noto Sans KR"/>
              </a:rPr>
              <a:t>14 / </a:t>
            </a:r>
            <a:r>
              <a:rPr lang="ko" sz="800">
                <a:solidFill>
                  <a:srgbClr val="9AA0A6"/>
                </a:solidFill>
                <a:latin typeface="Noto Sans KR"/>
                <a:ea typeface="Noto Sans KR"/>
                <a:cs typeface="Noto Sans KR"/>
                <a:sym typeface="Noto Sans KR"/>
              </a:rPr>
              <a:t>27</a:t>
            </a:r>
            <a:endParaRPr sz="800">
              <a:solidFill>
                <a:srgbClr val="D2E3FC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7"/>
          <p:cNvSpPr txBox="1"/>
          <p:nvPr/>
        </p:nvSpPr>
        <p:spPr>
          <a:xfrm>
            <a:off x="457200" y="177800"/>
            <a:ext cx="4445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50">
                <a:solidFill>
                  <a:srgbClr val="1A73E8"/>
                </a:solidFill>
                <a:latin typeface="Noto Sans KR"/>
                <a:ea typeface="Noto Sans KR"/>
                <a:cs typeface="Noto Sans KR"/>
                <a:sym typeface="Noto Sans KR"/>
              </a:rPr>
              <a:t>03  </a:t>
            </a:r>
            <a:r>
              <a:rPr b="1" lang="ko" sz="950">
                <a:solidFill>
                  <a:srgbClr val="1A73E8"/>
                </a:solidFill>
                <a:latin typeface="Noto Sans KR"/>
                <a:ea typeface="Noto Sans KR"/>
                <a:cs typeface="Noto Sans KR"/>
                <a:sym typeface="Noto Sans KR"/>
              </a:rPr>
              <a:t>기술 상세</a:t>
            </a:r>
            <a:endParaRPr b="1" sz="950">
              <a:solidFill>
                <a:srgbClr val="1A73E8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90" name="Google Shape;290;p27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rPr>
              <a:t>기술 분류</a:t>
            </a:r>
            <a:endParaRPr b="1" sz="2000">
              <a:solidFill>
                <a:srgbClr val="202124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91" name="Google Shape;291;p27"/>
          <p:cNvSpPr txBox="1"/>
          <p:nvPr/>
        </p:nvSpPr>
        <p:spPr>
          <a:xfrm>
            <a:off x="457200" y="4800600"/>
            <a:ext cx="5079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9AA0A6"/>
                </a:solidFill>
                <a:latin typeface="Noto Sans KR"/>
                <a:ea typeface="Noto Sans KR"/>
                <a:cs typeface="Noto Sans KR"/>
                <a:sym typeface="Noto Sans KR"/>
              </a:rPr>
              <a:t>T-Safe System · 요양시설 사고 감지 및 대응 모니터링 시스템</a:t>
            </a:r>
            <a:endParaRPr sz="800">
              <a:solidFill>
                <a:srgbClr val="9AA0A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92" name="Google Shape;292;p27"/>
          <p:cNvSpPr txBox="1"/>
          <p:nvPr/>
        </p:nvSpPr>
        <p:spPr>
          <a:xfrm>
            <a:off x="442990" y="1117600"/>
            <a:ext cx="25806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2200">
                <a:solidFill>
                  <a:srgbClr val="B6D7A8"/>
                </a:solidFill>
                <a:latin typeface="Noto Sans KR"/>
                <a:ea typeface="Noto Sans KR"/>
                <a:cs typeface="Noto Sans KR"/>
                <a:sym typeface="Noto Sans KR"/>
              </a:rPr>
              <a:t>01</a:t>
            </a:r>
            <a:endParaRPr b="1" sz="2200">
              <a:solidFill>
                <a:srgbClr val="6FA8DC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pSp>
        <p:nvGrpSpPr>
          <p:cNvPr id="293" name="Google Shape;293;p27"/>
          <p:cNvGrpSpPr/>
          <p:nvPr/>
        </p:nvGrpSpPr>
        <p:grpSpPr>
          <a:xfrm>
            <a:off x="3281710" y="1117600"/>
            <a:ext cx="2580600" cy="3403600"/>
            <a:chOff x="3235960" y="1117600"/>
            <a:chExt cx="2580600" cy="3403600"/>
          </a:xfrm>
        </p:grpSpPr>
        <p:sp>
          <p:nvSpPr>
            <p:cNvPr id="294" name="Google Shape;294;p27"/>
            <p:cNvSpPr txBox="1"/>
            <p:nvPr/>
          </p:nvSpPr>
          <p:spPr>
            <a:xfrm>
              <a:off x="3235960" y="1117600"/>
              <a:ext cx="2580600" cy="43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2200">
                  <a:solidFill>
                    <a:srgbClr val="EA9999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02</a:t>
              </a:r>
              <a:endParaRPr b="1" sz="2200">
                <a:solidFill>
                  <a:srgbClr val="EA9999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grpSp>
          <p:nvGrpSpPr>
            <p:cNvPr id="295" name="Google Shape;295;p27"/>
            <p:cNvGrpSpPr/>
            <p:nvPr/>
          </p:nvGrpSpPr>
          <p:grpSpPr>
            <a:xfrm>
              <a:off x="3235960" y="1498600"/>
              <a:ext cx="2580600" cy="3022600"/>
              <a:chOff x="3235960" y="1498600"/>
              <a:chExt cx="2580600" cy="3022600"/>
            </a:xfrm>
          </p:grpSpPr>
          <p:sp>
            <p:nvSpPr>
              <p:cNvPr id="296" name="Google Shape;296;p27"/>
              <p:cNvSpPr txBox="1"/>
              <p:nvPr/>
            </p:nvSpPr>
            <p:spPr>
              <a:xfrm>
                <a:off x="3235960" y="1498600"/>
                <a:ext cx="2580600" cy="35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" sz="1700">
                    <a:solidFill>
                      <a:srgbClr val="202124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쓰러짐</a:t>
                </a:r>
                <a:r>
                  <a:rPr b="1" lang="ko" sz="1700">
                    <a:solidFill>
                      <a:srgbClr val="202124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 감지 모니터링</a:t>
                </a:r>
                <a:endParaRPr b="1" sz="1700">
                  <a:solidFill>
                    <a:srgbClr val="202124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  <p:sp>
            <p:nvSpPr>
              <p:cNvPr id="297" name="Google Shape;297;p27"/>
              <p:cNvSpPr txBox="1"/>
              <p:nvPr/>
            </p:nvSpPr>
            <p:spPr>
              <a:xfrm>
                <a:off x="3235960" y="1905000"/>
                <a:ext cx="25806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sz="900">
                    <a:solidFill>
                      <a:srgbClr val="5F6368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쓰러짐 의심 상황을 감지하고</a:t>
                </a:r>
                <a:endParaRPr sz="900">
                  <a:solidFill>
                    <a:srgbClr val="5F6368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  <a:p>
                <a:pPr indent="0" lvl="0" marL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sz="900">
                    <a:solidFill>
                      <a:srgbClr val="5F6368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기록하여 관리자에게 알립니다</a:t>
                </a:r>
                <a:endParaRPr sz="900">
                  <a:solidFill>
                    <a:srgbClr val="5F6368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  <p:cxnSp>
            <p:nvCxnSpPr>
              <p:cNvPr id="298" name="Google Shape;298;p27"/>
              <p:cNvCxnSpPr/>
              <p:nvPr/>
            </p:nvCxnSpPr>
            <p:spPr>
              <a:xfrm>
                <a:off x="3327400" y="2362200"/>
                <a:ext cx="2489100" cy="0"/>
              </a:xfrm>
              <a:prstGeom prst="straightConnector1">
                <a:avLst/>
              </a:prstGeom>
              <a:noFill/>
              <a:ln cap="flat" cmpd="sng" w="15875">
                <a:solidFill>
                  <a:srgbClr val="20212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99" name="Google Shape;299;p27"/>
              <p:cNvSpPr txBox="1"/>
              <p:nvPr/>
            </p:nvSpPr>
            <p:spPr>
              <a:xfrm>
                <a:off x="3235960" y="2489200"/>
                <a:ext cx="2580600" cy="6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" sz="1100">
                    <a:solidFill>
                      <a:srgbClr val="202124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실시간 모니터링</a:t>
                </a:r>
                <a:endParaRPr b="1" sz="1100">
                  <a:solidFill>
                    <a:srgbClr val="202124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  <a:p>
                <a:pPr indent="0" lvl="0" marL="0" rtl="0"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" sz="1100">
                    <a:solidFill>
                      <a:srgbClr val="202124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JPEG·분석정보 → PC1 → GUI</a:t>
                </a:r>
                <a:endParaRPr sz="850">
                  <a:solidFill>
                    <a:srgbClr val="5F6368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  <p:cxnSp>
            <p:nvCxnSpPr>
              <p:cNvPr id="300" name="Google Shape;300;p27"/>
              <p:cNvCxnSpPr/>
              <p:nvPr/>
            </p:nvCxnSpPr>
            <p:spPr>
              <a:xfrm>
                <a:off x="3327400" y="3124200"/>
                <a:ext cx="24891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ADCE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01" name="Google Shape;301;p27"/>
              <p:cNvSpPr txBox="1"/>
              <p:nvPr/>
            </p:nvSpPr>
            <p:spPr>
              <a:xfrm>
                <a:off x="3235960" y="3200400"/>
                <a:ext cx="2580600" cy="6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" sz="1100">
                    <a:solidFill>
                      <a:srgbClr val="202124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쓰러짐 감지</a:t>
                </a:r>
                <a:endParaRPr b="1" sz="1100">
                  <a:solidFill>
                    <a:srgbClr val="202124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  <a:p>
                <a:pPr indent="0" lvl="0" marL="0" rtl="0"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" sz="1100">
                    <a:solidFill>
                      <a:srgbClr val="202124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YOLO Pose 17관절 → 행동 판정</a:t>
                </a:r>
                <a:endParaRPr sz="850">
                  <a:solidFill>
                    <a:srgbClr val="5F6368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  <p:cxnSp>
            <p:nvCxnSpPr>
              <p:cNvPr id="302" name="Google Shape;302;p27"/>
              <p:cNvCxnSpPr/>
              <p:nvPr/>
            </p:nvCxnSpPr>
            <p:spPr>
              <a:xfrm>
                <a:off x="3327400" y="3835400"/>
                <a:ext cx="24891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ADCE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03" name="Google Shape;303;p27"/>
              <p:cNvSpPr txBox="1"/>
              <p:nvPr/>
            </p:nvSpPr>
            <p:spPr>
              <a:xfrm>
                <a:off x="3235960" y="3911600"/>
                <a:ext cx="2580600" cy="6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" sz="1100">
                    <a:solidFill>
                      <a:srgbClr val="202124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알림 · 종료</a:t>
                </a:r>
                <a:endParaRPr b="1" sz="1100">
                  <a:solidFill>
                    <a:srgbClr val="202124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  <a:p>
                <a:pPr indent="0" lvl="0" marL="0" rtl="0"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" sz="1100">
                    <a:solidFill>
                      <a:srgbClr val="202124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FALL → 관리자 확인 → 상황 종료</a:t>
                </a:r>
                <a:endParaRPr sz="850">
                  <a:solidFill>
                    <a:srgbClr val="5F6368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</p:grpSp>
      </p:grpSp>
      <p:sp>
        <p:nvSpPr>
          <p:cNvPr id="304" name="Google Shape;304;p27"/>
          <p:cNvSpPr txBox="1"/>
          <p:nvPr/>
        </p:nvSpPr>
        <p:spPr>
          <a:xfrm>
            <a:off x="7416800" y="4800600"/>
            <a:ext cx="1269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9AA0A6"/>
                </a:solidFill>
                <a:latin typeface="Noto Sans KR"/>
                <a:ea typeface="Noto Sans KR"/>
                <a:cs typeface="Noto Sans KR"/>
                <a:sym typeface="Noto Sans KR"/>
              </a:rPr>
              <a:t>15 </a:t>
            </a:r>
            <a:r>
              <a:rPr lang="ko" sz="800">
                <a:solidFill>
                  <a:srgbClr val="9AA0A6"/>
                </a:solidFill>
                <a:latin typeface="Noto Sans KR"/>
                <a:ea typeface="Noto Sans KR"/>
                <a:cs typeface="Noto Sans KR"/>
                <a:sym typeface="Noto Sans KR"/>
              </a:rPr>
              <a:t>/ </a:t>
            </a:r>
            <a:r>
              <a:rPr lang="ko" sz="800">
                <a:solidFill>
                  <a:srgbClr val="9AA0A6"/>
                </a:solidFill>
                <a:latin typeface="Noto Sans KR"/>
                <a:ea typeface="Noto Sans KR"/>
                <a:cs typeface="Noto Sans KR"/>
                <a:sym typeface="Noto Sans KR"/>
              </a:rPr>
              <a:t>27</a:t>
            </a:r>
            <a:endParaRPr sz="800">
              <a:solidFill>
                <a:srgbClr val="9AA0A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pSp>
        <p:nvGrpSpPr>
          <p:cNvPr id="305" name="Google Shape;305;p27"/>
          <p:cNvGrpSpPr/>
          <p:nvPr/>
        </p:nvGrpSpPr>
        <p:grpSpPr>
          <a:xfrm>
            <a:off x="6082960" y="1117600"/>
            <a:ext cx="2580600" cy="3403600"/>
            <a:chOff x="6106160" y="1117600"/>
            <a:chExt cx="2580600" cy="3403600"/>
          </a:xfrm>
        </p:grpSpPr>
        <p:cxnSp>
          <p:nvCxnSpPr>
            <p:cNvPr id="306" name="Google Shape;306;p27"/>
            <p:cNvCxnSpPr/>
            <p:nvPr/>
          </p:nvCxnSpPr>
          <p:spPr>
            <a:xfrm>
              <a:off x="6197600" y="2362200"/>
              <a:ext cx="2489100" cy="0"/>
            </a:xfrm>
            <a:prstGeom prst="straightConnector1">
              <a:avLst/>
            </a:prstGeom>
            <a:noFill/>
            <a:ln cap="flat" cmpd="sng" w="15875">
              <a:solidFill>
                <a:srgbClr val="20212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7" name="Google Shape;307;p27"/>
            <p:cNvCxnSpPr/>
            <p:nvPr/>
          </p:nvCxnSpPr>
          <p:spPr>
            <a:xfrm>
              <a:off x="6197600" y="3124200"/>
              <a:ext cx="2489100" cy="0"/>
            </a:xfrm>
            <a:prstGeom prst="straightConnector1">
              <a:avLst/>
            </a:prstGeom>
            <a:noFill/>
            <a:ln cap="flat" cmpd="sng" w="9525">
              <a:solidFill>
                <a:srgbClr val="DADCE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8" name="Google Shape;308;p27"/>
            <p:cNvCxnSpPr/>
            <p:nvPr/>
          </p:nvCxnSpPr>
          <p:spPr>
            <a:xfrm>
              <a:off x="6197600" y="3835400"/>
              <a:ext cx="2489100" cy="0"/>
            </a:xfrm>
            <a:prstGeom prst="straightConnector1">
              <a:avLst/>
            </a:prstGeom>
            <a:noFill/>
            <a:ln cap="flat" cmpd="sng" w="9525">
              <a:solidFill>
                <a:srgbClr val="DADCE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09" name="Google Shape;309;p27"/>
            <p:cNvSpPr txBox="1"/>
            <p:nvPr/>
          </p:nvSpPr>
          <p:spPr>
            <a:xfrm>
              <a:off x="6106160" y="1498600"/>
              <a:ext cx="2580600" cy="35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700">
                  <a:solidFill>
                    <a:srgbClr val="202124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출입관리</a:t>
              </a:r>
              <a:endParaRPr b="1" sz="170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310" name="Google Shape;310;p27"/>
            <p:cNvSpPr txBox="1"/>
            <p:nvPr/>
          </p:nvSpPr>
          <p:spPr>
            <a:xfrm>
              <a:off x="6106160" y="1905000"/>
              <a:ext cx="25806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900">
                  <a:solidFill>
                    <a:srgbClr val="5F6368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얼굴을 따라가 확인하고</a:t>
              </a:r>
              <a:endParaRPr sz="900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900">
                  <a:solidFill>
                    <a:srgbClr val="5F6368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등록된 사람만 문을 엽니다</a:t>
              </a:r>
              <a:endParaRPr sz="900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311" name="Google Shape;311;p27"/>
            <p:cNvSpPr txBox="1"/>
            <p:nvPr/>
          </p:nvSpPr>
          <p:spPr>
            <a:xfrm>
              <a:off x="6106160" y="2489200"/>
              <a:ext cx="25806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100">
                  <a:solidFill>
                    <a:srgbClr val="202124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얼굴 추적</a:t>
              </a:r>
              <a:endParaRPr b="1" sz="80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50">
                  <a:solidFill>
                    <a:srgbClr val="5F6368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YOLO 좌표 → PC4 → Arduino 팬·틸트</a:t>
              </a:r>
              <a:endParaRPr sz="850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312" name="Google Shape;312;p27"/>
            <p:cNvSpPr txBox="1"/>
            <p:nvPr/>
          </p:nvSpPr>
          <p:spPr>
            <a:xfrm>
              <a:off x="6106160" y="3200400"/>
              <a:ext cx="25806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100">
                  <a:solidFill>
                    <a:srgbClr val="202124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얼굴 감지 · 인증</a:t>
              </a:r>
              <a:endParaRPr b="1" sz="110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50">
                  <a:solidFill>
                    <a:srgbClr val="5F6368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InsightFace 512차원 → PostgreSQL 유사도</a:t>
              </a:r>
              <a:endParaRPr sz="850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313" name="Google Shape;313;p27"/>
            <p:cNvSpPr txBox="1"/>
            <p:nvPr/>
          </p:nvSpPr>
          <p:spPr>
            <a:xfrm>
              <a:off x="6106160" y="3911600"/>
              <a:ext cx="25806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100">
                  <a:solidFill>
                    <a:srgbClr val="202124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문 열기</a:t>
              </a:r>
              <a:endParaRPr b="1" sz="110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50">
                  <a:solidFill>
                    <a:srgbClr val="5F6368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일치하면 DOOR,OPEN → 문 모터</a:t>
              </a:r>
              <a:endParaRPr sz="850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314" name="Google Shape;314;p27"/>
            <p:cNvSpPr txBox="1"/>
            <p:nvPr/>
          </p:nvSpPr>
          <p:spPr>
            <a:xfrm>
              <a:off x="6106160" y="1117600"/>
              <a:ext cx="2580600" cy="43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2200">
                  <a:solidFill>
                    <a:srgbClr val="6FA8DC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03</a:t>
              </a:r>
              <a:endParaRPr b="1" sz="2200">
                <a:solidFill>
                  <a:srgbClr val="B6D7A8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315" name="Google Shape;315;p27"/>
          <p:cNvGrpSpPr/>
          <p:nvPr/>
        </p:nvGrpSpPr>
        <p:grpSpPr>
          <a:xfrm>
            <a:off x="457200" y="1498600"/>
            <a:ext cx="2580610" cy="3022600"/>
            <a:chOff x="6106150" y="1498600"/>
            <a:chExt cx="2580610" cy="3022600"/>
          </a:xfrm>
        </p:grpSpPr>
        <p:cxnSp>
          <p:nvCxnSpPr>
            <p:cNvPr id="316" name="Google Shape;316;p27"/>
            <p:cNvCxnSpPr/>
            <p:nvPr/>
          </p:nvCxnSpPr>
          <p:spPr>
            <a:xfrm>
              <a:off x="6197600" y="2362200"/>
              <a:ext cx="2489100" cy="0"/>
            </a:xfrm>
            <a:prstGeom prst="straightConnector1">
              <a:avLst/>
            </a:prstGeom>
            <a:noFill/>
            <a:ln cap="flat" cmpd="sng" w="15875">
              <a:solidFill>
                <a:srgbClr val="20212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7" name="Google Shape;317;p27"/>
            <p:cNvCxnSpPr/>
            <p:nvPr/>
          </p:nvCxnSpPr>
          <p:spPr>
            <a:xfrm>
              <a:off x="6197600" y="3124200"/>
              <a:ext cx="2489100" cy="0"/>
            </a:xfrm>
            <a:prstGeom prst="straightConnector1">
              <a:avLst/>
            </a:prstGeom>
            <a:noFill/>
            <a:ln cap="flat" cmpd="sng" w="9525">
              <a:solidFill>
                <a:srgbClr val="DADCE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8" name="Google Shape;318;p27"/>
            <p:cNvCxnSpPr/>
            <p:nvPr/>
          </p:nvCxnSpPr>
          <p:spPr>
            <a:xfrm>
              <a:off x="6197600" y="3835400"/>
              <a:ext cx="2489100" cy="0"/>
            </a:xfrm>
            <a:prstGeom prst="straightConnector1">
              <a:avLst/>
            </a:prstGeom>
            <a:noFill/>
            <a:ln cap="flat" cmpd="sng" w="9525">
              <a:solidFill>
                <a:srgbClr val="DADCE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19" name="Google Shape;319;p27"/>
            <p:cNvSpPr txBox="1"/>
            <p:nvPr/>
          </p:nvSpPr>
          <p:spPr>
            <a:xfrm>
              <a:off x="6106160" y="1498600"/>
              <a:ext cx="2580600" cy="35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700">
                  <a:solidFill>
                    <a:srgbClr val="202124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시스템 설계</a:t>
              </a:r>
              <a:endParaRPr b="1" sz="170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320" name="Google Shape;320;p27"/>
            <p:cNvSpPr txBox="1"/>
            <p:nvPr/>
          </p:nvSpPr>
          <p:spPr>
            <a:xfrm>
              <a:off x="6106150" y="1854100"/>
              <a:ext cx="1833900" cy="50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900">
                  <a:solidFill>
                    <a:srgbClr val="5F6368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분산된 기능을 하나의 시스템으로 연결하기 위한 통합 구조 설계</a:t>
              </a:r>
              <a:endParaRPr sz="900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321" name="Google Shape;321;p27"/>
            <p:cNvSpPr txBox="1"/>
            <p:nvPr/>
          </p:nvSpPr>
          <p:spPr>
            <a:xfrm>
              <a:off x="6106160" y="2489200"/>
              <a:ext cx="25806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100">
                  <a:solidFill>
                    <a:srgbClr val="202124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System Architecture</a:t>
              </a:r>
              <a:br>
                <a:rPr b="1" lang="ko" sz="1100">
                  <a:solidFill>
                    <a:srgbClr val="202124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</a:br>
              <a:r>
                <a:rPr lang="ko" sz="850">
                  <a:solidFill>
                    <a:srgbClr val="5F6368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HW·SW 구성 및 모듈 간 데이터 흐름 설계</a:t>
              </a:r>
              <a:endParaRPr sz="850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50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10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322" name="Google Shape;322;p27"/>
            <p:cNvSpPr txBox="1"/>
            <p:nvPr/>
          </p:nvSpPr>
          <p:spPr>
            <a:xfrm>
              <a:off x="6106160" y="3200400"/>
              <a:ext cx="25806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100">
                  <a:solidFill>
                    <a:srgbClr val="202124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PostgreSQL DB</a:t>
              </a:r>
              <a:br>
                <a:rPr b="1" lang="ko" sz="1100">
                  <a:solidFill>
                    <a:srgbClr val="202124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</a:br>
              <a:r>
                <a:rPr lang="ko" sz="850">
                  <a:solidFill>
                    <a:srgbClr val="5F6368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입소자·직원 정보 및 출입·쓰러짐 기록의 통합 관리</a:t>
              </a:r>
              <a:endParaRPr sz="850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ko" sz="1100">
                  <a:solidFill>
                    <a:srgbClr val="202124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endParaRPr b="1" sz="110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50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323" name="Google Shape;323;p27"/>
            <p:cNvSpPr txBox="1"/>
            <p:nvPr/>
          </p:nvSpPr>
          <p:spPr>
            <a:xfrm>
              <a:off x="6106160" y="3911600"/>
              <a:ext cx="25806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100">
                  <a:solidFill>
                    <a:srgbClr val="202124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Main Server</a:t>
              </a:r>
              <a:br>
                <a:rPr b="1" lang="ko" sz="1100">
                  <a:solidFill>
                    <a:srgbClr val="202124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</a:br>
              <a:r>
                <a:rPr lang="ko" sz="850">
                  <a:solidFill>
                    <a:srgbClr val="5F6368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모듈 간 통신 중계·출입 권한 판정·이벤트 처리</a:t>
              </a:r>
              <a:endParaRPr sz="850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850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50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8"/>
          <p:cNvSpPr txBox="1"/>
          <p:nvPr/>
        </p:nvSpPr>
        <p:spPr>
          <a:xfrm>
            <a:off x="457200" y="4800600"/>
            <a:ext cx="5079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9AA0A6"/>
                </a:solidFill>
                <a:latin typeface="Noto Sans KR"/>
                <a:ea typeface="Noto Sans KR"/>
                <a:cs typeface="Noto Sans KR"/>
                <a:sym typeface="Noto Sans KR"/>
              </a:rPr>
              <a:t>T-Safe System · 요양시설 사고 감지 및 대응 모니터링 시스템</a:t>
            </a:r>
            <a:endParaRPr sz="800">
              <a:solidFill>
                <a:srgbClr val="9AA0A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29" name="Google Shape;329;p28"/>
          <p:cNvSpPr txBox="1"/>
          <p:nvPr/>
        </p:nvSpPr>
        <p:spPr>
          <a:xfrm>
            <a:off x="7416800" y="4800600"/>
            <a:ext cx="1269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9AA0A6"/>
                </a:solidFill>
                <a:latin typeface="Noto Sans KR"/>
                <a:ea typeface="Noto Sans KR"/>
                <a:cs typeface="Noto Sans KR"/>
                <a:sym typeface="Noto Sans KR"/>
              </a:rPr>
              <a:t>16 / </a:t>
            </a:r>
            <a:r>
              <a:rPr lang="ko" sz="800">
                <a:solidFill>
                  <a:srgbClr val="9AA0A6"/>
                </a:solidFill>
                <a:latin typeface="Noto Sans KR"/>
                <a:ea typeface="Noto Sans KR"/>
                <a:cs typeface="Noto Sans KR"/>
                <a:sym typeface="Noto Sans KR"/>
              </a:rPr>
              <a:t>27</a:t>
            </a:r>
            <a:endParaRPr sz="800">
              <a:solidFill>
                <a:srgbClr val="9AA0A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30" name="Google Shape;330;p28"/>
          <p:cNvSpPr txBox="1"/>
          <p:nvPr/>
        </p:nvSpPr>
        <p:spPr>
          <a:xfrm>
            <a:off x="457200" y="177800"/>
            <a:ext cx="4445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50">
                <a:solidFill>
                  <a:srgbClr val="1A73E8"/>
                </a:solidFill>
                <a:latin typeface="Noto Sans KR"/>
                <a:ea typeface="Noto Sans KR"/>
                <a:cs typeface="Noto Sans KR"/>
                <a:sym typeface="Noto Sans KR"/>
              </a:rPr>
              <a:t>0</a:t>
            </a:r>
            <a:r>
              <a:rPr b="1" lang="ko" sz="950">
                <a:solidFill>
                  <a:srgbClr val="1A73E8"/>
                </a:solidFill>
                <a:latin typeface="Noto Sans KR"/>
                <a:ea typeface="Noto Sans KR"/>
                <a:cs typeface="Noto Sans KR"/>
                <a:sym typeface="Noto Sans KR"/>
              </a:rPr>
              <a:t>3</a:t>
            </a:r>
            <a:r>
              <a:rPr b="1" lang="ko" sz="950">
                <a:solidFill>
                  <a:srgbClr val="1A73E8"/>
                </a:solidFill>
                <a:latin typeface="Noto Sans KR"/>
                <a:ea typeface="Noto Sans KR"/>
                <a:cs typeface="Noto Sans KR"/>
                <a:sym typeface="Noto Sans KR"/>
              </a:rPr>
              <a:t>  기술 상세 1 - </a:t>
            </a:r>
            <a:r>
              <a:rPr b="1" lang="ko" sz="950">
                <a:solidFill>
                  <a:srgbClr val="1A73E8"/>
                </a:solidFill>
                <a:latin typeface="Noto Sans KR"/>
                <a:ea typeface="Noto Sans KR"/>
                <a:cs typeface="Noto Sans KR"/>
                <a:sym typeface="Noto Sans KR"/>
              </a:rPr>
              <a:t>시스템 설계</a:t>
            </a:r>
            <a:endParaRPr b="1" sz="950">
              <a:solidFill>
                <a:srgbClr val="1A73E8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31" name="Google Shape;331;p28"/>
          <p:cNvSpPr/>
          <p:nvPr/>
        </p:nvSpPr>
        <p:spPr>
          <a:xfrm>
            <a:off x="469950" y="1225363"/>
            <a:ext cx="1930500" cy="3475500"/>
          </a:xfrm>
          <a:prstGeom prst="roundRect">
            <a:avLst>
              <a:gd fmla="val 16667" name="adj"/>
            </a:avLst>
          </a:prstGeom>
          <a:solidFill>
            <a:srgbClr val="EBF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28"/>
          <p:cNvSpPr txBox="1"/>
          <p:nvPr/>
        </p:nvSpPr>
        <p:spPr>
          <a:xfrm>
            <a:off x="635000" y="1398411"/>
            <a:ext cx="17145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2B79CA"/>
                </a:solidFill>
              </a:rPr>
              <a:t>Camera / Door</a:t>
            </a:r>
            <a:endParaRPr b="1" sz="1200">
              <a:solidFill>
                <a:srgbClr val="2B79CA"/>
              </a:solidFill>
            </a:endParaRPr>
          </a:p>
        </p:txBody>
      </p:sp>
      <p:sp>
        <p:nvSpPr>
          <p:cNvPr id="333" name="Google Shape;333;p28"/>
          <p:cNvSpPr txBox="1"/>
          <p:nvPr/>
        </p:nvSpPr>
        <p:spPr>
          <a:xfrm>
            <a:off x="533200" y="1838763"/>
            <a:ext cx="1778100" cy="8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202C3D"/>
                </a:solidFill>
              </a:rPr>
              <a:t>출입 카메라 영상 송신</a:t>
            </a:r>
            <a:endParaRPr sz="1000">
              <a:solidFill>
                <a:srgbClr val="202C3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202C3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202C3D"/>
                </a:solidFill>
              </a:rPr>
              <a:t>TCP Bridge · Arduino</a:t>
            </a:r>
            <a:endParaRPr sz="1000">
              <a:solidFill>
                <a:srgbClr val="202C3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202C3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202C3D"/>
                </a:solidFill>
              </a:rPr>
              <a:t>Camera/Door 서보모터 제어</a:t>
            </a:r>
            <a:endParaRPr sz="1000">
              <a:solidFill>
                <a:srgbClr val="202C3D"/>
              </a:solidFill>
            </a:endParaRPr>
          </a:p>
        </p:txBody>
      </p:sp>
      <p:sp>
        <p:nvSpPr>
          <p:cNvPr id="334" name="Google Shape;334;p28"/>
          <p:cNvSpPr/>
          <p:nvPr/>
        </p:nvSpPr>
        <p:spPr>
          <a:xfrm>
            <a:off x="2851450" y="1227788"/>
            <a:ext cx="2418300" cy="1473300"/>
          </a:xfrm>
          <a:prstGeom prst="roundRect">
            <a:avLst>
              <a:gd fmla="val 16667" name="adj"/>
            </a:avLst>
          </a:prstGeom>
          <a:solidFill>
            <a:srgbClr val="EAF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28"/>
          <p:cNvSpPr txBox="1"/>
          <p:nvPr/>
        </p:nvSpPr>
        <p:spPr>
          <a:xfrm>
            <a:off x="3187700" y="1354833"/>
            <a:ext cx="1714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2B79CA"/>
                </a:solidFill>
              </a:rPr>
              <a:t>얼굴 식별 / 검출</a:t>
            </a:r>
            <a:endParaRPr b="1" sz="1200">
              <a:solidFill>
                <a:srgbClr val="2B79CA"/>
              </a:solidFill>
            </a:endParaRPr>
          </a:p>
        </p:txBody>
      </p:sp>
      <p:sp>
        <p:nvSpPr>
          <p:cNvPr id="336" name="Google Shape;336;p28"/>
          <p:cNvSpPr txBox="1"/>
          <p:nvPr/>
        </p:nvSpPr>
        <p:spPr>
          <a:xfrm>
            <a:off x="2907342" y="1606713"/>
            <a:ext cx="2565300" cy="8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202C3D"/>
                </a:solidFill>
              </a:rPr>
              <a:t>사람·얼굴 감지</a:t>
            </a:r>
            <a:endParaRPr sz="1000">
              <a:solidFill>
                <a:srgbClr val="202C3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202C3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202C3D"/>
                </a:solidFill>
              </a:rPr>
              <a:t>얼굴 임베딩 512차원 벡터 데이터 추출</a:t>
            </a:r>
            <a:endParaRPr sz="1000">
              <a:solidFill>
                <a:srgbClr val="202C3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202C3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202C3D"/>
                </a:solidFill>
              </a:rPr>
              <a:t>bbox 좌표 전송</a:t>
            </a:r>
            <a:endParaRPr sz="1000">
              <a:solidFill>
                <a:srgbClr val="202C3D"/>
              </a:solidFill>
            </a:endParaRPr>
          </a:p>
        </p:txBody>
      </p:sp>
      <p:sp>
        <p:nvSpPr>
          <p:cNvPr id="337" name="Google Shape;337;p28"/>
          <p:cNvSpPr/>
          <p:nvPr/>
        </p:nvSpPr>
        <p:spPr>
          <a:xfrm>
            <a:off x="3073450" y="3451988"/>
            <a:ext cx="1930500" cy="1248900"/>
          </a:xfrm>
          <a:prstGeom prst="roundRect">
            <a:avLst>
              <a:gd fmla="val 16667" name="adj"/>
            </a:avLst>
          </a:prstGeom>
          <a:solidFill>
            <a:srgbClr val="FFF1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28"/>
          <p:cNvSpPr txBox="1"/>
          <p:nvPr/>
        </p:nvSpPr>
        <p:spPr>
          <a:xfrm>
            <a:off x="3200400" y="3540897"/>
            <a:ext cx="17781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50">
                <a:solidFill>
                  <a:srgbClr val="B05C3E"/>
                </a:solidFill>
              </a:rPr>
              <a:t>CCTV / 쓰러짐 감지</a:t>
            </a:r>
            <a:endParaRPr b="1" sz="1150">
              <a:solidFill>
                <a:srgbClr val="B05C3E"/>
              </a:solidFill>
            </a:endParaRPr>
          </a:p>
        </p:txBody>
      </p:sp>
      <p:sp>
        <p:nvSpPr>
          <p:cNvPr id="339" name="Google Shape;339;p28"/>
          <p:cNvSpPr txBox="1"/>
          <p:nvPr/>
        </p:nvSpPr>
        <p:spPr>
          <a:xfrm>
            <a:off x="3244800" y="3859364"/>
            <a:ext cx="1778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202C3D"/>
                </a:solidFill>
              </a:rPr>
              <a:t>YOLO Pose · ByteTrack</a:t>
            </a:r>
            <a:endParaRPr sz="1000">
              <a:solidFill>
                <a:srgbClr val="202C3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202C3D"/>
                </a:solidFill>
              </a:rPr>
              <a:t>행동 판정 · FSM</a:t>
            </a:r>
            <a:endParaRPr sz="1000">
              <a:solidFill>
                <a:srgbClr val="202C3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202C3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202C3D"/>
                </a:solidFill>
              </a:rPr>
              <a:t>영상·분석 JSON · 사고 이벤트</a:t>
            </a:r>
            <a:endParaRPr sz="1000">
              <a:solidFill>
                <a:srgbClr val="202C3D"/>
              </a:solidFill>
            </a:endParaRPr>
          </a:p>
        </p:txBody>
      </p:sp>
      <p:sp>
        <p:nvSpPr>
          <p:cNvPr id="340" name="Google Shape;340;p28"/>
          <p:cNvSpPr/>
          <p:nvPr/>
        </p:nvSpPr>
        <p:spPr>
          <a:xfrm>
            <a:off x="5715100" y="1225438"/>
            <a:ext cx="2933700" cy="3555000"/>
          </a:xfrm>
          <a:prstGeom prst="roundRect">
            <a:avLst>
              <a:gd fmla="val 16667" name="adj"/>
            </a:avLst>
          </a:prstGeom>
          <a:solidFill>
            <a:srgbClr val="F4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28"/>
          <p:cNvSpPr txBox="1"/>
          <p:nvPr/>
        </p:nvSpPr>
        <p:spPr>
          <a:xfrm>
            <a:off x="5854800" y="1316733"/>
            <a:ext cx="2628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350">
                <a:solidFill>
                  <a:srgbClr val="1C66AE"/>
                </a:solidFill>
              </a:rPr>
              <a:t>중앙 통합 시스템</a:t>
            </a:r>
            <a:endParaRPr b="1" sz="1350">
              <a:solidFill>
                <a:srgbClr val="1C66AE"/>
              </a:solidFill>
            </a:endParaRPr>
          </a:p>
        </p:txBody>
      </p:sp>
      <p:grpSp>
        <p:nvGrpSpPr>
          <p:cNvPr id="342" name="Google Shape;342;p28"/>
          <p:cNvGrpSpPr/>
          <p:nvPr/>
        </p:nvGrpSpPr>
        <p:grpSpPr>
          <a:xfrm>
            <a:off x="5864050" y="2819887"/>
            <a:ext cx="2667000" cy="615085"/>
            <a:chOff x="5867400" y="2055855"/>
            <a:chExt cx="2667000" cy="750745"/>
          </a:xfrm>
        </p:grpSpPr>
        <p:sp>
          <p:nvSpPr>
            <p:cNvPr id="343" name="Google Shape;343;p28"/>
            <p:cNvSpPr/>
            <p:nvPr/>
          </p:nvSpPr>
          <p:spPr>
            <a:xfrm>
              <a:off x="5867400" y="2108200"/>
              <a:ext cx="2667000" cy="698400"/>
            </a:xfrm>
            <a:prstGeom prst="roundRect">
              <a:avLst>
                <a:gd fmla="val 16667" name="adj"/>
              </a:avLst>
            </a:prstGeom>
            <a:solidFill>
              <a:srgbClr val="DBED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28"/>
            <p:cNvSpPr txBox="1"/>
            <p:nvPr/>
          </p:nvSpPr>
          <p:spPr>
            <a:xfrm>
              <a:off x="5981700" y="2055855"/>
              <a:ext cx="2451000" cy="2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130">
                  <a:solidFill>
                    <a:srgbClr val="205F9A"/>
                  </a:solidFill>
                </a:rPr>
                <a:t>FastAPI Main Server</a:t>
              </a:r>
              <a:endParaRPr b="1" sz="1130">
                <a:solidFill>
                  <a:srgbClr val="205F9A"/>
                </a:solidFill>
              </a:endParaRPr>
            </a:p>
          </p:txBody>
        </p:sp>
        <p:sp>
          <p:nvSpPr>
            <p:cNvPr id="345" name="Google Shape;345;p28"/>
            <p:cNvSpPr txBox="1"/>
            <p:nvPr/>
          </p:nvSpPr>
          <p:spPr>
            <a:xfrm>
              <a:off x="5955950" y="2395545"/>
              <a:ext cx="2502000" cy="39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202C3D"/>
                  </a:solidFill>
                </a:rPr>
                <a:t>출입 권한 판정 / 이벤트 처리 / 명부 API </a:t>
              </a:r>
              <a:endParaRPr sz="1000">
                <a:solidFill>
                  <a:srgbClr val="202C3D"/>
                </a:solidFill>
              </a:endParaRPr>
            </a:p>
          </p:txBody>
        </p:sp>
      </p:grpSp>
      <p:grpSp>
        <p:nvGrpSpPr>
          <p:cNvPr id="346" name="Google Shape;346;p28"/>
          <p:cNvGrpSpPr/>
          <p:nvPr/>
        </p:nvGrpSpPr>
        <p:grpSpPr>
          <a:xfrm>
            <a:off x="5864050" y="3959240"/>
            <a:ext cx="2667000" cy="661430"/>
            <a:chOff x="5867400" y="2856470"/>
            <a:chExt cx="2667000" cy="661430"/>
          </a:xfrm>
        </p:grpSpPr>
        <p:sp>
          <p:nvSpPr>
            <p:cNvPr id="347" name="Google Shape;347;p28"/>
            <p:cNvSpPr/>
            <p:nvPr/>
          </p:nvSpPr>
          <p:spPr>
            <a:xfrm>
              <a:off x="5867400" y="2908300"/>
              <a:ext cx="2667000" cy="609600"/>
            </a:xfrm>
            <a:prstGeom prst="roundRect">
              <a:avLst>
                <a:gd fmla="val 16667" name="adj"/>
              </a:avLst>
            </a:prstGeom>
            <a:solidFill>
              <a:srgbClr val="E3F4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28"/>
            <p:cNvSpPr txBox="1"/>
            <p:nvPr/>
          </p:nvSpPr>
          <p:spPr>
            <a:xfrm>
              <a:off x="5981700" y="2856470"/>
              <a:ext cx="2476500" cy="2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120">
                  <a:solidFill>
                    <a:srgbClr val="27734A"/>
                  </a:solidFill>
                </a:rPr>
                <a:t>PostgreSQL DB</a:t>
              </a:r>
              <a:endParaRPr b="1" sz="1120">
                <a:solidFill>
                  <a:srgbClr val="27734A"/>
                </a:solidFill>
              </a:endParaRPr>
            </a:p>
          </p:txBody>
        </p:sp>
        <p:sp>
          <p:nvSpPr>
            <p:cNvPr id="349" name="Google Shape;349;p28"/>
            <p:cNvSpPr txBox="1"/>
            <p:nvPr/>
          </p:nvSpPr>
          <p:spPr>
            <a:xfrm>
              <a:off x="5981700" y="3161614"/>
              <a:ext cx="2476500" cy="27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202C3D"/>
                  </a:solidFill>
                </a:rPr>
                <a:t>인물·얼굴 식별정보 / 출입·쓰러짐 기록 </a:t>
              </a:r>
              <a:endParaRPr sz="1000">
                <a:solidFill>
                  <a:srgbClr val="202C3D"/>
                </a:solidFill>
              </a:endParaRPr>
            </a:p>
          </p:txBody>
        </p:sp>
      </p:grpSp>
      <p:grpSp>
        <p:nvGrpSpPr>
          <p:cNvPr id="350" name="Google Shape;350;p28"/>
          <p:cNvGrpSpPr/>
          <p:nvPr/>
        </p:nvGrpSpPr>
        <p:grpSpPr>
          <a:xfrm>
            <a:off x="5864050" y="1634209"/>
            <a:ext cx="2667000" cy="661410"/>
            <a:chOff x="5867400" y="3618127"/>
            <a:chExt cx="2667000" cy="839673"/>
          </a:xfrm>
        </p:grpSpPr>
        <p:sp>
          <p:nvSpPr>
            <p:cNvPr id="351" name="Google Shape;351;p28"/>
            <p:cNvSpPr/>
            <p:nvPr/>
          </p:nvSpPr>
          <p:spPr>
            <a:xfrm>
              <a:off x="5867400" y="3670300"/>
              <a:ext cx="2667000" cy="787500"/>
            </a:xfrm>
            <a:prstGeom prst="roundRect">
              <a:avLst>
                <a:gd fmla="val 16667" name="adj"/>
              </a:avLst>
            </a:prstGeom>
            <a:solidFill>
              <a:srgbClr val="F0E9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28"/>
            <p:cNvSpPr txBox="1"/>
            <p:nvPr/>
          </p:nvSpPr>
          <p:spPr>
            <a:xfrm>
              <a:off x="5981700" y="3618127"/>
              <a:ext cx="24258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120">
                  <a:solidFill>
                    <a:srgbClr val="6C438E"/>
                  </a:solidFill>
                </a:rPr>
                <a:t>관리자 GUI</a:t>
              </a:r>
              <a:endParaRPr b="1" sz="1120">
                <a:solidFill>
                  <a:srgbClr val="6C438E"/>
                </a:solidFill>
              </a:endParaRPr>
            </a:p>
          </p:txBody>
        </p:sp>
        <p:sp>
          <p:nvSpPr>
            <p:cNvPr id="353" name="Google Shape;353;p28"/>
            <p:cNvSpPr txBox="1"/>
            <p:nvPr/>
          </p:nvSpPr>
          <p:spPr>
            <a:xfrm>
              <a:off x="5981700" y="3893756"/>
              <a:ext cx="2463900" cy="43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202C3D"/>
                  </a:solidFill>
                </a:rPr>
                <a:t>입소자·직원 정보 관리 </a:t>
              </a:r>
              <a:endParaRPr sz="1000">
                <a:solidFill>
                  <a:srgbClr val="202C3D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202C3D"/>
                  </a:solidFill>
                </a:rPr>
                <a:t> CCTV·알림 표시 </a:t>
              </a:r>
              <a:endParaRPr sz="1000">
                <a:solidFill>
                  <a:srgbClr val="202C3D"/>
                </a:solidFill>
              </a:endParaRPr>
            </a:p>
          </p:txBody>
        </p:sp>
      </p:grpSp>
      <p:sp>
        <p:nvSpPr>
          <p:cNvPr id="354" name="Google Shape;354;p28"/>
          <p:cNvSpPr/>
          <p:nvPr/>
        </p:nvSpPr>
        <p:spPr>
          <a:xfrm>
            <a:off x="2476672" y="1950988"/>
            <a:ext cx="303600" cy="165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38C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28"/>
          <p:cNvSpPr txBox="1"/>
          <p:nvPr/>
        </p:nvSpPr>
        <p:spPr>
          <a:xfrm>
            <a:off x="2271241" y="1596424"/>
            <a:ext cx="6603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20">
                <a:solidFill>
                  <a:srgbClr val="1155CC"/>
                </a:solidFill>
              </a:rPr>
              <a:t>영상</a:t>
            </a:r>
            <a:endParaRPr b="1" sz="920">
              <a:solidFill>
                <a:srgbClr val="1155CC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20">
                <a:solidFill>
                  <a:srgbClr val="1155CC"/>
                </a:solidFill>
              </a:rPr>
              <a:t>UDP</a:t>
            </a:r>
            <a:r>
              <a:rPr lang="ko" sz="920">
                <a:solidFill>
                  <a:srgbClr val="65758A"/>
                </a:solidFill>
              </a:rPr>
              <a:t> </a:t>
            </a:r>
            <a:endParaRPr sz="920">
              <a:solidFill>
                <a:srgbClr val="65758A"/>
              </a:solidFill>
            </a:endParaRPr>
          </a:p>
        </p:txBody>
      </p:sp>
      <p:sp>
        <p:nvSpPr>
          <p:cNvPr id="356" name="Google Shape;356;p28"/>
          <p:cNvSpPr/>
          <p:nvPr/>
        </p:nvSpPr>
        <p:spPr>
          <a:xfrm>
            <a:off x="5347697" y="1963688"/>
            <a:ext cx="303600" cy="165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38C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28"/>
          <p:cNvSpPr txBox="1"/>
          <p:nvPr/>
        </p:nvSpPr>
        <p:spPr>
          <a:xfrm>
            <a:off x="5144995" y="1328559"/>
            <a:ext cx="673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00">
                <a:solidFill>
                  <a:srgbClr val="1155CC"/>
                </a:solidFill>
              </a:rPr>
              <a:t>bbox TCP</a:t>
            </a:r>
            <a:endParaRPr b="1" sz="900">
              <a:solidFill>
                <a:srgbClr val="1155CC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00">
                <a:solidFill>
                  <a:srgbClr val="1155CC"/>
                </a:solidFill>
              </a:rPr>
              <a:t>얼굴 HTTP</a:t>
            </a:r>
            <a:endParaRPr b="1" sz="900">
              <a:solidFill>
                <a:srgbClr val="1155CC"/>
              </a:solidFill>
            </a:endParaRPr>
          </a:p>
        </p:txBody>
      </p:sp>
      <p:sp>
        <p:nvSpPr>
          <p:cNvPr id="358" name="Google Shape;358;p28"/>
          <p:cNvSpPr/>
          <p:nvPr/>
        </p:nvSpPr>
        <p:spPr>
          <a:xfrm>
            <a:off x="5145000" y="3987463"/>
            <a:ext cx="506400" cy="228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982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28"/>
          <p:cNvSpPr txBox="1"/>
          <p:nvPr/>
        </p:nvSpPr>
        <p:spPr>
          <a:xfrm>
            <a:off x="4889650" y="3645121"/>
            <a:ext cx="952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00">
                <a:solidFill>
                  <a:srgbClr val="B45F06"/>
                </a:solidFill>
              </a:rPr>
              <a:t>JPEG · 이벤트</a:t>
            </a:r>
            <a:endParaRPr b="1" sz="900">
              <a:solidFill>
                <a:srgbClr val="B45F06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00">
                <a:solidFill>
                  <a:srgbClr val="B45F06"/>
                </a:solidFill>
              </a:rPr>
              <a:t>HTTP</a:t>
            </a:r>
            <a:endParaRPr b="1" sz="900">
              <a:solidFill>
                <a:srgbClr val="B45F06"/>
              </a:solidFill>
            </a:endParaRPr>
          </a:p>
        </p:txBody>
      </p:sp>
      <p:sp>
        <p:nvSpPr>
          <p:cNvPr id="360" name="Google Shape;360;p28"/>
          <p:cNvSpPr/>
          <p:nvPr/>
        </p:nvSpPr>
        <p:spPr>
          <a:xfrm>
            <a:off x="2463800" y="3045090"/>
            <a:ext cx="3187800" cy="2286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E9A1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28"/>
          <p:cNvSpPr txBox="1"/>
          <p:nvPr/>
        </p:nvSpPr>
        <p:spPr>
          <a:xfrm>
            <a:off x="2667000" y="2803782"/>
            <a:ext cx="27939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30">
                <a:solidFill>
                  <a:srgbClr val="9E6821"/>
                </a:solidFill>
              </a:rPr>
              <a:t>TRACK / DOOR 명령  ·  TCP</a:t>
            </a:r>
            <a:endParaRPr b="1" sz="930">
              <a:solidFill>
                <a:srgbClr val="9E6821"/>
              </a:solidFill>
            </a:endParaRPr>
          </a:p>
        </p:txBody>
      </p:sp>
      <p:sp>
        <p:nvSpPr>
          <p:cNvPr id="362" name="Google Shape;362;p28"/>
          <p:cNvSpPr/>
          <p:nvPr/>
        </p:nvSpPr>
        <p:spPr>
          <a:xfrm>
            <a:off x="1060400" y="1139487"/>
            <a:ext cx="800100" cy="272100"/>
          </a:xfrm>
          <a:prstGeom prst="roundRect">
            <a:avLst>
              <a:gd fmla="val 16667" name="adj"/>
            </a:avLst>
          </a:prstGeom>
          <a:solidFill>
            <a:srgbClr val="2C78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lt1"/>
                </a:solidFill>
              </a:rPr>
              <a:t>PC4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63" name="Google Shape;363;p28"/>
          <p:cNvSpPr/>
          <p:nvPr/>
        </p:nvSpPr>
        <p:spPr>
          <a:xfrm>
            <a:off x="3663900" y="1100881"/>
            <a:ext cx="800100" cy="266700"/>
          </a:xfrm>
          <a:prstGeom prst="roundRect">
            <a:avLst>
              <a:gd fmla="val 16667" name="adj"/>
            </a:avLst>
          </a:prstGeom>
          <a:solidFill>
            <a:srgbClr val="2C78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lt1"/>
                </a:solidFill>
              </a:rPr>
              <a:t>PC2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64" name="Google Shape;364;p28"/>
          <p:cNvSpPr/>
          <p:nvPr/>
        </p:nvSpPr>
        <p:spPr>
          <a:xfrm>
            <a:off x="3663900" y="3312075"/>
            <a:ext cx="800100" cy="266700"/>
          </a:xfrm>
          <a:prstGeom prst="roundRect">
            <a:avLst>
              <a:gd fmla="val 16667" name="adj"/>
            </a:avLst>
          </a:prstGeom>
          <a:solidFill>
            <a:srgbClr val="C477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lt1"/>
                </a:solidFill>
              </a:rPr>
              <a:t>PC3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65" name="Google Shape;365;p28"/>
          <p:cNvSpPr/>
          <p:nvPr/>
        </p:nvSpPr>
        <p:spPr>
          <a:xfrm>
            <a:off x="6794307" y="1100881"/>
            <a:ext cx="800100" cy="266700"/>
          </a:xfrm>
          <a:prstGeom prst="roundRect">
            <a:avLst>
              <a:gd fmla="val 16667" name="adj"/>
            </a:avLst>
          </a:prstGeom>
          <a:solidFill>
            <a:srgbClr val="2C78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lt1"/>
                </a:solidFill>
              </a:rPr>
              <a:t>PC1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366" name="Google Shape;366;p28"/>
          <p:cNvCxnSpPr/>
          <p:nvPr/>
        </p:nvCxnSpPr>
        <p:spPr>
          <a:xfrm>
            <a:off x="7197550" y="2307379"/>
            <a:ext cx="6300" cy="52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67" name="Google Shape;367;p28"/>
          <p:cNvCxnSpPr/>
          <p:nvPr/>
        </p:nvCxnSpPr>
        <p:spPr>
          <a:xfrm>
            <a:off x="7197550" y="3446729"/>
            <a:ext cx="6300" cy="52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68" name="Google Shape;368;p28"/>
          <p:cNvSpPr txBox="1"/>
          <p:nvPr/>
        </p:nvSpPr>
        <p:spPr>
          <a:xfrm>
            <a:off x="7299963" y="2332612"/>
            <a:ext cx="114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920">
                <a:solidFill>
                  <a:srgbClr val="202C3D"/>
                </a:solidFill>
              </a:rPr>
              <a:t>입소자·직원 정보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900">
                <a:solidFill>
                  <a:schemeClr val="dk2"/>
                </a:solidFill>
              </a:rPr>
              <a:t>HTTP REST API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69" name="Google Shape;369;p28"/>
          <p:cNvSpPr txBox="1"/>
          <p:nvPr/>
        </p:nvSpPr>
        <p:spPr>
          <a:xfrm>
            <a:off x="7291625" y="3468496"/>
            <a:ext cx="1451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20">
                <a:solidFill>
                  <a:srgbClr val="202C3D"/>
                </a:solidFill>
              </a:rPr>
              <a:t>인물·이벤트</a:t>
            </a:r>
            <a:endParaRPr sz="920">
              <a:solidFill>
                <a:srgbClr val="202C3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20">
                <a:solidFill>
                  <a:srgbClr val="202C3D"/>
                </a:solidFill>
              </a:rPr>
              <a:t>TCP</a:t>
            </a:r>
            <a:endParaRPr sz="920">
              <a:solidFill>
                <a:srgbClr val="202C3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0">
              <a:solidFill>
                <a:srgbClr val="202C3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70" name="Google Shape;370;p28"/>
          <p:cNvSpPr txBox="1"/>
          <p:nvPr/>
        </p:nvSpPr>
        <p:spPr>
          <a:xfrm>
            <a:off x="457200" y="485268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System Architecture</a:t>
            </a:r>
            <a:endParaRPr b="1" sz="20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9"/>
          <p:cNvSpPr txBox="1"/>
          <p:nvPr/>
        </p:nvSpPr>
        <p:spPr>
          <a:xfrm>
            <a:off x="457200" y="4800600"/>
            <a:ext cx="5079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9AA0A6"/>
                </a:solidFill>
                <a:latin typeface="Noto Sans KR"/>
                <a:ea typeface="Noto Sans KR"/>
                <a:cs typeface="Noto Sans KR"/>
                <a:sym typeface="Noto Sans KR"/>
              </a:rPr>
              <a:t>T-Safe System · 요양시설 사고 감지 및 대응 모니터링 시스템</a:t>
            </a:r>
            <a:endParaRPr sz="800">
              <a:solidFill>
                <a:srgbClr val="9AA0A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76" name="Google Shape;376;p29"/>
          <p:cNvSpPr txBox="1"/>
          <p:nvPr/>
        </p:nvSpPr>
        <p:spPr>
          <a:xfrm>
            <a:off x="7416800" y="4800600"/>
            <a:ext cx="1269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9AA0A6"/>
                </a:solidFill>
                <a:latin typeface="Noto Sans KR"/>
                <a:ea typeface="Noto Sans KR"/>
                <a:cs typeface="Noto Sans KR"/>
                <a:sym typeface="Noto Sans KR"/>
              </a:rPr>
              <a:t>17 </a:t>
            </a:r>
            <a:r>
              <a:rPr lang="ko" sz="800">
                <a:solidFill>
                  <a:srgbClr val="9AA0A6"/>
                </a:solidFill>
                <a:latin typeface="Noto Sans KR"/>
                <a:ea typeface="Noto Sans KR"/>
                <a:cs typeface="Noto Sans KR"/>
                <a:sym typeface="Noto Sans KR"/>
              </a:rPr>
              <a:t>/ </a:t>
            </a:r>
            <a:r>
              <a:rPr lang="ko" sz="800">
                <a:solidFill>
                  <a:srgbClr val="9AA0A6"/>
                </a:solidFill>
                <a:latin typeface="Noto Sans KR"/>
                <a:ea typeface="Noto Sans KR"/>
                <a:cs typeface="Noto Sans KR"/>
                <a:sym typeface="Noto Sans KR"/>
              </a:rPr>
              <a:t>27</a:t>
            </a:r>
            <a:endParaRPr sz="800">
              <a:solidFill>
                <a:srgbClr val="9AA0A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77" name="Google Shape;377;p29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PostgreSQL DB</a:t>
            </a:r>
            <a:endParaRPr b="1" sz="20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78" name="Google Shape;378;p29"/>
          <p:cNvSpPr txBox="1"/>
          <p:nvPr/>
        </p:nvSpPr>
        <p:spPr>
          <a:xfrm>
            <a:off x="533400" y="1000948"/>
            <a:ext cx="80391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</a:rPr>
              <a:t>PostgreSQL  + pgvector  ·  공통 person_id로 인물·식별·출입 기록을 연결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379" name="Google Shape;379;p29"/>
          <p:cNvSpPr/>
          <p:nvPr/>
        </p:nvSpPr>
        <p:spPr>
          <a:xfrm>
            <a:off x="546100" y="1580444"/>
            <a:ext cx="2565300" cy="2988300"/>
          </a:xfrm>
          <a:prstGeom prst="roundRect">
            <a:avLst>
              <a:gd fmla="val 16667" name="adj"/>
            </a:avLst>
          </a:prstGeom>
          <a:solidFill>
            <a:srgbClr val="EAF3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29"/>
          <p:cNvSpPr/>
          <p:nvPr/>
        </p:nvSpPr>
        <p:spPr>
          <a:xfrm>
            <a:off x="546100" y="1580444"/>
            <a:ext cx="2565300" cy="419100"/>
          </a:xfrm>
          <a:prstGeom prst="roundRect">
            <a:avLst>
              <a:gd fmla="val 16667" name="adj"/>
            </a:avLst>
          </a:prstGeom>
          <a:solidFill>
            <a:srgbClr val="2C78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29"/>
          <p:cNvSpPr txBox="1"/>
          <p:nvPr/>
        </p:nvSpPr>
        <p:spPr>
          <a:xfrm>
            <a:off x="660200" y="1614546"/>
            <a:ext cx="234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rgbClr val="FFFFFF"/>
                </a:solidFill>
              </a:rPr>
              <a:t>인물 · 얼굴 정보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382" name="Google Shape;382;p29"/>
          <p:cNvSpPr/>
          <p:nvPr/>
        </p:nvSpPr>
        <p:spPr>
          <a:xfrm>
            <a:off x="647700" y="2101144"/>
            <a:ext cx="2362200" cy="69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29"/>
          <p:cNvSpPr txBox="1"/>
          <p:nvPr/>
        </p:nvSpPr>
        <p:spPr>
          <a:xfrm>
            <a:off x="736600" y="2131248"/>
            <a:ext cx="2209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2C78C7"/>
                </a:solidFill>
              </a:rPr>
              <a:t>persons</a:t>
            </a:r>
            <a:endParaRPr b="1" sz="1200">
              <a:solidFill>
                <a:srgbClr val="2C78C7"/>
              </a:solidFill>
            </a:endParaRPr>
          </a:p>
        </p:txBody>
      </p:sp>
      <p:sp>
        <p:nvSpPr>
          <p:cNvPr id="384" name="Google Shape;384;p29"/>
          <p:cNvSpPr txBox="1"/>
          <p:nvPr/>
        </p:nvSpPr>
        <p:spPr>
          <a:xfrm>
            <a:off x="736600" y="2423348"/>
            <a:ext cx="2209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>
                <a:solidFill>
                  <a:srgbClr val="637184"/>
                </a:solidFill>
              </a:rPr>
              <a:t>person_id  · </a:t>
            </a:r>
            <a:r>
              <a:rPr lang="ko" sz="850">
                <a:solidFill>
                  <a:srgbClr val="637184"/>
                </a:solidFill>
              </a:rPr>
              <a:t>역할 / 출입권한</a:t>
            </a:r>
            <a:endParaRPr sz="850">
              <a:solidFill>
                <a:srgbClr val="637184"/>
              </a:solidFill>
            </a:endParaRPr>
          </a:p>
        </p:txBody>
      </p:sp>
      <p:sp>
        <p:nvSpPr>
          <p:cNvPr id="385" name="Google Shape;385;p29"/>
          <p:cNvSpPr/>
          <p:nvPr/>
        </p:nvSpPr>
        <p:spPr>
          <a:xfrm>
            <a:off x="647700" y="2901244"/>
            <a:ext cx="2362200" cy="69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29"/>
          <p:cNvSpPr txBox="1"/>
          <p:nvPr/>
        </p:nvSpPr>
        <p:spPr>
          <a:xfrm>
            <a:off x="736600" y="2931348"/>
            <a:ext cx="2209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2C78C7"/>
                </a:solidFill>
              </a:rPr>
              <a:t>patient_profiles</a:t>
            </a:r>
            <a:endParaRPr b="1" sz="1200">
              <a:solidFill>
                <a:srgbClr val="2C78C7"/>
              </a:solidFill>
            </a:endParaRPr>
          </a:p>
        </p:txBody>
      </p:sp>
      <p:sp>
        <p:nvSpPr>
          <p:cNvPr id="387" name="Google Shape;387;p29"/>
          <p:cNvSpPr txBox="1"/>
          <p:nvPr/>
        </p:nvSpPr>
        <p:spPr>
          <a:xfrm>
            <a:off x="736600" y="3223448"/>
            <a:ext cx="2209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>
                <a:solidFill>
                  <a:srgbClr val="637184"/>
                </a:solidFill>
              </a:rPr>
              <a:t>person_id  · 건강정보</a:t>
            </a:r>
            <a:endParaRPr sz="850">
              <a:solidFill>
                <a:srgbClr val="637184"/>
              </a:solidFill>
            </a:endParaRPr>
          </a:p>
        </p:txBody>
      </p:sp>
      <p:sp>
        <p:nvSpPr>
          <p:cNvPr id="388" name="Google Shape;388;p29"/>
          <p:cNvSpPr/>
          <p:nvPr/>
        </p:nvSpPr>
        <p:spPr>
          <a:xfrm>
            <a:off x="647700" y="3701344"/>
            <a:ext cx="2362200" cy="69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29"/>
          <p:cNvSpPr txBox="1"/>
          <p:nvPr/>
        </p:nvSpPr>
        <p:spPr>
          <a:xfrm>
            <a:off x="736600" y="3731448"/>
            <a:ext cx="2209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2C78C7"/>
                </a:solidFill>
              </a:rPr>
              <a:t>face_templates</a:t>
            </a:r>
            <a:endParaRPr b="1" sz="1200">
              <a:solidFill>
                <a:srgbClr val="2C78C7"/>
              </a:solidFill>
            </a:endParaRPr>
          </a:p>
        </p:txBody>
      </p:sp>
      <p:sp>
        <p:nvSpPr>
          <p:cNvPr id="390" name="Google Shape;390;p29"/>
          <p:cNvSpPr txBox="1"/>
          <p:nvPr/>
        </p:nvSpPr>
        <p:spPr>
          <a:xfrm>
            <a:off x="736600" y="4023548"/>
            <a:ext cx="2209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>
                <a:solidFill>
                  <a:srgbClr val="637184"/>
                </a:solidFill>
              </a:rPr>
              <a:t>person_id  · vector(512)</a:t>
            </a:r>
            <a:endParaRPr sz="850">
              <a:solidFill>
                <a:srgbClr val="637184"/>
              </a:solidFill>
            </a:endParaRPr>
          </a:p>
        </p:txBody>
      </p:sp>
      <p:sp>
        <p:nvSpPr>
          <p:cNvPr id="391" name="Google Shape;391;p29"/>
          <p:cNvSpPr/>
          <p:nvPr/>
        </p:nvSpPr>
        <p:spPr>
          <a:xfrm>
            <a:off x="3289300" y="1580444"/>
            <a:ext cx="2565300" cy="2988300"/>
          </a:xfrm>
          <a:prstGeom prst="roundRect">
            <a:avLst>
              <a:gd fmla="val 16667" name="adj"/>
            </a:avLst>
          </a:prstGeom>
          <a:solidFill>
            <a:srgbClr val="FFF5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29"/>
          <p:cNvSpPr/>
          <p:nvPr/>
        </p:nvSpPr>
        <p:spPr>
          <a:xfrm>
            <a:off x="3289300" y="1580444"/>
            <a:ext cx="2565300" cy="419100"/>
          </a:xfrm>
          <a:prstGeom prst="roundRect">
            <a:avLst>
              <a:gd fmla="val 16667" name="adj"/>
            </a:avLst>
          </a:prstGeom>
          <a:solidFill>
            <a:srgbClr val="A474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29"/>
          <p:cNvSpPr txBox="1"/>
          <p:nvPr/>
        </p:nvSpPr>
        <p:spPr>
          <a:xfrm>
            <a:off x="3390900" y="1614546"/>
            <a:ext cx="234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rgbClr val="FFFFFF"/>
                </a:solidFill>
              </a:rPr>
              <a:t>출입 · 문 상태 이력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394" name="Google Shape;394;p29"/>
          <p:cNvSpPr/>
          <p:nvPr/>
        </p:nvSpPr>
        <p:spPr>
          <a:xfrm>
            <a:off x="3390900" y="2101144"/>
            <a:ext cx="2362200" cy="69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29"/>
          <p:cNvSpPr txBox="1"/>
          <p:nvPr/>
        </p:nvSpPr>
        <p:spPr>
          <a:xfrm>
            <a:off x="3479800" y="2143007"/>
            <a:ext cx="2209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A47430"/>
                </a:solidFill>
              </a:rPr>
              <a:t>identification_events</a:t>
            </a:r>
            <a:endParaRPr b="1" sz="1200">
              <a:solidFill>
                <a:srgbClr val="A47430"/>
              </a:solidFill>
            </a:endParaRPr>
          </a:p>
        </p:txBody>
      </p:sp>
      <p:sp>
        <p:nvSpPr>
          <p:cNvPr id="396" name="Google Shape;396;p29"/>
          <p:cNvSpPr txBox="1"/>
          <p:nvPr/>
        </p:nvSpPr>
        <p:spPr>
          <a:xfrm>
            <a:off x="3479800" y="2435107"/>
            <a:ext cx="2209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>
                <a:solidFill>
                  <a:srgbClr val="637184"/>
                </a:solidFill>
              </a:rPr>
              <a:t>인식 event_id · 식별 결과</a:t>
            </a:r>
            <a:endParaRPr sz="850">
              <a:solidFill>
                <a:srgbClr val="637184"/>
              </a:solidFill>
            </a:endParaRPr>
          </a:p>
        </p:txBody>
      </p:sp>
      <p:sp>
        <p:nvSpPr>
          <p:cNvPr id="397" name="Google Shape;397;p29"/>
          <p:cNvSpPr/>
          <p:nvPr/>
        </p:nvSpPr>
        <p:spPr>
          <a:xfrm>
            <a:off x="3390900" y="2901244"/>
            <a:ext cx="2362200" cy="69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29"/>
          <p:cNvSpPr txBox="1"/>
          <p:nvPr/>
        </p:nvSpPr>
        <p:spPr>
          <a:xfrm>
            <a:off x="3479800" y="2943107"/>
            <a:ext cx="2209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A47430"/>
                </a:solidFill>
              </a:rPr>
              <a:t>access_events</a:t>
            </a:r>
            <a:endParaRPr b="1" sz="1200">
              <a:solidFill>
                <a:srgbClr val="A47430"/>
              </a:solidFill>
            </a:endParaRPr>
          </a:p>
        </p:txBody>
      </p:sp>
      <p:sp>
        <p:nvSpPr>
          <p:cNvPr id="399" name="Google Shape;399;p29"/>
          <p:cNvSpPr txBox="1"/>
          <p:nvPr/>
        </p:nvSpPr>
        <p:spPr>
          <a:xfrm>
            <a:off x="3479800" y="3235207"/>
            <a:ext cx="2209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>
                <a:solidFill>
                  <a:srgbClr val="637184"/>
                </a:solidFill>
              </a:rPr>
              <a:t>인물·문 · ALLOW / DENY</a:t>
            </a:r>
            <a:endParaRPr sz="850">
              <a:solidFill>
                <a:srgbClr val="637184"/>
              </a:solidFill>
            </a:endParaRPr>
          </a:p>
        </p:txBody>
      </p:sp>
      <p:sp>
        <p:nvSpPr>
          <p:cNvPr id="400" name="Google Shape;400;p29"/>
          <p:cNvSpPr/>
          <p:nvPr/>
        </p:nvSpPr>
        <p:spPr>
          <a:xfrm>
            <a:off x="3390900" y="3701344"/>
            <a:ext cx="2362200" cy="69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29"/>
          <p:cNvSpPr txBox="1"/>
          <p:nvPr/>
        </p:nvSpPr>
        <p:spPr>
          <a:xfrm>
            <a:off x="3479800" y="3743207"/>
            <a:ext cx="2209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A47430"/>
                </a:solidFill>
              </a:rPr>
              <a:t>door_commands · doors</a:t>
            </a:r>
            <a:endParaRPr b="1" sz="1200">
              <a:solidFill>
                <a:srgbClr val="A47430"/>
              </a:solidFill>
            </a:endParaRPr>
          </a:p>
        </p:txBody>
      </p:sp>
      <p:sp>
        <p:nvSpPr>
          <p:cNvPr id="402" name="Google Shape;402;p29"/>
          <p:cNvSpPr txBox="1"/>
          <p:nvPr/>
        </p:nvSpPr>
        <p:spPr>
          <a:xfrm>
            <a:off x="3479800" y="4035307"/>
            <a:ext cx="2209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>
                <a:solidFill>
                  <a:srgbClr val="637184"/>
                </a:solidFill>
              </a:rPr>
              <a:t>문 제어 명령·ACK / 문 상태</a:t>
            </a:r>
            <a:endParaRPr sz="850">
              <a:solidFill>
                <a:srgbClr val="637184"/>
              </a:solidFill>
            </a:endParaRPr>
          </a:p>
        </p:txBody>
      </p:sp>
      <p:sp>
        <p:nvSpPr>
          <p:cNvPr id="403" name="Google Shape;403;p29"/>
          <p:cNvSpPr/>
          <p:nvPr/>
        </p:nvSpPr>
        <p:spPr>
          <a:xfrm>
            <a:off x="6032500" y="1580444"/>
            <a:ext cx="2565300" cy="2988300"/>
          </a:xfrm>
          <a:prstGeom prst="roundRect">
            <a:avLst>
              <a:gd fmla="val 16667" name="adj"/>
            </a:avLst>
          </a:prstGeom>
          <a:solidFill>
            <a:srgbClr val="EAF7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29"/>
          <p:cNvSpPr/>
          <p:nvPr/>
        </p:nvSpPr>
        <p:spPr>
          <a:xfrm>
            <a:off x="6032500" y="1580444"/>
            <a:ext cx="2565300" cy="419100"/>
          </a:xfrm>
          <a:prstGeom prst="roundRect">
            <a:avLst>
              <a:gd fmla="val 16667" name="adj"/>
            </a:avLst>
          </a:prstGeom>
          <a:solidFill>
            <a:srgbClr val="2981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29"/>
          <p:cNvSpPr txBox="1"/>
          <p:nvPr/>
        </p:nvSpPr>
        <p:spPr>
          <a:xfrm>
            <a:off x="6134100" y="1614546"/>
            <a:ext cx="234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rgbClr val="FFFFFF"/>
                </a:solidFill>
              </a:rPr>
              <a:t>쓰러짐 · 알림 이력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406" name="Google Shape;406;p29"/>
          <p:cNvSpPr/>
          <p:nvPr/>
        </p:nvSpPr>
        <p:spPr>
          <a:xfrm>
            <a:off x="6134100" y="2101144"/>
            <a:ext cx="2362200" cy="69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29"/>
          <p:cNvSpPr txBox="1"/>
          <p:nvPr/>
        </p:nvSpPr>
        <p:spPr>
          <a:xfrm>
            <a:off x="6223000" y="2131248"/>
            <a:ext cx="2209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29815A"/>
                </a:solidFill>
              </a:rPr>
              <a:t>cameras</a:t>
            </a:r>
            <a:endParaRPr b="1" sz="1200">
              <a:solidFill>
                <a:srgbClr val="29815A"/>
              </a:solidFill>
            </a:endParaRPr>
          </a:p>
        </p:txBody>
      </p:sp>
      <p:sp>
        <p:nvSpPr>
          <p:cNvPr id="408" name="Google Shape;408;p29"/>
          <p:cNvSpPr txBox="1"/>
          <p:nvPr/>
        </p:nvSpPr>
        <p:spPr>
          <a:xfrm>
            <a:off x="6223000" y="2423348"/>
            <a:ext cx="2209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>
                <a:solidFill>
                  <a:srgbClr val="637184"/>
                </a:solidFill>
              </a:rPr>
              <a:t>camera_id</a:t>
            </a:r>
            <a:r>
              <a:rPr lang="ko" sz="850">
                <a:solidFill>
                  <a:srgbClr val="637184"/>
                </a:solidFill>
              </a:rPr>
              <a:t> · 위치</a:t>
            </a:r>
            <a:endParaRPr sz="850">
              <a:solidFill>
                <a:srgbClr val="637184"/>
              </a:solidFill>
            </a:endParaRPr>
          </a:p>
        </p:txBody>
      </p:sp>
      <p:sp>
        <p:nvSpPr>
          <p:cNvPr id="409" name="Google Shape;409;p29"/>
          <p:cNvSpPr/>
          <p:nvPr/>
        </p:nvSpPr>
        <p:spPr>
          <a:xfrm>
            <a:off x="6134100" y="2901244"/>
            <a:ext cx="2362200" cy="69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29"/>
          <p:cNvSpPr txBox="1"/>
          <p:nvPr/>
        </p:nvSpPr>
        <p:spPr>
          <a:xfrm>
            <a:off x="6223000" y="2931348"/>
            <a:ext cx="2209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29815A"/>
                </a:solidFill>
              </a:rPr>
              <a:t>fall_events</a:t>
            </a:r>
            <a:endParaRPr b="1" sz="1200">
              <a:solidFill>
                <a:srgbClr val="29815A"/>
              </a:solidFill>
            </a:endParaRPr>
          </a:p>
        </p:txBody>
      </p:sp>
      <p:sp>
        <p:nvSpPr>
          <p:cNvPr id="411" name="Google Shape;411;p29"/>
          <p:cNvSpPr txBox="1"/>
          <p:nvPr/>
        </p:nvSpPr>
        <p:spPr>
          <a:xfrm>
            <a:off x="6223000" y="3223448"/>
            <a:ext cx="2209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>
                <a:solidFill>
                  <a:srgbClr val="637184"/>
                </a:solidFill>
              </a:rPr>
              <a:t>fall_event_id </a:t>
            </a:r>
            <a:r>
              <a:rPr lang="ko" sz="850">
                <a:solidFill>
                  <a:srgbClr val="637184"/>
                </a:solidFill>
              </a:rPr>
              <a:t>· 위치 / 발생시각</a:t>
            </a:r>
            <a:endParaRPr sz="850">
              <a:solidFill>
                <a:srgbClr val="637184"/>
              </a:solidFill>
            </a:endParaRPr>
          </a:p>
        </p:txBody>
      </p:sp>
      <p:sp>
        <p:nvSpPr>
          <p:cNvPr id="412" name="Google Shape;412;p29"/>
          <p:cNvSpPr/>
          <p:nvPr/>
        </p:nvSpPr>
        <p:spPr>
          <a:xfrm>
            <a:off x="6134100" y="3701344"/>
            <a:ext cx="2362200" cy="69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29"/>
          <p:cNvSpPr txBox="1"/>
          <p:nvPr/>
        </p:nvSpPr>
        <p:spPr>
          <a:xfrm>
            <a:off x="6223000" y="3731448"/>
            <a:ext cx="2209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29815A"/>
                </a:solidFill>
              </a:rPr>
              <a:t>alerts</a:t>
            </a:r>
            <a:endParaRPr b="1" sz="1200">
              <a:solidFill>
                <a:srgbClr val="29815A"/>
              </a:solidFill>
            </a:endParaRPr>
          </a:p>
        </p:txBody>
      </p:sp>
      <p:sp>
        <p:nvSpPr>
          <p:cNvPr id="414" name="Google Shape;414;p29"/>
          <p:cNvSpPr txBox="1"/>
          <p:nvPr/>
        </p:nvSpPr>
        <p:spPr>
          <a:xfrm>
            <a:off x="6223000" y="4023548"/>
            <a:ext cx="2209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>
                <a:solidFill>
                  <a:srgbClr val="637184"/>
                </a:solidFill>
              </a:rPr>
              <a:t>fall_event_id  · 알림 상태</a:t>
            </a:r>
            <a:endParaRPr sz="850">
              <a:solidFill>
                <a:srgbClr val="637184"/>
              </a:solidFill>
            </a:endParaRPr>
          </a:p>
        </p:txBody>
      </p:sp>
      <p:sp>
        <p:nvSpPr>
          <p:cNvPr id="415" name="Google Shape;415;p29"/>
          <p:cNvSpPr txBox="1"/>
          <p:nvPr/>
        </p:nvSpPr>
        <p:spPr>
          <a:xfrm>
            <a:off x="457200" y="177800"/>
            <a:ext cx="4445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50">
                <a:solidFill>
                  <a:srgbClr val="1A73E8"/>
                </a:solidFill>
                <a:latin typeface="Noto Sans KR"/>
                <a:ea typeface="Noto Sans KR"/>
                <a:cs typeface="Noto Sans KR"/>
                <a:sym typeface="Noto Sans KR"/>
              </a:rPr>
              <a:t>03  기술 상세 1 - 시스템 설계</a:t>
            </a:r>
            <a:endParaRPr b="1" sz="950">
              <a:solidFill>
                <a:srgbClr val="1A73E8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30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Main Server 설계</a:t>
            </a:r>
            <a:endParaRPr b="1" sz="20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21" name="Google Shape;421;p30"/>
          <p:cNvSpPr txBox="1"/>
          <p:nvPr/>
        </p:nvSpPr>
        <p:spPr>
          <a:xfrm>
            <a:off x="457200" y="4800600"/>
            <a:ext cx="5079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9AA0A6"/>
                </a:solidFill>
                <a:latin typeface="Noto Sans KR"/>
                <a:ea typeface="Noto Sans KR"/>
                <a:cs typeface="Noto Sans KR"/>
                <a:sym typeface="Noto Sans KR"/>
              </a:rPr>
              <a:t>T-Safe System · 요양시설 사고 감지 및 대응 모니터링 시스템</a:t>
            </a:r>
            <a:endParaRPr sz="800">
              <a:solidFill>
                <a:srgbClr val="9AA0A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22" name="Google Shape;422;p30"/>
          <p:cNvSpPr txBox="1"/>
          <p:nvPr/>
        </p:nvSpPr>
        <p:spPr>
          <a:xfrm>
            <a:off x="7416800" y="4800600"/>
            <a:ext cx="1269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9AA0A6"/>
                </a:solidFill>
                <a:latin typeface="Noto Sans KR"/>
                <a:ea typeface="Noto Sans KR"/>
                <a:cs typeface="Noto Sans KR"/>
                <a:sym typeface="Noto Sans KR"/>
              </a:rPr>
              <a:t>18 </a:t>
            </a:r>
            <a:r>
              <a:rPr lang="ko" sz="800">
                <a:solidFill>
                  <a:srgbClr val="9AA0A6"/>
                </a:solidFill>
                <a:latin typeface="Noto Sans KR"/>
                <a:ea typeface="Noto Sans KR"/>
                <a:cs typeface="Noto Sans KR"/>
                <a:sym typeface="Noto Sans KR"/>
              </a:rPr>
              <a:t>/ </a:t>
            </a:r>
            <a:r>
              <a:rPr lang="ko" sz="800">
                <a:solidFill>
                  <a:srgbClr val="9AA0A6"/>
                </a:solidFill>
                <a:latin typeface="Noto Sans KR"/>
                <a:ea typeface="Noto Sans KR"/>
                <a:cs typeface="Noto Sans KR"/>
                <a:sym typeface="Noto Sans KR"/>
              </a:rPr>
              <a:t>27</a:t>
            </a:r>
            <a:endParaRPr sz="800">
              <a:solidFill>
                <a:srgbClr val="9AA0A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23" name="Google Shape;423;p30"/>
          <p:cNvSpPr txBox="1"/>
          <p:nvPr/>
        </p:nvSpPr>
        <p:spPr>
          <a:xfrm>
            <a:off x="533400" y="1035285"/>
            <a:ext cx="8051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</a:rPr>
              <a:t>기능별 데이터를 수신하여 중앙에서 판단·기록하고, 장치 제어 및 알림을 수행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424" name="Google Shape;424;p30"/>
          <p:cNvSpPr txBox="1"/>
          <p:nvPr/>
        </p:nvSpPr>
        <p:spPr>
          <a:xfrm>
            <a:off x="558800" y="1549400"/>
            <a:ext cx="18414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2C78C7"/>
                </a:solidFill>
              </a:rPr>
              <a:t>수신 데이터·요청 </a:t>
            </a:r>
            <a:endParaRPr b="1" sz="1200">
              <a:solidFill>
                <a:srgbClr val="2C78C7"/>
              </a:solidFill>
            </a:endParaRPr>
          </a:p>
        </p:txBody>
      </p:sp>
      <p:sp>
        <p:nvSpPr>
          <p:cNvPr id="425" name="Google Shape;425;p30"/>
          <p:cNvSpPr txBox="1"/>
          <p:nvPr/>
        </p:nvSpPr>
        <p:spPr>
          <a:xfrm>
            <a:off x="2933700" y="1549400"/>
            <a:ext cx="32640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2C78C7"/>
                </a:solidFill>
              </a:rPr>
              <a:t>PC1 · FastAPI Main Server</a:t>
            </a:r>
            <a:endParaRPr b="1" sz="1200">
              <a:solidFill>
                <a:srgbClr val="2C78C7"/>
              </a:solidFill>
            </a:endParaRPr>
          </a:p>
        </p:txBody>
      </p:sp>
      <p:sp>
        <p:nvSpPr>
          <p:cNvPr id="426" name="Google Shape;426;p30"/>
          <p:cNvSpPr txBox="1"/>
          <p:nvPr/>
        </p:nvSpPr>
        <p:spPr>
          <a:xfrm>
            <a:off x="6769100" y="1549400"/>
            <a:ext cx="19050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2C78C7"/>
                </a:solidFill>
              </a:rPr>
              <a:t>처리 결과</a:t>
            </a:r>
            <a:endParaRPr b="1" sz="1200">
              <a:solidFill>
                <a:srgbClr val="2C78C7"/>
              </a:solidFill>
            </a:endParaRPr>
          </a:p>
        </p:txBody>
      </p:sp>
      <p:sp>
        <p:nvSpPr>
          <p:cNvPr id="427" name="Google Shape;427;p30"/>
          <p:cNvSpPr/>
          <p:nvPr/>
        </p:nvSpPr>
        <p:spPr>
          <a:xfrm>
            <a:off x="533400" y="1917700"/>
            <a:ext cx="1854300" cy="558900"/>
          </a:xfrm>
          <a:prstGeom prst="roundRect">
            <a:avLst>
              <a:gd fmla="val 16667" name="adj"/>
            </a:avLst>
          </a:prstGeom>
          <a:solidFill>
            <a:srgbClr val="EAF3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30"/>
          <p:cNvSpPr/>
          <p:nvPr/>
        </p:nvSpPr>
        <p:spPr>
          <a:xfrm>
            <a:off x="2895600" y="1917700"/>
            <a:ext cx="3365400" cy="558900"/>
          </a:xfrm>
          <a:prstGeom prst="roundRect">
            <a:avLst>
              <a:gd fmla="val 16667" name="adj"/>
            </a:avLst>
          </a:prstGeom>
          <a:solidFill>
            <a:srgbClr val="F3F6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30"/>
          <p:cNvSpPr/>
          <p:nvPr/>
        </p:nvSpPr>
        <p:spPr>
          <a:xfrm>
            <a:off x="6756400" y="1917700"/>
            <a:ext cx="1930500" cy="558900"/>
          </a:xfrm>
          <a:prstGeom prst="roundRect">
            <a:avLst>
              <a:gd fmla="val 16667" name="adj"/>
            </a:avLst>
          </a:prstGeom>
          <a:solidFill>
            <a:srgbClr val="EAF3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30"/>
          <p:cNvSpPr txBox="1"/>
          <p:nvPr/>
        </p:nvSpPr>
        <p:spPr>
          <a:xfrm>
            <a:off x="635000" y="1920522"/>
            <a:ext cx="16638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2C78C7"/>
                </a:solidFill>
              </a:rPr>
              <a:t>추적 좌표</a:t>
            </a:r>
            <a:endParaRPr b="1" sz="1100">
              <a:solidFill>
                <a:srgbClr val="2C78C7"/>
              </a:solidFill>
            </a:endParaRPr>
          </a:p>
        </p:txBody>
      </p:sp>
      <p:sp>
        <p:nvSpPr>
          <p:cNvPr id="431" name="Google Shape;431;p30"/>
          <p:cNvSpPr txBox="1"/>
          <p:nvPr/>
        </p:nvSpPr>
        <p:spPr>
          <a:xfrm>
            <a:off x="635000" y="2161822"/>
            <a:ext cx="17145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667384"/>
                </a:solidFill>
              </a:rPr>
              <a:t>얼굴 좌표 bbox · TCP</a:t>
            </a:r>
            <a:endParaRPr sz="900">
              <a:solidFill>
                <a:srgbClr val="667384"/>
              </a:solidFill>
            </a:endParaRPr>
          </a:p>
        </p:txBody>
      </p:sp>
      <p:sp>
        <p:nvSpPr>
          <p:cNvPr id="432" name="Google Shape;432;p30"/>
          <p:cNvSpPr txBox="1"/>
          <p:nvPr/>
        </p:nvSpPr>
        <p:spPr>
          <a:xfrm>
            <a:off x="3048000" y="1920522"/>
            <a:ext cx="3098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080">
                <a:solidFill>
                  <a:srgbClr val="233143"/>
                </a:solidFill>
              </a:rPr>
              <a:t>추적 데이터 중계 </a:t>
            </a:r>
            <a:endParaRPr b="1" sz="1080">
              <a:solidFill>
                <a:srgbClr val="233143"/>
              </a:solidFill>
            </a:endParaRPr>
          </a:p>
        </p:txBody>
      </p:sp>
      <p:sp>
        <p:nvSpPr>
          <p:cNvPr id="433" name="Google Shape;433;p30"/>
          <p:cNvSpPr txBox="1"/>
          <p:nvPr/>
        </p:nvSpPr>
        <p:spPr>
          <a:xfrm>
            <a:off x="3048000" y="2161822"/>
            <a:ext cx="3098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667384"/>
                </a:solidFill>
              </a:rPr>
              <a:t>좌표 검증·전달 / 무대상 정지</a:t>
            </a:r>
            <a:endParaRPr sz="900">
              <a:solidFill>
                <a:srgbClr val="667384"/>
              </a:solidFill>
            </a:endParaRPr>
          </a:p>
        </p:txBody>
      </p:sp>
      <p:sp>
        <p:nvSpPr>
          <p:cNvPr id="434" name="Google Shape;434;p30"/>
          <p:cNvSpPr txBox="1"/>
          <p:nvPr/>
        </p:nvSpPr>
        <p:spPr>
          <a:xfrm>
            <a:off x="6845300" y="1920522"/>
            <a:ext cx="17652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2C78C7"/>
                </a:solidFill>
              </a:rPr>
              <a:t>TCP Bridge</a:t>
            </a:r>
            <a:endParaRPr b="1" sz="1100">
              <a:solidFill>
                <a:srgbClr val="2C78C7"/>
              </a:solidFill>
            </a:endParaRPr>
          </a:p>
        </p:txBody>
      </p:sp>
      <p:sp>
        <p:nvSpPr>
          <p:cNvPr id="435" name="Google Shape;435;p30"/>
          <p:cNvSpPr txBox="1"/>
          <p:nvPr/>
        </p:nvSpPr>
        <p:spPr>
          <a:xfrm>
            <a:off x="6845300" y="2161822"/>
            <a:ext cx="17652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667384"/>
                </a:solidFill>
              </a:rPr>
              <a:t>TRACK 명령 전달</a:t>
            </a:r>
            <a:endParaRPr sz="900">
              <a:solidFill>
                <a:srgbClr val="667384"/>
              </a:solidFill>
            </a:endParaRPr>
          </a:p>
        </p:txBody>
      </p:sp>
      <p:sp>
        <p:nvSpPr>
          <p:cNvPr id="436" name="Google Shape;436;p30"/>
          <p:cNvSpPr/>
          <p:nvPr/>
        </p:nvSpPr>
        <p:spPr>
          <a:xfrm>
            <a:off x="2463800" y="2108200"/>
            <a:ext cx="368400" cy="152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C78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30"/>
          <p:cNvSpPr/>
          <p:nvPr/>
        </p:nvSpPr>
        <p:spPr>
          <a:xfrm>
            <a:off x="6324600" y="2108200"/>
            <a:ext cx="368400" cy="152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C78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30"/>
          <p:cNvSpPr/>
          <p:nvPr/>
        </p:nvSpPr>
        <p:spPr>
          <a:xfrm>
            <a:off x="533400" y="2565400"/>
            <a:ext cx="1854300" cy="558900"/>
          </a:xfrm>
          <a:prstGeom prst="roundRect">
            <a:avLst>
              <a:gd fmla="val 16667" name="adj"/>
            </a:avLst>
          </a:prstGeom>
          <a:solidFill>
            <a:srgbClr val="F1E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30"/>
          <p:cNvSpPr/>
          <p:nvPr/>
        </p:nvSpPr>
        <p:spPr>
          <a:xfrm>
            <a:off x="2895600" y="2565400"/>
            <a:ext cx="3365400" cy="558900"/>
          </a:xfrm>
          <a:prstGeom prst="roundRect">
            <a:avLst>
              <a:gd fmla="val 16667" name="adj"/>
            </a:avLst>
          </a:prstGeom>
          <a:solidFill>
            <a:srgbClr val="F3F6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0"/>
          <p:cNvSpPr/>
          <p:nvPr/>
        </p:nvSpPr>
        <p:spPr>
          <a:xfrm>
            <a:off x="6756400" y="2565400"/>
            <a:ext cx="1930500" cy="558900"/>
          </a:xfrm>
          <a:prstGeom prst="roundRect">
            <a:avLst>
              <a:gd fmla="val 16667" name="adj"/>
            </a:avLst>
          </a:prstGeom>
          <a:solidFill>
            <a:srgbClr val="F1E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30"/>
          <p:cNvSpPr txBox="1"/>
          <p:nvPr/>
        </p:nvSpPr>
        <p:spPr>
          <a:xfrm>
            <a:off x="635000" y="2568222"/>
            <a:ext cx="16638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6D55AB"/>
                </a:solidFill>
              </a:rPr>
              <a:t>얼굴 식별</a:t>
            </a:r>
            <a:endParaRPr b="1" sz="1100">
              <a:solidFill>
                <a:srgbClr val="6D55AB"/>
              </a:solidFill>
            </a:endParaRPr>
          </a:p>
        </p:txBody>
      </p:sp>
      <p:sp>
        <p:nvSpPr>
          <p:cNvPr id="442" name="Google Shape;442;p30"/>
          <p:cNvSpPr txBox="1"/>
          <p:nvPr/>
        </p:nvSpPr>
        <p:spPr>
          <a:xfrm>
            <a:off x="635000" y="2809522"/>
            <a:ext cx="17145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667384"/>
                </a:solidFill>
              </a:rPr>
              <a:t>512D · HTTP </a:t>
            </a:r>
            <a:endParaRPr sz="900">
              <a:solidFill>
                <a:srgbClr val="667384"/>
              </a:solidFill>
            </a:endParaRPr>
          </a:p>
        </p:txBody>
      </p:sp>
      <p:sp>
        <p:nvSpPr>
          <p:cNvPr id="443" name="Google Shape;443;p30"/>
          <p:cNvSpPr txBox="1"/>
          <p:nvPr/>
        </p:nvSpPr>
        <p:spPr>
          <a:xfrm>
            <a:off x="3048000" y="2568222"/>
            <a:ext cx="3098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080">
                <a:solidFill>
                  <a:srgbClr val="233143"/>
                </a:solidFill>
              </a:rPr>
              <a:t>얼굴 식별 API</a:t>
            </a:r>
            <a:endParaRPr b="1" sz="1080">
              <a:solidFill>
                <a:srgbClr val="233143"/>
              </a:solidFill>
            </a:endParaRPr>
          </a:p>
        </p:txBody>
      </p:sp>
      <p:sp>
        <p:nvSpPr>
          <p:cNvPr id="444" name="Google Shape;444;p30"/>
          <p:cNvSpPr txBox="1"/>
          <p:nvPr/>
        </p:nvSpPr>
        <p:spPr>
          <a:xfrm>
            <a:off x="3048000" y="2809522"/>
            <a:ext cx="3098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667384"/>
                </a:solidFill>
              </a:rPr>
              <a:t>DB 유사도 검색·출입 권한 판정</a:t>
            </a:r>
            <a:endParaRPr sz="900">
              <a:solidFill>
                <a:srgbClr val="667384"/>
              </a:solidFill>
            </a:endParaRPr>
          </a:p>
        </p:txBody>
      </p:sp>
      <p:sp>
        <p:nvSpPr>
          <p:cNvPr id="445" name="Google Shape;445;p30"/>
          <p:cNvSpPr txBox="1"/>
          <p:nvPr/>
        </p:nvSpPr>
        <p:spPr>
          <a:xfrm>
            <a:off x="6845300" y="2568222"/>
            <a:ext cx="17652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6D55AB"/>
                </a:solidFill>
              </a:rPr>
              <a:t>출입문 제어 </a:t>
            </a:r>
            <a:endParaRPr b="1" sz="1100">
              <a:solidFill>
                <a:srgbClr val="6D55AB"/>
              </a:solidFill>
            </a:endParaRPr>
          </a:p>
        </p:txBody>
      </p:sp>
      <p:sp>
        <p:nvSpPr>
          <p:cNvPr id="446" name="Google Shape;446;p30"/>
          <p:cNvSpPr txBox="1"/>
          <p:nvPr/>
        </p:nvSpPr>
        <p:spPr>
          <a:xfrm>
            <a:off x="6845300" y="2809522"/>
            <a:ext cx="17652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667384"/>
                </a:solidFill>
              </a:rPr>
              <a:t>허용 시 OPEN / 거부 시 미전송</a:t>
            </a:r>
            <a:endParaRPr sz="900">
              <a:solidFill>
                <a:srgbClr val="667384"/>
              </a:solidFill>
            </a:endParaRPr>
          </a:p>
        </p:txBody>
      </p:sp>
      <p:sp>
        <p:nvSpPr>
          <p:cNvPr id="447" name="Google Shape;447;p30"/>
          <p:cNvSpPr/>
          <p:nvPr/>
        </p:nvSpPr>
        <p:spPr>
          <a:xfrm>
            <a:off x="2463800" y="2755900"/>
            <a:ext cx="368400" cy="152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D55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30"/>
          <p:cNvSpPr/>
          <p:nvPr/>
        </p:nvSpPr>
        <p:spPr>
          <a:xfrm>
            <a:off x="6324600" y="2755900"/>
            <a:ext cx="368400" cy="152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D55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30"/>
          <p:cNvSpPr/>
          <p:nvPr/>
        </p:nvSpPr>
        <p:spPr>
          <a:xfrm>
            <a:off x="533400" y="3213100"/>
            <a:ext cx="1854300" cy="558900"/>
          </a:xfrm>
          <a:prstGeom prst="roundRect">
            <a:avLst>
              <a:gd fmla="val 16667" name="adj"/>
            </a:avLst>
          </a:prstGeom>
          <a:solidFill>
            <a:srgbClr val="FFF0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30"/>
          <p:cNvSpPr/>
          <p:nvPr/>
        </p:nvSpPr>
        <p:spPr>
          <a:xfrm>
            <a:off x="2895600" y="3213100"/>
            <a:ext cx="3365400" cy="558900"/>
          </a:xfrm>
          <a:prstGeom prst="roundRect">
            <a:avLst>
              <a:gd fmla="val 16667" name="adj"/>
            </a:avLst>
          </a:prstGeom>
          <a:solidFill>
            <a:srgbClr val="F3F6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30"/>
          <p:cNvSpPr/>
          <p:nvPr/>
        </p:nvSpPr>
        <p:spPr>
          <a:xfrm>
            <a:off x="6756400" y="3213100"/>
            <a:ext cx="1930500" cy="558900"/>
          </a:xfrm>
          <a:prstGeom prst="roundRect">
            <a:avLst>
              <a:gd fmla="val 16667" name="adj"/>
            </a:avLst>
          </a:prstGeom>
          <a:solidFill>
            <a:srgbClr val="FFF0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30"/>
          <p:cNvSpPr txBox="1"/>
          <p:nvPr/>
        </p:nvSpPr>
        <p:spPr>
          <a:xfrm>
            <a:off x="635000" y="3215922"/>
            <a:ext cx="16638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C47746"/>
                </a:solidFill>
              </a:rPr>
              <a:t>쓰러짐 감지</a:t>
            </a:r>
            <a:endParaRPr b="1" sz="1100">
              <a:solidFill>
                <a:srgbClr val="C47746"/>
              </a:solidFill>
            </a:endParaRPr>
          </a:p>
        </p:txBody>
      </p:sp>
      <p:sp>
        <p:nvSpPr>
          <p:cNvPr id="453" name="Google Shape;453;p30"/>
          <p:cNvSpPr txBox="1"/>
          <p:nvPr/>
        </p:nvSpPr>
        <p:spPr>
          <a:xfrm>
            <a:off x="635000" y="3457222"/>
            <a:ext cx="17145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667384"/>
                </a:solidFill>
              </a:rPr>
              <a:t>JPEG+JSON · HTTP</a:t>
            </a:r>
            <a:endParaRPr sz="900">
              <a:solidFill>
                <a:srgbClr val="667384"/>
              </a:solidFill>
            </a:endParaRPr>
          </a:p>
        </p:txBody>
      </p:sp>
      <p:sp>
        <p:nvSpPr>
          <p:cNvPr id="454" name="Google Shape;454;p30"/>
          <p:cNvSpPr txBox="1"/>
          <p:nvPr/>
        </p:nvSpPr>
        <p:spPr>
          <a:xfrm>
            <a:off x="3048000" y="3215922"/>
            <a:ext cx="3098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080">
                <a:solidFill>
                  <a:srgbClr val="233143"/>
                </a:solidFill>
              </a:rPr>
              <a:t>쓰러짐·알림 처리</a:t>
            </a:r>
            <a:endParaRPr b="1" sz="1080">
              <a:solidFill>
                <a:srgbClr val="233143"/>
              </a:solidFill>
            </a:endParaRPr>
          </a:p>
        </p:txBody>
      </p:sp>
      <p:sp>
        <p:nvSpPr>
          <p:cNvPr id="455" name="Google Shape;455;p30"/>
          <p:cNvSpPr txBox="1"/>
          <p:nvPr/>
        </p:nvSpPr>
        <p:spPr>
          <a:xfrm>
            <a:off x="3048000" y="3457222"/>
            <a:ext cx="3098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667384"/>
                </a:solidFill>
              </a:rPr>
              <a:t>이벤트·알림 DB 기록</a:t>
            </a:r>
            <a:endParaRPr sz="900">
              <a:solidFill>
                <a:srgbClr val="667384"/>
              </a:solidFill>
            </a:endParaRPr>
          </a:p>
        </p:txBody>
      </p:sp>
      <p:sp>
        <p:nvSpPr>
          <p:cNvPr id="456" name="Google Shape;456;p30"/>
          <p:cNvSpPr txBox="1"/>
          <p:nvPr/>
        </p:nvSpPr>
        <p:spPr>
          <a:xfrm>
            <a:off x="6845300" y="3215922"/>
            <a:ext cx="17652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C47746"/>
                </a:solidFill>
              </a:rPr>
              <a:t>관리자 GUI</a:t>
            </a:r>
            <a:endParaRPr b="1" sz="1100">
              <a:solidFill>
                <a:srgbClr val="C47746"/>
              </a:solidFill>
            </a:endParaRPr>
          </a:p>
        </p:txBody>
      </p:sp>
      <p:sp>
        <p:nvSpPr>
          <p:cNvPr id="457" name="Google Shape;457;p30"/>
          <p:cNvSpPr txBox="1"/>
          <p:nvPr/>
        </p:nvSpPr>
        <p:spPr>
          <a:xfrm>
            <a:off x="6845300" y="3457222"/>
            <a:ext cx="17652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667384"/>
                </a:solidFill>
              </a:rPr>
              <a:t>쓰러짐 알림 전달</a:t>
            </a:r>
            <a:endParaRPr sz="900">
              <a:solidFill>
                <a:srgbClr val="667384"/>
              </a:solidFill>
            </a:endParaRPr>
          </a:p>
        </p:txBody>
      </p:sp>
      <p:sp>
        <p:nvSpPr>
          <p:cNvPr id="458" name="Google Shape;458;p30"/>
          <p:cNvSpPr/>
          <p:nvPr/>
        </p:nvSpPr>
        <p:spPr>
          <a:xfrm>
            <a:off x="2463800" y="3403600"/>
            <a:ext cx="368400" cy="152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477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0"/>
          <p:cNvSpPr/>
          <p:nvPr/>
        </p:nvSpPr>
        <p:spPr>
          <a:xfrm>
            <a:off x="6324600" y="3403600"/>
            <a:ext cx="368400" cy="152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477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30"/>
          <p:cNvSpPr/>
          <p:nvPr/>
        </p:nvSpPr>
        <p:spPr>
          <a:xfrm>
            <a:off x="533400" y="3860800"/>
            <a:ext cx="1854300" cy="558900"/>
          </a:xfrm>
          <a:prstGeom prst="roundRect">
            <a:avLst>
              <a:gd fmla="val 16667" name="adj"/>
            </a:avLst>
          </a:prstGeom>
          <a:solidFill>
            <a:srgbClr val="EAF7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30"/>
          <p:cNvSpPr/>
          <p:nvPr/>
        </p:nvSpPr>
        <p:spPr>
          <a:xfrm>
            <a:off x="2895600" y="3860800"/>
            <a:ext cx="3365400" cy="558900"/>
          </a:xfrm>
          <a:prstGeom prst="roundRect">
            <a:avLst>
              <a:gd fmla="val 16667" name="adj"/>
            </a:avLst>
          </a:prstGeom>
          <a:solidFill>
            <a:srgbClr val="F3F6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30"/>
          <p:cNvSpPr/>
          <p:nvPr/>
        </p:nvSpPr>
        <p:spPr>
          <a:xfrm>
            <a:off x="6756400" y="3860800"/>
            <a:ext cx="1930500" cy="558900"/>
          </a:xfrm>
          <a:prstGeom prst="roundRect">
            <a:avLst>
              <a:gd fmla="val 16667" name="adj"/>
            </a:avLst>
          </a:prstGeom>
          <a:solidFill>
            <a:srgbClr val="EAF7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30"/>
          <p:cNvSpPr txBox="1"/>
          <p:nvPr/>
        </p:nvSpPr>
        <p:spPr>
          <a:xfrm>
            <a:off x="635000" y="3863622"/>
            <a:ext cx="16638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2C865C"/>
                </a:solidFill>
              </a:rPr>
              <a:t>입소자·직원 정보 관리</a:t>
            </a:r>
            <a:endParaRPr b="1" sz="1100">
              <a:solidFill>
                <a:srgbClr val="2C865C"/>
              </a:solidFill>
            </a:endParaRPr>
          </a:p>
        </p:txBody>
      </p:sp>
      <p:sp>
        <p:nvSpPr>
          <p:cNvPr id="464" name="Google Shape;464;p30"/>
          <p:cNvSpPr txBox="1"/>
          <p:nvPr/>
        </p:nvSpPr>
        <p:spPr>
          <a:xfrm>
            <a:off x="635000" y="4104922"/>
            <a:ext cx="17145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667384"/>
                </a:solidFill>
              </a:rPr>
              <a:t>GUI · HTTP REST API</a:t>
            </a:r>
            <a:endParaRPr sz="900">
              <a:solidFill>
                <a:srgbClr val="667384"/>
              </a:solidFill>
            </a:endParaRPr>
          </a:p>
        </p:txBody>
      </p:sp>
      <p:sp>
        <p:nvSpPr>
          <p:cNvPr id="465" name="Google Shape;465;p30"/>
          <p:cNvSpPr txBox="1"/>
          <p:nvPr/>
        </p:nvSpPr>
        <p:spPr>
          <a:xfrm>
            <a:off x="3048000" y="3863622"/>
            <a:ext cx="3098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080">
                <a:solidFill>
                  <a:srgbClr val="233143"/>
                </a:solidFill>
              </a:rPr>
              <a:t>인물 정보 관리 API</a:t>
            </a:r>
            <a:endParaRPr b="1" sz="1080">
              <a:solidFill>
                <a:srgbClr val="233143"/>
              </a:solidFill>
            </a:endParaRPr>
          </a:p>
        </p:txBody>
      </p:sp>
      <p:sp>
        <p:nvSpPr>
          <p:cNvPr id="466" name="Google Shape;466;p30"/>
          <p:cNvSpPr txBox="1"/>
          <p:nvPr/>
        </p:nvSpPr>
        <p:spPr>
          <a:xfrm>
            <a:off x="3048000" y="4104922"/>
            <a:ext cx="3098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667384"/>
                </a:solidFill>
              </a:rPr>
              <a:t>등록·조회·수정·비활성화</a:t>
            </a:r>
            <a:endParaRPr sz="900">
              <a:solidFill>
                <a:srgbClr val="667384"/>
              </a:solidFill>
            </a:endParaRPr>
          </a:p>
        </p:txBody>
      </p:sp>
      <p:sp>
        <p:nvSpPr>
          <p:cNvPr id="467" name="Google Shape;467;p30"/>
          <p:cNvSpPr txBox="1"/>
          <p:nvPr/>
        </p:nvSpPr>
        <p:spPr>
          <a:xfrm>
            <a:off x="6845300" y="3863622"/>
            <a:ext cx="17652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2C865C"/>
                </a:solidFill>
              </a:rPr>
              <a:t>GUI 목록</a:t>
            </a:r>
            <a:endParaRPr b="1" sz="1100">
              <a:solidFill>
                <a:srgbClr val="2C865C"/>
              </a:solidFill>
            </a:endParaRPr>
          </a:p>
        </p:txBody>
      </p:sp>
      <p:sp>
        <p:nvSpPr>
          <p:cNvPr id="468" name="Google Shape;468;p30"/>
          <p:cNvSpPr txBox="1"/>
          <p:nvPr/>
        </p:nvSpPr>
        <p:spPr>
          <a:xfrm>
            <a:off x="6845300" y="4104922"/>
            <a:ext cx="17652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667384"/>
                </a:solidFill>
              </a:rPr>
              <a:t>목록 </a:t>
            </a:r>
            <a:r>
              <a:rPr lang="ko" sz="900">
                <a:solidFill>
                  <a:srgbClr val="667384"/>
                </a:solidFill>
              </a:rPr>
              <a:t>조회 · 동기화</a:t>
            </a:r>
            <a:endParaRPr sz="900">
              <a:solidFill>
                <a:srgbClr val="667384"/>
              </a:solidFill>
            </a:endParaRPr>
          </a:p>
        </p:txBody>
      </p:sp>
      <p:sp>
        <p:nvSpPr>
          <p:cNvPr id="469" name="Google Shape;469;p30"/>
          <p:cNvSpPr/>
          <p:nvPr/>
        </p:nvSpPr>
        <p:spPr>
          <a:xfrm>
            <a:off x="2463800" y="4051300"/>
            <a:ext cx="368400" cy="152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C8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30"/>
          <p:cNvSpPr/>
          <p:nvPr/>
        </p:nvSpPr>
        <p:spPr>
          <a:xfrm>
            <a:off x="6324600" y="4051300"/>
            <a:ext cx="368400" cy="152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C8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30"/>
          <p:cNvSpPr txBox="1"/>
          <p:nvPr/>
        </p:nvSpPr>
        <p:spPr>
          <a:xfrm>
            <a:off x="457200" y="177800"/>
            <a:ext cx="4445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50">
                <a:solidFill>
                  <a:srgbClr val="1A73E8"/>
                </a:solidFill>
                <a:latin typeface="Noto Sans KR"/>
                <a:ea typeface="Noto Sans KR"/>
                <a:cs typeface="Noto Sans KR"/>
                <a:sym typeface="Noto Sans KR"/>
              </a:rPr>
              <a:t>03  기술 상세 1 - 시스템 설계</a:t>
            </a:r>
            <a:endParaRPr b="1" sz="950">
              <a:solidFill>
                <a:srgbClr val="1A73E8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31"/>
          <p:cNvSpPr txBox="1"/>
          <p:nvPr/>
        </p:nvSpPr>
        <p:spPr>
          <a:xfrm>
            <a:off x="457200" y="4800600"/>
            <a:ext cx="5079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9AA0A6"/>
                </a:solidFill>
                <a:latin typeface="Noto Sans KR"/>
                <a:ea typeface="Noto Sans KR"/>
                <a:cs typeface="Noto Sans KR"/>
                <a:sym typeface="Noto Sans KR"/>
              </a:rPr>
              <a:t>T-Safe System · 요양시설 사고 감지 및 대응 모니터링 시스템</a:t>
            </a:r>
            <a:endParaRPr sz="800">
              <a:solidFill>
                <a:srgbClr val="9AA0A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77" name="Google Shape;477;p31"/>
          <p:cNvSpPr/>
          <p:nvPr/>
        </p:nvSpPr>
        <p:spPr>
          <a:xfrm>
            <a:off x="457200" y="1025150"/>
            <a:ext cx="8229600" cy="2793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31"/>
          <p:cNvSpPr txBox="1"/>
          <p:nvPr/>
        </p:nvSpPr>
        <p:spPr>
          <a:xfrm>
            <a:off x="457200" y="994250"/>
            <a:ext cx="82296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050">
                <a:solidFill>
                  <a:srgbClr val="174EA6"/>
                </a:solidFill>
                <a:latin typeface="Noto Sans KR"/>
                <a:ea typeface="Noto Sans KR"/>
                <a:cs typeface="Noto Sans KR"/>
                <a:sym typeface="Noto Sans KR"/>
              </a:rPr>
              <a:t>핵심: 쓰러짐 확정 시 사고가 어떻게 기록·표시되고, 관리자 확인과 종료로 무엇이 바뀌는가?</a:t>
            </a:r>
            <a:endParaRPr b="1" sz="1050">
              <a:solidFill>
                <a:srgbClr val="174EA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79" name="Google Shape;479;p31"/>
          <p:cNvSpPr txBox="1"/>
          <p:nvPr/>
        </p:nvSpPr>
        <p:spPr>
          <a:xfrm>
            <a:off x="457200" y="1536700"/>
            <a:ext cx="2286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1A73E8"/>
                </a:solidFill>
                <a:latin typeface="Noto Sans KR"/>
                <a:ea typeface="Noto Sans KR"/>
                <a:cs typeface="Noto Sans KR"/>
                <a:sym typeface="Noto Sans KR"/>
              </a:rPr>
              <a:t>① 실시간 모니터링</a:t>
            </a:r>
            <a:endParaRPr b="1" sz="800">
              <a:solidFill>
                <a:srgbClr val="1A73E8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80" name="Google Shape;480;p31"/>
          <p:cNvSpPr/>
          <p:nvPr/>
        </p:nvSpPr>
        <p:spPr>
          <a:xfrm>
            <a:off x="457200" y="1816100"/>
            <a:ext cx="2286000" cy="406500"/>
          </a:xfrm>
          <a:prstGeom prst="roundRect">
            <a:avLst>
              <a:gd fmla="val 16667" name="adj"/>
            </a:avLst>
          </a:prstGeom>
          <a:solidFill>
            <a:srgbClr val="E8F0FE"/>
          </a:solidFill>
          <a:ln cap="flat" cmpd="sng" w="12700">
            <a:solidFill>
              <a:srgbClr val="1A7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750">
                <a:solidFill>
                  <a:srgbClr val="174EA6"/>
                </a:solidFill>
                <a:latin typeface="Noto Sans KR"/>
                <a:ea typeface="Noto Sans KR"/>
                <a:cs typeface="Noto Sans KR"/>
                <a:sym typeface="Noto Sans KR"/>
              </a:rPr>
              <a:t>JPEG + 관절·판정 JSON 전송</a:t>
            </a:r>
            <a:endParaRPr b="1" sz="750">
              <a:solidFill>
                <a:srgbClr val="174EA6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750">
                <a:solidFill>
                  <a:srgbClr val="174EA6"/>
                </a:solidFill>
                <a:latin typeface="Noto Sans KR"/>
                <a:ea typeface="Noto Sans KR"/>
                <a:cs typeface="Noto Sans KR"/>
                <a:sym typeface="Noto Sans KR"/>
              </a:rPr>
              <a:t> AI → Main Server· HTTP</a:t>
            </a:r>
            <a:endParaRPr sz="650">
              <a:solidFill>
                <a:srgbClr val="5F6368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81" name="Google Shape;481;p31"/>
          <p:cNvSpPr/>
          <p:nvPr/>
        </p:nvSpPr>
        <p:spPr>
          <a:xfrm>
            <a:off x="457200" y="2336800"/>
            <a:ext cx="2286000" cy="406500"/>
          </a:xfrm>
          <a:prstGeom prst="roundRect">
            <a:avLst>
              <a:gd fmla="val 16667" name="adj"/>
            </a:avLst>
          </a:prstGeom>
          <a:solidFill>
            <a:srgbClr val="E8F0FE"/>
          </a:solidFill>
          <a:ln cap="flat" cmpd="sng" w="12700">
            <a:solidFill>
              <a:srgbClr val="1A7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750">
                <a:solidFill>
                  <a:srgbClr val="174EA6"/>
                </a:solidFill>
                <a:latin typeface="Noto Sans KR"/>
                <a:ea typeface="Noto Sans KR"/>
                <a:cs typeface="Noto Sans KR"/>
                <a:sym typeface="Noto Sans KR"/>
              </a:rPr>
              <a:t>최신 화면·분석 결과 표시</a:t>
            </a:r>
            <a:endParaRPr b="1" sz="750">
              <a:solidFill>
                <a:srgbClr val="174EA6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750">
                <a:solidFill>
                  <a:srgbClr val="174EA6"/>
                </a:solidFill>
                <a:latin typeface="Noto Sans KR"/>
                <a:ea typeface="Noto Sans KR"/>
                <a:cs typeface="Noto Sans KR"/>
                <a:sym typeface="Noto Sans KR"/>
              </a:rPr>
              <a:t>Server→ GUI </a:t>
            </a:r>
            <a:endParaRPr sz="650">
              <a:solidFill>
                <a:srgbClr val="5F6368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482" name="Google Shape;482;p31"/>
          <p:cNvCxnSpPr/>
          <p:nvPr/>
        </p:nvCxnSpPr>
        <p:spPr>
          <a:xfrm>
            <a:off x="1600200" y="2222500"/>
            <a:ext cx="0" cy="114300"/>
          </a:xfrm>
          <a:prstGeom prst="straightConnector1">
            <a:avLst/>
          </a:prstGeom>
          <a:noFill/>
          <a:ln cap="flat" cmpd="sng" w="12700">
            <a:solidFill>
              <a:srgbClr val="5F636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83" name="Google Shape;483;p31"/>
          <p:cNvSpPr/>
          <p:nvPr/>
        </p:nvSpPr>
        <p:spPr>
          <a:xfrm>
            <a:off x="901700" y="2844800"/>
            <a:ext cx="1397100" cy="431700"/>
          </a:xfrm>
          <a:prstGeom prst="diamond">
            <a:avLst/>
          </a:prstGeom>
          <a:solidFill>
            <a:srgbClr val="FFFFFF"/>
          </a:solidFill>
          <a:ln cap="flat" cmpd="sng" w="12700">
            <a:solidFill>
              <a:srgbClr val="5F63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31"/>
          <p:cNvSpPr txBox="1"/>
          <p:nvPr/>
        </p:nvSpPr>
        <p:spPr>
          <a:xfrm>
            <a:off x="647700" y="2844800"/>
            <a:ext cx="19050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rPr>
              <a:t>쓰러짐 확정 이벤트?</a:t>
            </a:r>
            <a:endParaRPr b="1" sz="800">
              <a:solidFill>
                <a:srgbClr val="202124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485" name="Google Shape;485;p31"/>
          <p:cNvCxnSpPr/>
          <p:nvPr/>
        </p:nvCxnSpPr>
        <p:spPr>
          <a:xfrm>
            <a:off x="1600200" y="2743200"/>
            <a:ext cx="0" cy="101700"/>
          </a:xfrm>
          <a:prstGeom prst="straightConnector1">
            <a:avLst/>
          </a:prstGeom>
          <a:noFill/>
          <a:ln cap="flat" cmpd="sng" w="12700">
            <a:solidFill>
              <a:srgbClr val="5F636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6" name="Google Shape;486;p31"/>
          <p:cNvCxnSpPr/>
          <p:nvPr/>
        </p:nvCxnSpPr>
        <p:spPr>
          <a:xfrm rot="10800000">
            <a:off x="304700" y="3060700"/>
            <a:ext cx="597000" cy="0"/>
          </a:xfrm>
          <a:prstGeom prst="straightConnector1">
            <a:avLst/>
          </a:prstGeom>
          <a:noFill/>
          <a:ln cap="flat" cmpd="sng" w="12700">
            <a:solidFill>
              <a:srgbClr val="1A73E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7" name="Google Shape;487;p31"/>
          <p:cNvCxnSpPr/>
          <p:nvPr/>
        </p:nvCxnSpPr>
        <p:spPr>
          <a:xfrm rot="10800000">
            <a:off x="304800" y="2019400"/>
            <a:ext cx="0" cy="1041300"/>
          </a:xfrm>
          <a:prstGeom prst="straightConnector1">
            <a:avLst/>
          </a:prstGeom>
          <a:noFill/>
          <a:ln cap="flat" cmpd="sng" w="12700">
            <a:solidFill>
              <a:srgbClr val="1A73E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8" name="Google Shape;488;p31"/>
          <p:cNvCxnSpPr/>
          <p:nvPr/>
        </p:nvCxnSpPr>
        <p:spPr>
          <a:xfrm>
            <a:off x="304800" y="2019300"/>
            <a:ext cx="152400" cy="0"/>
          </a:xfrm>
          <a:prstGeom prst="straightConnector1">
            <a:avLst/>
          </a:prstGeom>
          <a:noFill/>
          <a:ln cap="flat" cmpd="sng" w="12700">
            <a:solidFill>
              <a:srgbClr val="1A73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89" name="Google Shape;489;p31"/>
          <p:cNvSpPr txBox="1"/>
          <p:nvPr/>
        </p:nvSpPr>
        <p:spPr>
          <a:xfrm>
            <a:off x="342900" y="2844800"/>
            <a:ext cx="5841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650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아니오</a:t>
            </a:r>
            <a:endParaRPr b="1" sz="650">
              <a:solidFill>
                <a:srgbClr val="5F6368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90" name="Google Shape;490;p31"/>
          <p:cNvSpPr txBox="1"/>
          <p:nvPr/>
        </p:nvSpPr>
        <p:spPr>
          <a:xfrm>
            <a:off x="3429000" y="2578100"/>
            <a:ext cx="2286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C5221F"/>
                </a:solidFill>
                <a:latin typeface="Noto Sans KR"/>
                <a:ea typeface="Noto Sans KR"/>
                <a:cs typeface="Noto Sans KR"/>
                <a:sym typeface="Noto Sans KR"/>
              </a:rPr>
              <a:t>② 쓰러짐 확정 → 알림</a:t>
            </a:r>
            <a:endParaRPr b="1" sz="800">
              <a:solidFill>
                <a:srgbClr val="C5221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491" name="Google Shape;491;p31"/>
          <p:cNvCxnSpPr/>
          <p:nvPr/>
        </p:nvCxnSpPr>
        <p:spPr>
          <a:xfrm>
            <a:off x="2298700" y="3060700"/>
            <a:ext cx="1130400" cy="0"/>
          </a:xfrm>
          <a:prstGeom prst="straightConnector1">
            <a:avLst/>
          </a:prstGeom>
          <a:noFill/>
          <a:ln cap="flat" cmpd="sng" w="12700">
            <a:solidFill>
              <a:srgbClr val="C5221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92" name="Google Shape;492;p31"/>
          <p:cNvSpPr txBox="1"/>
          <p:nvPr/>
        </p:nvSpPr>
        <p:spPr>
          <a:xfrm>
            <a:off x="2349500" y="2819400"/>
            <a:ext cx="7620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650">
                <a:solidFill>
                  <a:srgbClr val="C5221F"/>
                </a:solidFill>
                <a:latin typeface="Noto Sans KR"/>
                <a:ea typeface="Noto Sans KR"/>
                <a:cs typeface="Noto Sans KR"/>
                <a:sym typeface="Noto Sans KR"/>
              </a:rPr>
              <a:t>예</a:t>
            </a:r>
            <a:endParaRPr b="1" sz="650">
              <a:solidFill>
                <a:srgbClr val="C5221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93" name="Google Shape;493;p31"/>
          <p:cNvSpPr/>
          <p:nvPr/>
        </p:nvSpPr>
        <p:spPr>
          <a:xfrm>
            <a:off x="3429000" y="2857500"/>
            <a:ext cx="2286000" cy="406500"/>
          </a:xfrm>
          <a:prstGeom prst="roundRect">
            <a:avLst>
              <a:gd fmla="val 16667" name="adj"/>
            </a:avLst>
          </a:prstGeom>
          <a:solidFill>
            <a:srgbClr val="FCE8E6"/>
          </a:solidFill>
          <a:ln cap="flat" cmpd="sng" w="12700">
            <a:solidFill>
              <a:srgbClr val="C522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750">
                <a:solidFill>
                  <a:srgbClr val="C5221F"/>
                </a:solidFill>
                <a:latin typeface="Noto Sans KR"/>
                <a:ea typeface="Noto Sans KR"/>
                <a:cs typeface="Noto Sans KR"/>
                <a:sym typeface="Noto Sans KR"/>
              </a:rPr>
              <a:t>사고 이벤트·알림 저장</a:t>
            </a:r>
            <a:endParaRPr b="1" sz="750">
              <a:solidFill>
                <a:srgbClr val="C5221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750">
                <a:solidFill>
                  <a:srgbClr val="C5221F"/>
                </a:solidFill>
                <a:latin typeface="Noto Sans KR"/>
                <a:ea typeface="Noto Sans KR"/>
                <a:cs typeface="Noto Sans KR"/>
                <a:sym typeface="Noto Sans KR"/>
              </a:rPr>
              <a:t>Server → PostgreSQL </a:t>
            </a:r>
            <a:endParaRPr sz="650">
              <a:solidFill>
                <a:srgbClr val="5F6368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94" name="Google Shape;494;p31"/>
          <p:cNvSpPr/>
          <p:nvPr/>
        </p:nvSpPr>
        <p:spPr>
          <a:xfrm>
            <a:off x="3429000" y="3378200"/>
            <a:ext cx="2286000" cy="406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18803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750">
                <a:solidFill>
                  <a:srgbClr val="188038"/>
                </a:solidFill>
                <a:latin typeface="Noto Sans KR"/>
                <a:ea typeface="Noto Sans KR"/>
                <a:cs typeface="Noto Sans KR"/>
                <a:sym typeface="Noto Sans KR"/>
              </a:rPr>
              <a:t>중복 확인·알림 생성</a:t>
            </a:r>
            <a:endParaRPr b="1" sz="750">
              <a:solidFill>
                <a:srgbClr val="188038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750">
                <a:solidFill>
                  <a:srgbClr val="188038"/>
                </a:solidFill>
                <a:latin typeface="Noto Sans KR"/>
                <a:ea typeface="Noto Sans KR"/>
                <a:cs typeface="Noto Sans KR"/>
                <a:sym typeface="Noto Sans KR"/>
              </a:rPr>
              <a:t>이벤트 ID 기준</a:t>
            </a:r>
            <a:endParaRPr sz="650">
              <a:solidFill>
                <a:srgbClr val="5F6368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95" name="Google Shape;495;p31"/>
          <p:cNvSpPr/>
          <p:nvPr/>
        </p:nvSpPr>
        <p:spPr>
          <a:xfrm>
            <a:off x="3429000" y="3898900"/>
            <a:ext cx="2286000" cy="406500"/>
          </a:xfrm>
          <a:prstGeom prst="roundRect">
            <a:avLst>
              <a:gd fmla="val 16667" name="adj"/>
            </a:avLst>
          </a:prstGeom>
          <a:solidFill>
            <a:srgbClr val="FCE8E6"/>
          </a:solidFill>
          <a:ln cap="flat" cmpd="sng" w="12700">
            <a:solidFill>
              <a:srgbClr val="C522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750">
                <a:solidFill>
                  <a:srgbClr val="C5221F"/>
                </a:solidFill>
                <a:latin typeface="Noto Sans KR"/>
                <a:ea typeface="Noto Sans KR"/>
                <a:cs typeface="Noto Sans KR"/>
                <a:sym typeface="Noto Sans KR"/>
              </a:rPr>
              <a:t>FALL 알림 표시</a:t>
            </a:r>
            <a:endParaRPr b="1" sz="750">
              <a:solidFill>
                <a:srgbClr val="C5221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650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Server</a:t>
            </a:r>
            <a:r>
              <a:rPr lang="ko" sz="650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 → 관리자 GUI</a:t>
            </a:r>
            <a:endParaRPr sz="650">
              <a:solidFill>
                <a:srgbClr val="5F6368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496" name="Google Shape;496;p31"/>
          <p:cNvCxnSpPr/>
          <p:nvPr/>
        </p:nvCxnSpPr>
        <p:spPr>
          <a:xfrm>
            <a:off x="4572000" y="3263900"/>
            <a:ext cx="0" cy="114300"/>
          </a:xfrm>
          <a:prstGeom prst="straightConnector1">
            <a:avLst/>
          </a:prstGeom>
          <a:noFill/>
          <a:ln cap="flat" cmpd="sng" w="12700">
            <a:solidFill>
              <a:srgbClr val="5F636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7" name="Google Shape;497;p31"/>
          <p:cNvCxnSpPr/>
          <p:nvPr/>
        </p:nvCxnSpPr>
        <p:spPr>
          <a:xfrm>
            <a:off x="4572000" y="3784600"/>
            <a:ext cx="0" cy="114300"/>
          </a:xfrm>
          <a:prstGeom prst="straightConnector1">
            <a:avLst/>
          </a:prstGeom>
          <a:noFill/>
          <a:ln cap="flat" cmpd="sng" w="12700">
            <a:solidFill>
              <a:srgbClr val="5F636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8" name="Google Shape;498;p31"/>
          <p:cNvCxnSpPr/>
          <p:nvPr/>
        </p:nvCxnSpPr>
        <p:spPr>
          <a:xfrm>
            <a:off x="5715000" y="4102100"/>
            <a:ext cx="342900" cy="0"/>
          </a:xfrm>
          <a:prstGeom prst="straightConnector1">
            <a:avLst/>
          </a:prstGeom>
          <a:noFill/>
          <a:ln cap="flat" cmpd="sng" w="12700">
            <a:solidFill>
              <a:srgbClr val="18803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9" name="Google Shape;499;p31"/>
          <p:cNvCxnSpPr/>
          <p:nvPr/>
        </p:nvCxnSpPr>
        <p:spPr>
          <a:xfrm rot="10800000">
            <a:off x="6057900" y="2019200"/>
            <a:ext cx="0" cy="2082900"/>
          </a:xfrm>
          <a:prstGeom prst="straightConnector1">
            <a:avLst/>
          </a:prstGeom>
          <a:noFill/>
          <a:ln cap="flat" cmpd="sng" w="12700">
            <a:solidFill>
              <a:srgbClr val="18803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0" name="Google Shape;500;p31"/>
          <p:cNvCxnSpPr/>
          <p:nvPr/>
        </p:nvCxnSpPr>
        <p:spPr>
          <a:xfrm>
            <a:off x="6057900" y="2019300"/>
            <a:ext cx="342900" cy="0"/>
          </a:xfrm>
          <a:prstGeom prst="straightConnector1">
            <a:avLst/>
          </a:prstGeom>
          <a:noFill/>
          <a:ln cap="flat" cmpd="sng" w="12700">
            <a:solidFill>
              <a:srgbClr val="18803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01" name="Google Shape;501;p31"/>
          <p:cNvSpPr txBox="1"/>
          <p:nvPr/>
        </p:nvSpPr>
        <p:spPr>
          <a:xfrm>
            <a:off x="6400800" y="1536700"/>
            <a:ext cx="2286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188038"/>
                </a:solidFill>
                <a:latin typeface="Noto Sans KR"/>
                <a:ea typeface="Noto Sans KR"/>
                <a:cs typeface="Noto Sans KR"/>
                <a:sym typeface="Noto Sans KR"/>
              </a:rPr>
              <a:t>③ 관리자 확인 → 종료</a:t>
            </a:r>
            <a:endParaRPr b="1" sz="800">
              <a:solidFill>
                <a:srgbClr val="188038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02" name="Google Shape;502;p31"/>
          <p:cNvSpPr/>
          <p:nvPr/>
        </p:nvSpPr>
        <p:spPr>
          <a:xfrm>
            <a:off x="6400800" y="1816100"/>
            <a:ext cx="2286000" cy="406500"/>
          </a:xfrm>
          <a:prstGeom prst="roundRect">
            <a:avLst>
              <a:gd fmla="val 16667" name="adj"/>
            </a:avLst>
          </a:prstGeom>
          <a:solidFill>
            <a:srgbClr val="E6F4EA"/>
          </a:solidFill>
          <a:ln cap="flat" cmpd="sng" w="12700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750">
                <a:solidFill>
                  <a:srgbClr val="188038"/>
                </a:solidFill>
                <a:latin typeface="Noto Sans KR"/>
                <a:ea typeface="Noto Sans KR"/>
                <a:cs typeface="Noto Sans KR"/>
                <a:sym typeface="Noto Sans KR"/>
              </a:rPr>
              <a:t>Confirm · 알림 확인 요청</a:t>
            </a:r>
            <a:endParaRPr b="1" sz="750">
              <a:solidFill>
                <a:srgbClr val="188038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750">
                <a:solidFill>
                  <a:srgbClr val="188038"/>
                </a:solidFill>
                <a:latin typeface="Noto Sans KR"/>
                <a:ea typeface="Noto Sans KR"/>
                <a:cs typeface="Noto Sans KR"/>
                <a:sym typeface="Noto Sans KR"/>
              </a:rPr>
              <a:t>GUI → Server </a:t>
            </a:r>
            <a:endParaRPr sz="650">
              <a:solidFill>
                <a:srgbClr val="5F6368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03" name="Google Shape;503;p31"/>
          <p:cNvSpPr/>
          <p:nvPr/>
        </p:nvSpPr>
        <p:spPr>
          <a:xfrm>
            <a:off x="6400800" y="2336800"/>
            <a:ext cx="2286000" cy="406500"/>
          </a:xfrm>
          <a:prstGeom prst="roundRect">
            <a:avLst>
              <a:gd fmla="val 16667" name="adj"/>
            </a:avLst>
          </a:prstGeom>
          <a:solidFill>
            <a:srgbClr val="E6F4EA"/>
          </a:solidFill>
          <a:ln cap="flat" cmpd="sng" w="12700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750">
                <a:solidFill>
                  <a:srgbClr val="188038"/>
                </a:solidFill>
                <a:latin typeface="Noto Sans KR"/>
                <a:ea typeface="Noto Sans KR"/>
                <a:cs typeface="Noto Sans KR"/>
                <a:sym typeface="Noto Sans KR"/>
              </a:rPr>
              <a:t>ACKNOWLEDGED 저장</a:t>
            </a:r>
            <a:endParaRPr b="1" sz="750">
              <a:solidFill>
                <a:srgbClr val="188038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750">
                <a:solidFill>
                  <a:srgbClr val="188038"/>
                </a:solidFill>
                <a:latin typeface="Noto Sans KR"/>
                <a:ea typeface="Noto Sans KR"/>
                <a:cs typeface="Noto Sans KR"/>
                <a:sym typeface="Noto Sans KR"/>
              </a:rPr>
              <a:t>Server → PostgreSQL</a:t>
            </a:r>
            <a:endParaRPr sz="650">
              <a:solidFill>
                <a:srgbClr val="5F6368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04" name="Google Shape;504;p31"/>
          <p:cNvSpPr/>
          <p:nvPr/>
        </p:nvSpPr>
        <p:spPr>
          <a:xfrm>
            <a:off x="6400800" y="2857500"/>
            <a:ext cx="2286000" cy="406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18803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750">
                <a:solidFill>
                  <a:srgbClr val="188038"/>
                </a:solidFill>
                <a:latin typeface="Noto Sans KR"/>
                <a:ea typeface="Noto Sans KR"/>
                <a:cs typeface="Noto Sans KR"/>
                <a:sym typeface="Noto Sans KR"/>
              </a:rPr>
              <a:t>상황 종료 요청</a:t>
            </a:r>
            <a:endParaRPr b="1" sz="750">
              <a:solidFill>
                <a:srgbClr val="188038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750">
                <a:solidFill>
                  <a:srgbClr val="188038"/>
                </a:solidFill>
                <a:latin typeface="Noto Sans KR"/>
                <a:ea typeface="Noto Sans KR"/>
                <a:cs typeface="Noto Sans KR"/>
                <a:sym typeface="Noto Sans KR"/>
              </a:rPr>
              <a:t>GUI → Server</a:t>
            </a:r>
            <a:endParaRPr sz="650">
              <a:solidFill>
                <a:srgbClr val="5F6368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05" name="Google Shape;505;p31"/>
          <p:cNvSpPr/>
          <p:nvPr/>
        </p:nvSpPr>
        <p:spPr>
          <a:xfrm>
            <a:off x="6400800" y="3378200"/>
            <a:ext cx="2286000" cy="406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18803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750">
                <a:solidFill>
                  <a:srgbClr val="188038"/>
                </a:solidFill>
                <a:latin typeface="Noto Sans KR"/>
                <a:ea typeface="Noto Sans KR"/>
                <a:cs typeface="Noto Sans KR"/>
                <a:sym typeface="Noto Sans KR"/>
              </a:rPr>
              <a:t>RESOLVED 저장·응답</a:t>
            </a:r>
            <a:endParaRPr b="1" sz="750">
              <a:solidFill>
                <a:srgbClr val="188038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750">
                <a:solidFill>
                  <a:srgbClr val="188038"/>
                </a:solidFill>
                <a:latin typeface="Noto Sans KR"/>
                <a:ea typeface="Noto Sans KR"/>
                <a:cs typeface="Noto Sans KR"/>
                <a:sym typeface="Noto Sans KR"/>
              </a:rPr>
              <a:t>Server → PostgreSQL → GUI</a:t>
            </a:r>
            <a:endParaRPr sz="650">
              <a:solidFill>
                <a:srgbClr val="5F6368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06" name="Google Shape;506;p31"/>
          <p:cNvSpPr/>
          <p:nvPr/>
        </p:nvSpPr>
        <p:spPr>
          <a:xfrm>
            <a:off x="6400800" y="3898900"/>
            <a:ext cx="2286000" cy="406500"/>
          </a:xfrm>
          <a:prstGeom prst="roundRect">
            <a:avLst>
              <a:gd fmla="val 16667" name="adj"/>
            </a:avLst>
          </a:prstGeom>
          <a:solidFill>
            <a:srgbClr val="188038"/>
          </a:solidFill>
          <a:ln cap="flat" cmpd="sng" w="12700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75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경고 해제 · 기록 유지</a:t>
            </a:r>
            <a:endParaRPr b="1" sz="75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75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영상 모니터링은 계속</a:t>
            </a:r>
            <a:endParaRPr sz="650">
              <a:solidFill>
                <a:srgbClr val="E6F4E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507" name="Google Shape;507;p31"/>
          <p:cNvCxnSpPr/>
          <p:nvPr/>
        </p:nvCxnSpPr>
        <p:spPr>
          <a:xfrm>
            <a:off x="7543800" y="2222500"/>
            <a:ext cx="0" cy="114300"/>
          </a:xfrm>
          <a:prstGeom prst="straightConnector1">
            <a:avLst/>
          </a:prstGeom>
          <a:noFill/>
          <a:ln cap="flat" cmpd="sng" w="12700">
            <a:solidFill>
              <a:srgbClr val="5F636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8" name="Google Shape;508;p31"/>
          <p:cNvCxnSpPr/>
          <p:nvPr/>
        </p:nvCxnSpPr>
        <p:spPr>
          <a:xfrm>
            <a:off x="7543800" y="2743200"/>
            <a:ext cx="0" cy="114300"/>
          </a:xfrm>
          <a:prstGeom prst="straightConnector1">
            <a:avLst/>
          </a:prstGeom>
          <a:noFill/>
          <a:ln cap="flat" cmpd="sng" w="12700">
            <a:solidFill>
              <a:srgbClr val="5F636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9" name="Google Shape;509;p31"/>
          <p:cNvCxnSpPr/>
          <p:nvPr/>
        </p:nvCxnSpPr>
        <p:spPr>
          <a:xfrm>
            <a:off x="7543800" y="3263900"/>
            <a:ext cx="0" cy="114300"/>
          </a:xfrm>
          <a:prstGeom prst="straightConnector1">
            <a:avLst/>
          </a:prstGeom>
          <a:noFill/>
          <a:ln cap="flat" cmpd="sng" w="12700">
            <a:solidFill>
              <a:srgbClr val="5F636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0" name="Google Shape;510;p31"/>
          <p:cNvCxnSpPr/>
          <p:nvPr/>
        </p:nvCxnSpPr>
        <p:spPr>
          <a:xfrm>
            <a:off x="7543800" y="3784600"/>
            <a:ext cx="0" cy="114300"/>
          </a:xfrm>
          <a:prstGeom prst="straightConnector1">
            <a:avLst/>
          </a:prstGeom>
          <a:noFill/>
          <a:ln cap="flat" cmpd="sng" w="12700">
            <a:solidFill>
              <a:srgbClr val="5F636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11" name="Google Shape;511;p31"/>
          <p:cNvSpPr txBox="1"/>
          <p:nvPr/>
        </p:nvSpPr>
        <p:spPr>
          <a:xfrm>
            <a:off x="7416800" y="4800600"/>
            <a:ext cx="1269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9AA0A6"/>
                </a:solidFill>
                <a:latin typeface="Noto Sans KR"/>
                <a:ea typeface="Noto Sans KR"/>
                <a:cs typeface="Noto Sans KR"/>
                <a:sym typeface="Noto Sans KR"/>
              </a:rPr>
              <a:t>19</a:t>
            </a:r>
            <a:r>
              <a:rPr lang="ko" sz="800">
                <a:solidFill>
                  <a:srgbClr val="9AA0A6"/>
                </a:solidFill>
                <a:latin typeface="Noto Sans KR"/>
                <a:ea typeface="Noto Sans KR"/>
                <a:cs typeface="Noto Sans KR"/>
                <a:sym typeface="Noto Sans KR"/>
              </a:rPr>
              <a:t> / </a:t>
            </a:r>
            <a:r>
              <a:rPr lang="ko" sz="800">
                <a:solidFill>
                  <a:srgbClr val="9AA0A6"/>
                </a:solidFill>
                <a:latin typeface="Noto Sans KR"/>
                <a:ea typeface="Noto Sans KR"/>
                <a:cs typeface="Noto Sans KR"/>
                <a:sym typeface="Noto Sans KR"/>
              </a:rPr>
              <a:t>27</a:t>
            </a:r>
            <a:endParaRPr sz="800">
              <a:solidFill>
                <a:srgbClr val="9AA0A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12" name="Google Shape;512;p31"/>
          <p:cNvSpPr txBox="1"/>
          <p:nvPr/>
        </p:nvSpPr>
        <p:spPr>
          <a:xfrm>
            <a:off x="457200" y="177800"/>
            <a:ext cx="4445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50">
                <a:solidFill>
                  <a:srgbClr val="1A73E8"/>
                </a:solidFill>
                <a:latin typeface="Noto Sans KR"/>
                <a:ea typeface="Noto Sans KR"/>
                <a:cs typeface="Noto Sans KR"/>
                <a:sym typeface="Noto Sans KR"/>
              </a:rPr>
              <a:t>03  기술 상세 2 - 쓰러짐 감지 모니터링</a:t>
            </a:r>
            <a:endParaRPr b="1" sz="950">
              <a:solidFill>
                <a:srgbClr val="1A73E8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13" name="Google Shape;513;p31"/>
          <p:cNvSpPr txBox="1"/>
          <p:nvPr/>
        </p:nvSpPr>
        <p:spPr>
          <a:xfrm>
            <a:off x="457200" y="485268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쓰러짐 감지 모니터링</a:t>
            </a:r>
            <a:endParaRPr b="1" sz="20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32"/>
          <p:cNvSpPr txBox="1"/>
          <p:nvPr/>
        </p:nvSpPr>
        <p:spPr>
          <a:xfrm>
            <a:off x="457200" y="4800600"/>
            <a:ext cx="5079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9AA0A6"/>
                </a:solidFill>
                <a:latin typeface="Noto Sans KR"/>
                <a:ea typeface="Noto Sans KR"/>
                <a:cs typeface="Noto Sans KR"/>
                <a:sym typeface="Noto Sans KR"/>
              </a:rPr>
              <a:t>T-Safe System · 요양시설 사고 감지 및 대응 모니터링 시스템</a:t>
            </a:r>
            <a:endParaRPr sz="800">
              <a:solidFill>
                <a:srgbClr val="9AA0A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19" name="Google Shape;519;p32"/>
          <p:cNvSpPr/>
          <p:nvPr/>
        </p:nvSpPr>
        <p:spPr>
          <a:xfrm>
            <a:off x="457200" y="1069000"/>
            <a:ext cx="1479900" cy="829500"/>
          </a:xfrm>
          <a:prstGeom prst="roundRect">
            <a:avLst>
              <a:gd fmla="val 16667" name="adj"/>
            </a:avLst>
          </a:prstGeom>
          <a:solidFill>
            <a:srgbClr val="F0F2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32"/>
          <p:cNvSpPr txBox="1"/>
          <p:nvPr/>
        </p:nvSpPr>
        <p:spPr>
          <a:xfrm>
            <a:off x="509200" y="1132800"/>
            <a:ext cx="13761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80">
                <a:solidFill>
                  <a:srgbClr val="242930"/>
                </a:solidFill>
                <a:latin typeface="Noto Sans KR"/>
                <a:ea typeface="Noto Sans KR"/>
                <a:cs typeface="Noto Sans KR"/>
                <a:sym typeface="Noto Sans KR"/>
              </a:rPr>
              <a:t>01  영상 입력</a:t>
            </a:r>
            <a:endParaRPr b="1" sz="1180">
              <a:solidFill>
                <a:srgbClr val="24293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21" name="Google Shape;521;p32"/>
          <p:cNvSpPr txBox="1"/>
          <p:nvPr/>
        </p:nvSpPr>
        <p:spPr>
          <a:xfrm>
            <a:off x="505200" y="1420325"/>
            <a:ext cx="13839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30">
                <a:solidFill>
                  <a:srgbClr val="636E7A"/>
                </a:solidFill>
                <a:latin typeface="Noto Sans KR"/>
                <a:ea typeface="Noto Sans KR"/>
                <a:cs typeface="Noto Sans KR"/>
                <a:sym typeface="Noto Sans KR"/>
              </a:rPr>
              <a:t>RTSP / CCTV</a:t>
            </a:r>
            <a:endParaRPr sz="1030">
              <a:solidFill>
                <a:srgbClr val="636E7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22" name="Google Shape;522;p32"/>
          <p:cNvSpPr txBox="1"/>
          <p:nvPr/>
        </p:nvSpPr>
        <p:spPr>
          <a:xfrm>
            <a:off x="1835300" y="1296000"/>
            <a:ext cx="189900" cy="2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C7211F"/>
                </a:solidFill>
                <a:latin typeface="Noto Sans KR"/>
                <a:ea typeface="Noto Sans KR"/>
                <a:cs typeface="Noto Sans KR"/>
                <a:sym typeface="Noto Sans KR"/>
              </a:rPr>
              <a:t>→</a:t>
            </a:r>
            <a:endParaRPr b="1" sz="1800">
              <a:solidFill>
                <a:srgbClr val="C7211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23" name="Google Shape;523;p32"/>
          <p:cNvSpPr/>
          <p:nvPr/>
        </p:nvSpPr>
        <p:spPr>
          <a:xfrm>
            <a:off x="2144600" y="1069000"/>
            <a:ext cx="1479900" cy="829500"/>
          </a:xfrm>
          <a:prstGeom prst="roundRect">
            <a:avLst>
              <a:gd fmla="val 16667" name="adj"/>
            </a:avLst>
          </a:prstGeom>
          <a:solidFill>
            <a:srgbClr val="FFEC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32"/>
          <p:cNvSpPr txBox="1"/>
          <p:nvPr/>
        </p:nvSpPr>
        <p:spPr>
          <a:xfrm>
            <a:off x="2196600" y="1132800"/>
            <a:ext cx="13761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80">
                <a:solidFill>
                  <a:srgbClr val="C7211F"/>
                </a:solidFill>
                <a:latin typeface="Noto Sans KR"/>
                <a:ea typeface="Noto Sans KR"/>
                <a:cs typeface="Noto Sans KR"/>
                <a:sym typeface="Noto Sans KR"/>
              </a:rPr>
              <a:t>02  인식 · 추적</a:t>
            </a:r>
            <a:endParaRPr b="1" sz="1180">
              <a:solidFill>
                <a:srgbClr val="C7211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25" name="Google Shape;525;p32"/>
          <p:cNvSpPr txBox="1"/>
          <p:nvPr/>
        </p:nvSpPr>
        <p:spPr>
          <a:xfrm>
            <a:off x="2192600" y="1420325"/>
            <a:ext cx="13839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30">
                <a:solidFill>
                  <a:srgbClr val="636E7A"/>
                </a:solidFill>
                <a:latin typeface="Noto Sans KR"/>
                <a:ea typeface="Noto Sans KR"/>
                <a:cs typeface="Noto Sans KR"/>
                <a:sym typeface="Noto Sans KR"/>
              </a:rPr>
              <a:t>YOLO Pose · ByteTrack</a:t>
            </a:r>
            <a:endParaRPr sz="1030">
              <a:solidFill>
                <a:srgbClr val="636E7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26" name="Google Shape;526;p32"/>
          <p:cNvSpPr txBox="1"/>
          <p:nvPr/>
        </p:nvSpPr>
        <p:spPr>
          <a:xfrm>
            <a:off x="3522700" y="1296000"/>
            <a:ext cx="189900" cy="2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C7211F"/>
                </a:solidFill>
                <a:latin typeface="Noto Sans KR"/>
                <a:ea typeface="Noto Sans KR"/>
                <a:cs typeface="Noto Sans KR"/>
                <a:sym typeface="Noto Sans KR"/>
              </a:rPr>
              <a:t>→</a:t>
            </a:r>
            <a:endParaRPr b="1" sz="1800">
              <a:solidFill>
                <a:srgbClr val="C7211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27" name="Google Shape;527;p32"/>
          <p:cNvSpPr/>
          <p:nvPr/>
        </p:nvSpPr>
        <p:spPr>
          <a:xfrm>
            <a:off x="3832000" y="1069000"/>
            <a:ext cx="1479900" cy="829500"/>
          </a:xfrm>
          <a:prstGeom prst="roundRect">
            <a:avLst>
              <a:gd fmla="val 16667" name="adj"/>
            </a:avLst>
          </a:prstGeom>
          <a:solidFill>
            <a:srgbClr val="F0F2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32"/>
          <p:cNvSpPr txBox="1"/>
          <p:nvPr/>
        </p:nvSpPr>
        <p:spPr>
          <a:xfrm>
            <a:off x="3884000" y="1132800"/>
            <a:ext cx="13761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80">
                <a:solidFill>
                  <a:srgbClr val="242930"/>
                </a:solidFill>
                <a:latin typeface="Noto Sans KR"/>
                <a:ea typeface="Noto Sans KR"/>
                <a:cs typeface="Noto Sans KR"/>
                <a:sym typeface="Noto Sans KR"/>
              </a:rPr>
              <a:t>03  시계열 구성</a:t>
            </a:r>
            <a:endParaRPr b="1" sz="1180">
              <a:solidFill>
                <a:srgbClr val="24293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29" name="Google Shape;529;p32"/>
          <p:cNvSpPr txBox="1"/>
          <p:nvPr/>
        </p:nvSpPr>
        <p:spPr>
          <a:xfrm>
            <a:off x="3880000" y="1420325"/>
            <a:ext cx="13839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30">
                <a:solidFill>
                  <a:srgbClr val="636E7A"/>
                </a:solidFill>
                <a:latin typeface="Noto Sans KR"/>
                <a:ea typeface="Noto Sans KR"/>
                <a:cs typeface="Noto Sans KR"/>
                <a:sym typeface="Noto Sans KR"/>
              </a:rPr>
              <a:t>Track ID · 48프레임</a:t>
            </a:r>
            <a:endParaRPr sz="1030">
              <a:solidFill>
                <a:srgbClr val="636E7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30" name="Google Shape;530;p32"/>
          <p:cNvSpPr txBox="1"/>
          <p:nvPr/>
        </p:nvSpPr>
        <p:spPr>
          <a:xfrm>
            <a:off x="5210100" y="1296000"/>
            <a:ext cx="189900" cy="2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C7211F"/>
                </a:solidFill>
                <a:latin typeface="Noto Sans KR"/>
                <a:ea typeface="Noto Sans KR"/>
                <a:cs typeface="Noto Sans KR"/>
                <a:sym typeface="Noto Sans KR"/>
              </a:rPr>
              <a:t>→</a:t>
            </a:r>
            <a:endParaRPr b="1" sz="1800">
              <a:solidFill>
                <a:srgbClr val="C7211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31" name="Google Shape;531;p32"/>
          <p:cNvSpPr/>
          <p:nvPr/>
        </p:nvSpPr>
        <p:spPr>
          <a:xfrm>
            <a:off x="5519400" y="1069000"/>
            <a:ext cx="1479900" cy="829500"/>
          </a:xfrm>
          <a:prstGeom prst="roundRect">
            <a:avLst>
              <a:gd fmla="val 16667" name="adj"/>
            </a:avLst>
          </a:prstGeom>
          <a:solidFill>
            <a:srgbClr val="FFEC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32"/>
          <p:cNvSpPr txBox="1"/>
          <p:nvPr/>
        </p:nvSpPr>
        <p:spPr>
          <a:xfrm>
            <a:off x="5571400" y="1132800"/>
            <a:ext cx="13761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80">
                <a:solidFill>
                  <a:srgbClr val="C7211F"/>
                </a:solidFill>
                <a:latin typeface="Noto Sans KR"/>
                <a:ea typeface="Noto Sans KR"/>
                <a:cs typeface="Noto Sans KR"/>
                <a:sym typeface="Noto Sans KR"/>
              </a:rPr>
              <a:t>04  행동 판정</a:t>
            </a:r>
            <a:endParaRPr b="1" sz="1180">
              <a:solidFill>
                <a:srgbClr val="C7211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33" name="Google Shape;533;p32"/>
          <p:cNvSpPr txBox="1"/>
          <p:nvPr/>
        </p:nvSpPr>
        <p:spPr>
          <a:xfrm>
            <a:off x="5568700" y="1420325"/>
            <a:ext cx="13839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30">
                <a:solidFill>
                  <a:srgbClr val="636E7A"/>
                </a:solidFill>
                <a:latin typeface="Noto Sans KR"/>
                <a:ea typeface="Noto Sans KR"/>
                <a:cs typeface="Noto Sans KR"/>
                <a:sym typeface="Noto Sans KR"/>
              </a:rPr>
              <a:t>PoseC3D falling</a:t>
            </a:r>
            <a:endParaRPr sz="1030">
              <a:solidFill>
                <a:srgbClr val="636E7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34" name="Google Shape;534;p32"/>
          <p:cNvSpPr txBox="1"/>
          <p:nvPr/>
        </p:nvSpPr>
        <p:spPr>
          <a:xfrm>
            <a:off x="6897500" y="1296000"/>
            <a:ext cx="189900" cy="2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C7211F"/>
                </a:solidFill>
                <a:latin typeface="Noto Sans KR"/>
                <a:ea typeface="Noto Sans KR"/>
                <a:cs typeface="Noto Sans KR"/>
                <a:sym typeface="Noto Sans KR"/>
              </a:rPr>
              <a:t>→</a:t>
            </a:r>
            <a:endParaRPr b="1" sz="1800">
              <a:solidFill>
                <a:srgbClr val="C7211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35" name="Google Shape;535;p32"/>
          <p:cNvSpPr/>
          <p:nvPr/>
        </p:nvSpPr>
        <p:spPr>
          <a:xfrm>
            <a:off x="7206800" y="1069000"/>
            <a:ext cx="1479900" cy="829500"/>
          </a:xfrm>
          <a:prstGeom prst="roundRect">
            <a:avLst>
              <a:gd fmla="val 16667" name="adj"/>
            </a:avLst>
          </a:prstGeom>
          <a:solidFill>
            <a:srgbClr val="C721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32"/>
          <p:cNvSpPr txBox="1"/>
          <p:nvPr/>
        </p:nvSpPr>
        <p:spPr>
          <a:xfrm>
            <a:off x="7258800" y="1132800"/>
            <a:ext cx="13761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8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05  사건 판단</a:t>
            </a:r>
            <a:endParaRPr b="1" sz="118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37" name="Google Shape;537;p32"/>
          <p:cNvSpPr txBox="1"/>
          <p:nvPr/>
        </p:nvSpPr>
        <p:spPr>
          <a:xfrm>
            <a:off x="7254800" y="1420325"/>
            <a:ext cx="13839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3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FSM · 확정 / 유지</a:t>
            </a:r>
            <a:endParaRPr sz="103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38" name="Google Shape;538;p32"/>
          <p:cNvSpPr/>
          <p:nvPr/>
        </p:nvSpPr>
        <p:spPr>
          <a:xfrm>
            <a:off x="457200" y="2380000"/>
            <a:ext cx="3950100" cy="560100"/>
          </a:xfrm>
          <a:prstGeom prst="roundRect">
            <a:avLst>
              <a:gd fmla="val 16667" name="adj"/>
            </a:avLst>
          </a:prstGeom>
          <a:solidFill>
            <a:srgbClr val="F9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32"/>
          <p:cNvSpPr/>
          <p:nvPr/>
        </p:nvSpPr>
        <p:spPr>
          <a:xfrm>
            <a:off x="4670000" y="2380000"/>
            <a:ext cx="4020000" cy="560100"/>
          </a:xfrm>
          <a:prstGeom prst="roundRect">
            <a:avLst>
              <a:gd fmla="val 16667" name="adj"/>
            </a:avLst>
          </a:prstGeom>
          <a:solidFill>
            <a:srgbClr val="FFEC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32"/>
          <p:cNvSpPr txBox="1"/>
          <p:nvPr/>
        </p:nvSpPr>
        <p:spPr>
          <a:xfrm>
            <a:off x="545000" y="2389250"/>
            <a:ext cx="3650100" cy="2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50">
                <a:solidFill>
                  <a:srgbClr val="242930"/>
                </a:solidFill>
                <a:latin typeface="Noto Sans KR"/>
                <a:ea typeface="Noto Sans KR"/>
                <a:cs typeface="Noto Sans KR"/>
                <a:sym typeface="Noto Sans KR"/>
              </a:rPr>
              <a:t>Normal </a:t>
            </a:r>
            <a:endParaRPr b="1" sz="1250">
              <a:solidFill>
                <a:srgbClr val="24293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41" name="Google Shape;541;p32"/>
          <p:cNvSpPr txBox="1"/>
          <p:nvPr/>
        </p:nvSpPr>
        <p:spPr>
          <a:xfrm>
            <a:off x="545000" y="2629250"/>
            <a:ext cx="3650100" cy="1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60">
                <a:solidFill>
                  <a:srgbClr val="636E7A"/>
                </a:solidFill>
                <a:latin typeface="Noto Sans KR"/>
                <a:ea typeface="Noto Sans KR"/>
                <a:cs typeface="Noto Sans KR"/>
                <a:sym typeface="Noto Sans KR"/>
              </a:rPr>
              <a:t>판단 보류 · 모니터링 지속</a:t>
            </a:r>
            <a:endParaRPr sz="1060">
              <a:solidFill>
                <a:srgbClr val="636E7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42" name="Google Shape;542;p32"/>
          <p:cNvSpPr txBox="1"/>
          <p:nvPr/>
        </p:nvSpPr>
        <p:spPr>
          <a:xfrm>
            <a:off x="4772875" y="2360988"/>
            <a:ext cx="3600000" cy="2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50">
                <a:solidFill>
                  <a:srgbClr val="C7211F"/>
                </a:solidFill>
                <a:latin typeface="Noto Sans KR"/>
                <a:ea typeface="Noto Sans KR"/>
                <a:cs typeface="Noto Sans KR"/>
                <a:sym typeface="Noto Sans KR"/>
              </a:rPr>
              <a:t>Fall</a:t>
            </a:r>
            <a:endParaRPr b="1" sz="1250">
              <a:solidFill>
                <a:srgbClr val="C7211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43" name="Google Shape;543;p32"/>
          <p:cNvSpPr txBox="1"/>
          <p:nvPr/>
        </p:nvSpPr>
        <p:spPr>
          <a:xfrm>
            <a:off x="4772875" y="2613859"/>
            <a:ext cx="3600000" cy="1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60">
                <a:solidFill>
                  <a:srgbClr val="242930"/>
                </a:solidFill>
                <a:latin typeface="Noto Sans KR"/>
                <a:ea typeface="Noto Sans KR"/>
                <a:cs typeface="Noto Sans KR"/>
                <a:sym typeface="Noto Sans KR"/>
              </a:rPr>
              <a:t>사고 기록 · 관리자 GUI 알림</a:t>
            </a:r>
            <a:endParaRPr sz="1060">
              <a:solidFill>
                <a:srgbClr val="24293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44" name="Google Shape;544;p32"/>
          <p:cNvSpPr/>
          <p:nvPr/>
        </p:nvSpPr>
        <p:spPr>
          <a:xfrm>
            <a:off x="457200" y="3038750"/>
            <a:ext cx="8229900" cy="15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32"/>
          <p:cNvSpPr/>
          <p:nvPr/>
        </p:nvSpPr>
        <p:spPr>
          <a:xfrm>
            <a:off x="457200" y="3167500"/>
            <a:ext cx="605100" cy="270000"/>
          </a:xfrm>
          <a:prstGeom prst="roundRect">
            <a:avLst>
              <a:gd fmla="val 16667" name="adj"/>
            </a:avLst>
          </a:prstGeom>
          <a:solidFill>
            <a:srgbClr val="FFEC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32"/>
          <p:cNvSpPr txBox="1"/>
          <p:nvPr/>
        </p:nvSpPr>
        <p:spPr>
          <a:xfrm>
            <a:off x="539200" y="3133000"/>
            <a:ext cx="560100" cy="1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20">
                <a:solidFill>
                  <a:srgbClr val="C7211F"/>
                </a:solidFill>
                <a:latin typeface="Noto Sans KR"/>
                <a:ea typeface="Noto Sans KR"/>
                <a:cs typeface="Noto Sans KR"/>
                <a:sym typeface="Noto Sans KR"/>
              </a:rPr>
              <a:t>인식</a:t>
            </a:r>
            <a:endParaRPr b="1" sz="1120">
              <a:solidFill>
                <a:srgbClr val="C7211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47" name="Google Shape;547;p32"/>
          <p:cNvSpPr txBox="1"/>
          <p:nvPr/>
        </p:nvSpPr>
        <p:spPr>
          <a:xfrm>
            <a:off x="1220000" y="3122000"/>
            <a:ext cx="74601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40">
                <a:solidFill>
                  <a:srgbClr val="242930"/>
                </a:solidFill>
                <a:latin typeface="Noto Sans KR"/>
                <a:ea typeface="Noto Sans KR"/>
                <a:cs typeface="Noto Sans KR"/>
                <a:sym typeface="Noto Sans KR"/>
              </a:rPr>
              <a:t>CCTV/RTSP 입력 → YOLO Pose 관절 추출 · ByteTrack으로 인물 추적</a:t>
            </a:r>
            <a:endParaRPr sz="1140">
              <a:solidFill>
                <a:srgbClr val="24293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48" name="Google Shape;548;p32"/>
          <p:cNvSpPr/>
          <p:nvPr/>
        </p:nvSpPr>
        <p:spPr>
          <a:xfrm>
            <a:off x="457200" y="3502500"/>
            <a:ext cx="605100" cy="270000"/>
          </a:xfrm>
          <a:prstGeom prst="roundRect">
            <a:avLst>
              <a:gd fmla="val 16667" name="adj"/>
            </a:avLst>
          </a:prstGeom>
          <a:solidFill>
            <a:srgbClr val="FFEC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32"/>
          <p:cNvSpPr txBox="1"/>
          <p:nvPr/>
        </p:nvSpPr>
        <p:spPr>
          <a:xfrm>
            <a:off x="539200" y="3468000"/>
            <a:ext cx="560100" cy="1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20">
                <a:solidFill>
                  <a:srgbClr val="C7211F"/>
                </a:solidFill>
                <a:latin typeface="Noto Sans KR"/>
                <a:ea typeface="Noto Sans KR"/>
                <a:cs typeface="Noto Sans KR"/>
                <a:sym typeface="Noto Sans KR"/>
              </a:rPr>
              <a:t>특징</a:t>
            </a:r>
            <a:endParaRPr b="1" sz="1120">
              <a:solidFill>
                <a:srgbClr val="C7211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50" name="Google Shape;550;p32"/>
          <p:cNvSpPr txBox="1"/>
          <p:nvPr/>
        </p:nvSpPr>
        <p:spPr>
          <a:xfrm>
            <a:off x="1220000" y="3457000"/>
            <a:ext cx="74601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40">
                <a:solidFill>
                  <a:srgbClr val="242930"/>
                </a:solidFill>
                <a:latin typeface="Noto Sans KR"/>
                <a:ea typeface="Noto Sans KR"/>
                <a:cs typeface="Noto Sans KR"/>
                <a:sym typeface="Noto Sans KR"/>
              </a:rPr>
              <a:t>Track ID별 관절을 48프레임 시계열로 구성</a:t>
            </a:r>
            <a:endParaRPr sz="1140">
              <a:solidFill>
                <a:srgbClr val="24293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51" name="Google Shape;551;p32"/>
          <p:cNvSpPr/>
          <p:nvPr/>
        </p:nvSpPr>
        <p:spPr>
          <a:xfrm>
            <a:off x="457200" y="3837500"/>
            <a:ext cx="605100" cy="270000"/>
          </a:xfrm>
          <a:prstGeom prst="roundRect">
            <a:avLst>
              <a:gd fmla="val 16667" name="adj"/>
            </a:avLst>
          </a:prstGeom>
          <a:solidFill>
            <a:srgbClr val="FFEC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32"/>
          <p:cNvSpPr txBox="1"/>
          <p:nvPr/>
        </p:nvSpPr>
        <p:spPr>
          <a:xfrm>
            <a:off x="539200" y="3803000"/>
            <a:ext cx="560100" cy="1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20">
                <a:solidFill>
                  <a:srgbClr val="C7211F"/>
                </a:solidFill>
                <a:latin typeface="Noto Sans KR"/>
                <a:ea typeface="Noto Sans KR"/>
                <a:cs typeface="Noto Sans KR"/>
                <a:sym typeface="Noto Sans KR"/>
              </a:rPr>
              <a:t>판단</a:t>
            </a:r>
            <a:endParaRPr b="1" sz="1120">
              <a:solidFill>
                <a:srgbClr val="C7211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53" name="Google Shape;553;p32"/>
          <p:cNvSpPr txBox="1"/>
          <p:nvPr/>
        </p:nvSpPr>
        <p:spPr>
          <a:xfrm>
            <a:off x="1220000" y="3792000"/>
            <a:ext cx="74601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40">
                <a:solidFill>
                  <a:srgbClr val="242930"/>
                </a:solidFill>
                <a:latin typeface="Noto Sans KR"/>
                <a:ea typeface="Noto Sans KR"/>
                <a:cs typeface="Noto Sans KR"/>
                <a:sym typeface="Noto Sans KR"/>
              </a:rPr>
              <a:t>PoseC3D의 falling 점수와 FSM의 자세 전이·지속 조건 결합</a:t>
            </a:r>
            <a:endParaRPr sz="1140">
              <a:solidFill>
                <a:srgbClr val="24293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54" name="Google Shape;554;p32"/>
          <p:cNvSpPr/>
          <p:nvPr/>
        </p:nvSpPr>
        <p:spPr>
          <a:xfrm>
            <a:off x="457200" y="4172500"/>
            <a:ext cx="605100" cy="270000"/>
          </a:xfrm>
          <a:prstGeom prst="roundRect">
            <a:avLst>
              <a:gd fmla="val 16667" name="adj"/>
            </a:avLst>
          </a:prstGeom>
          <a:solidFill>
            <a:srgbClr val="FFEC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32"/>
          <p:cNvSpPr txBox="1"/>
          <p:nvPr/>
        </p:nvSpPr>
        <p:spPr>
          <a:xfrm>
            <a:off x="539200" y="4138000"/>
            <a:ext cx="560100" cy="1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20">
                <a:solidFill>
                  <a:srgbClr val="C7211F"/>
                </a:solidFill>
                <a:latin typeface="Noto Sans KR"/>
                <a:ea typeface="Noto Sans KR"/>
                <a:cs typeface="Noto Sans KR"/>
                <a:sym typeface="Noto Sans KR"/>
              </a:rPr>
              <a:t>결정</a:t>
            </a:r>
            <a:endParaRPr b="1" sz="1120">
              <a:solidFill>
                <a:srgbClr val="C7211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56" name="Google Shape;556;p32"/>
          <p:cNvSpPr txBox="1"/>
          <p:nvPr/>
        </p:nvSpPr>
        <p:spPr>
          <a:xfrm>
            <a:off x="1220000" y="4127000"/>
            <a:ext cx="74601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40">
                <a:solidFill>
                  <a:srgbClr val="242930"/>
                </a:solidFill>
                <a:latin typeface="Noto Sans KR"/>
                <a:ea typeface="Noto Sans KR"/>
                <a:cs typeface="Noto Sans KR"/>
                <a:sym typeface="Noto Sans KR"/>
              </a:rPr>
              <a:t>확정 시 사고 이벤트를 서버 전달</a:t>
            </a:r>
            <a:endParaRPr sz="1140">
              <a:solidFill>
                <a:srgbClr val="24293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57" name="Google Shape;557;p32"/>
          <p:cNvSpPr txBox="1"/>
          <p:nvPr/>
        </p:nvSpPr>
        <p:spPr>
          <a:xfrm>
            <a:off x="7416800" y="4800600"/>
            <a:ext cx="1269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9AA0A6"/>
                </a:solidFill>
                <a:latin typeface="Noto Sans KR"/>
                <a:ea typeface="Noto Sans KR"/>
                <a:cs typeface="Noto Sans KR"/>
                <a:sym typeface="Noto Sans KR"/>
              </a:rPr>
              <a:t>20</a:t>
            </a:r>
            <a:r>
              <a:rPr lang="ko" sz="800">
                <a:solidFill>
                  <a:srgbClr val="9AA0A6"/>
                </a:solidFill>
                <a:latin typeface="Noto Sans KR"/>
                <a:ea typeface="Noto Sans KR"/>
                <a:cs typeface="Noto Sans KR"/>
                <a:sym typeface="Noto Sans KR"/>
              </a:rPr>
              <a:t> / </a:t>
            </a:r>
            <a:r>
              <a:rPr lang="ko" sz="800">
                <a:solidFill>
                  <a:srgbClr val="9AA0A6"/>
                </a:solidFill>
                <a:latin typeface="Noto Sans KR"/>
                <a:ea typeface="Noto Sans KR"/>
                <a:cs typeface="Noto Sans KR"/>
                <a:sym typeface="Noto Sans KR"/>
              </a:rPr>
              <a:t>27</a:t>
            </a:r>
            <a:endParaRPr sz="800">
              <a:solidFill>
                <a:srgbClr val="9AA0A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58" name="Google Shape;558;p32"/>
          <p:cNvSpPr txBox="1"/>
          <p:nvPr/>
        </p:nvSpPr>
        <p:spPr>
          <a:xfrm>
            <a:off x="457200" y="177800"/>
            <a:ext cx="4445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50">
                <a:solidFill>
                  <a:srgbClr val="1A73E8"/>
                </a:solidFill>
                <a:latin typeface="Noto Sans KR"/>
                <a:ea typeface="Noto Sans KR"/>
                <a:cs typeface="Noto Sans KR"/>
                <a:sym typeface="Noto Sans KR"/>
              </a:rPr>
              <a:t>03  기술 상세 2 - 쓰러짐 감지 모니터링</a:t>
            </a:r>
            <a:endParaRPr b="1" sz="950">
              <a:solidFill>
                <a:srgbClr val="1A73E8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59" name="Google Shape;559;p32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행동 판정 구조 </a:t>
            </a:r>
            <a:endParaRPr b="1" sz="20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33"/>
          <p:cNvSpPr txBox="1"/>
          <p:nvPr/>
        </p:nvSpPr>
        <p:spPr>
          <a:xfrm>
            <a:off x="420000" y="416958"/>
            <a:ext cx="65001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rgbClr val="0B1328"/>
                </a:solidFill>
              </a:rPr>
              <a:t>출입 관리 시스템</a:t>
            </a:r>
            <a:endParaRPr b="1" sz="2000">
              <a:solidFill>
                <a:srgbClr val="0B1328"/>
              </a:solidFill>
            </a:endParaRPr>
          </a:p>
        </p:txBody>
      </p:sp>
      <p:sp>
        <p:nvSpPr>
          <p:cNvPr id="565" name="Google Shape;565;p33"/>
          <p:cNvSpPr txBox="1"/>
          <p:nvPr/>
        </p:nvSpPr>
        <p:spPr>
          <a:xfrm>
            <a:off x="460050" y="850993"/>
            <a:ext cx="81999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33435E"/>
                </a:solidFill>
              </a:rPr>
              <a:t>카메라가 얼굴을 추적하고, 등록 인원과 출입 권한을 확인한 뒤 출입문을 제어</a:t>
            </a:r>
            <a:endParaRPr sz="1200">
              <a:solidFill>
                <a:srgbClr val="33435E"/>
              </a:solidFill>
            </a:endParaRPr>
          </a:p>
        </p:txBody>
      </p:sp>
      <p:sp>
        <p:nvSpPr>
          <p:cNvPr id="566" name="Google Shape;566;p33"/>
          <p:cNvSpPr/>
          <p:nvPr/>
        </p:nvSpPr>
        <p:spPr>
          <a:xfrm>
            <a:off x="460000" y="1311297"/>
            <a:ext cx="2570100" cy="2780100"/>
          </a:xfrm>
          <a:prstGeom prst="roundRect">
            <a:avLst>
              <a:gd fmla="val 16667" name="adj"/>
            </a:avLst>
          </a:prstGeom>
          <a:solidFill>
            <a:srgbClr val="EB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33"/>
          <p:cNvSpPr/>
          <p:nvPr/>
        </p:nvSpPr>
        <p:spPr>
          <a:xfrm>
            <a:off x="460000" y="1311297"/>
            <a:ext cx="2570100" cy="390000"/>
          </a:xfrm>
          <a:prstGeom prst="roundRect">
            <a:avLst>
              <a:gd fmla="val 16667" name="adj"/>
            </a:avLst>
          </a:prstGeom>
          <a:solidFill>
            <a:srgbClr val="1675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33"/>
          <p:cNvSpPr txBox="1"/>
          <p:nvPr/>
        </p:nvSpPr>
        <p:spPr>
          <a:xfrm>
            <a:off x="550000" y="1369269"/>
            <a:ext cx="23901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600">
                <a:solidFill>
                  <a:srgbClr val="FFFFFF"/>
                </a:solidFill>
              </a:rPr>
              <a:t>얼굴 추적</a:t>
            </a:r>
            <a:endParaRPr b="1" sz="1600">
              <a:solidFill>
                <a:srgbClr val="FFFFFF"/>
              </a:solidFill>
            </a:endParaRPr>
          </a:p>
        </p:txBody>
      </p:sp>
      <p:sp>
        <p:nvSpPr>
          <p:cNvPr id="569" name="Google Shape;569;p33"/>
          <p:cNvSpPr/>
          <p:nvPr/>
        </p:nvSpPr>
        <p:spPr>
          <a:xfrm>
            <a:off x="565000" y="1781297"/>
            <a:ext cx="2360100" cy="654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33"/>
          <p:cNvSpPr/>
          <p:nvPr/>
        </p:nvSpPr>
        <p:spPr>
          <a:xfrm>
            <a:off x="680000" y="2006297"/>
            <a:ext cx="324900" cy="234900"/>
          </a:xfrm>
          <a:prstGeom prst="roundRect">
            <a:avLst>
              <a:gd fmla="val 16667" name="adj"/>
            </a:avLst>
          </a:prstGeom>
          <a:solidFill>
            <a:srgbClr val="EB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33"/>
          <p:cNvSpPr txBox="1"/>
          <p:nvPr/>
        </p:nvSpPr>
        <p:spPr>
          <a:xfrm>
            <a:off x="685000" y="2016297"/>
            <a:ext cx="3120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126AD5"/>
                </a:solidFill>
              </a:rPr>
              <a:t>1</a:t>
            </a:r>
            <a:endParaRPr b="1" sz="1100">
              <a:solidFill>
                <a:srgbClr val="126AD5"/>
              </a:solidFill>
            </a:endParaRPr>
          </a:p>
        </p:txBody>
      </p:sp>
      <p:sp>
        <p:nvSpPr>
          <p:cNvPr id="572" name="Google Shape;572;p33"/>
          <p:cNvSpPr txBox="1"/>
          <p:nvPr/>
        </p:nvSpPr>
        <p:spPr>
          <a:xfrm>
            <a:off x="1060000" y="1920212"/>
            <a:ext cx="1659900" cy="21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rgbClr val="126AD5"/>
                </a:solidFill>
              </a:rPr>
              <a:t>출입 카메라</a:t>
            </a:r>
            <a:endParaRPr b="1">
              <a:solidFill>
                <a:srgbClr val="126AD5"/>
              </a:solidFill>
            </a:endParaRPr>
          </a:p>
        </p:txBody>
      </p:sp>
      <p:sp>
        <p:nvSpPr>
          <p:cNvPr id="573" name="Google Shape;573;p33"/>
          <p:cNvSpPr txBox="1"/>
          <p:nvPr/>
        </p:nvSpPr>
        <p:spPr>
          <a:xfrm>
            <a:off x="1060000" y="2133255"/>
            <a:ext cx="16500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435269"/>
                </a:solidFill>
              </a:rPr>
              <a:t>방문자의 얼굴과 움직임 촬영</a:t>
            </a:r>
            <a:endParaRPr sz="800">
              <a:solidFill>
                <a:srgbClr val="435269"/>
              </a:solidFill>
            </a:endParaRPr>
          </a:p>
        </p:txBody>
      </p:sp>
      <p:sp>
        <p:nvSpPr>
          <p:cNvPr id="574" name="Google Shape;574;p33"/>
          <p:cNvSpPr/>
          <p:nvPr/>
        </p:nvSpPr>
        <p:spPr>
          <a:xfrm>
            <a:off x="565000" y="2531297"/>
            <a:ext cx="2360100" cy="654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33"/>
          <p:cNvSpPr/>
          <p:nvPr/>
        </p:nvSpPr>
        <p:spPr>
          <a:xfrm>
            <a:off x="680000" y="2756297"/>
            <a:ext cx="324900" cy="234900"/>
          </a:xfrm>
          <a:prstGeom prst="roundRect">
            <a:avLst>
              <a:gd fmla="val 16667" name="adj"/>
            </a:avLst>
          </a:prstGeom>
          <a:solidFill>
            <a:srgbClr val="EB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33"/>
          <p:cNvSpPr txBox="1"/>
          <p:nvPr/>
        </p:nvSpPr>
        <p:spPr>
          <a:xfrm>
            <a:off x="685000" y="2766297"/>
            <a:ext cx="3120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126AD5"/>
                </a:solidFill>
              </a:rPr>
              <a:t>2</a:t>
            </a:r>
            <a:endParaRPr b="1" sz="1100">
              <a:solidFill>
                <a:srgbClr val="126AD5"/>
              </a:solidFill>
            </a:endParaRPr>
          </a:p>
        </p:txBody>
      </p:sp>
      <p:sp>
        <p:nvSpPr>
          <p:cNvPr id="577" name="Google Shape;577;p33"/>
          <p:cNvSpPr txBox="1"/>
          <p:nvPr/>
        </p:nvSpPr>
        <p:spPr>
          <a:xfrm>
            <a:off x="1060000" y="2670212"/>
            <a:ext cx="1659900" cy="21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rgbClr val="126AD5"/>
                </a:solidFill>
              </a:rPr>
              <a:t>얼굴 위치 검출</a:t>
            </a:r>
            <a:endParaRPr b="1">
              <a:solidFill>
                <a:srgbClr val="126AD5"/>
              </a:solidFill>
            </a:endParaRPr>
          </a:p>
        </p:txBody>
      </p:sp>
      <p:sp>
        <p:nvSpPr>
          <p:cNvPr id="578" name="Google Shape;578;p33"/>
          <p:cNvSpPr txBox="1"/>
          <p:nvPr/>
        </p:nvSpPr>
        <p:spPr>
          <a:xfrm>
            <a:off x="1060000" y="2883255"/>
            <a:ext cx="16500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435269"/>
                </a:solidFill>
              </a:rPr>
              <a:t>얼굴 중심 위치를 인식하여 추적</a:t>
            </a:r>
            <a:endParaRPr sz="800">
              <a:solidFill>
                <a:srgbClr val="435269"/>
              </a:solidFill>
            </a:endParaRPr>
          </a:p>
        </p:txBody>
      </p:sp>
      <p:sp>
        <p:nvSpPr>
          <p:cNvPr id="579" name="Google Shape;579;p33"/>
          <p:cNvSpPr/>
          <p:nvPr/>
        </p:nvSpPr>
        <p:spPr>
          <a:xfrm>
            <a:off x="565000" y="3281297"/>
            <a:ext cx="2360100" cy="654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33"/>
          <p:cNvSpPr/>
          <p:nvPr/>
        </p:nvSpPr>
        <p:spPr>
          <a:xfrm>
            <a:off x="680000" y="3506297"/>
            <a:ext cx="324900" cy="234900"/>
          </a:xfrm>
          <a:prstGeom prst="roundRect">
            <a:avLst>
              <a:gd fmla="val 16667" name="adj"/>
            </a:avLst>
          </a:prstGeom>
          <a:solidFill>
            <a:srgbClr val="EB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33"/>
          <p:cNvSpPr txBox="1"/>
          <p:nvPr/>
        </p:nvSpPr>
        <p:spPr>
          <a:xfrm>
            <a:off x="685000" y="3516297"/>
            <a:ext cx="3120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126AD5"/>
                </a:solidFill>
              </a:rPr>
              <a:t>3</a:t>
            </a:r>
            <a:endParaRPr b="1" sz="1100">
              <a:solidFill>
                <a:srgbClr val="126AD5"/>
              </a:solidFill>
            </a:endParaRPr>
          </a:p>
        </p:txBody>
      </p:sp>
      <p:sp>
        <p:nvSpPr>
          <p:cNvPr id="582" name="Google Shape;582;p33"/>
          <p:cNvSpPr txBox="1"/>
          <p:nvPr/>
        </p:nvSpPr>
        <p:spPr>
          <a:xfrm>
            <a:off x="1060000" y="3420212"/>
            <a:ext cx="1659900" cy="21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rgbClr val="126AD5"/>
                </a:solidFill>
              </a:rPr>
              <a:t>팬·틸트 모터 제어</a:t>
            </a:r>
            <a:endParaRPr b="1">
              <a:solidFill>
                <a:srgbClr val="126AD5"/>
              </a:solidFill>
            </a:endParaRPr>
          </a:p>
        </p:txBody>
      </p:sp>
      <p:sp>
        <p:nvSpPr>
          <p:cNvPr id="583" name="Google Shape;583;p33"/>
          <p:cNvSpPr txBox="1"/>
          <p:nvPr/>
        </p:nvSpPr>
        <p:spPr>
          <a:xfrm>
            <a:off x="1060000" y="3633255"/>
            <a:ext cx="16500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435269"/>
                </a:solidFill>
              </a:rPr>
              <a:t>카메라 방향을 조절해 얼굴 추적</a:t>
            </a:r>
            <a:endParaRPr sz="800">
              <a:solidFill>
                <a:srgbClr val="435269"/>
              </a:solidFill>
            </a:endParaRPr>
          </a:p>
        </p:txBody>
      </p:sp>
      <p:sp>
        <p:nvSpPr>
          <p:cNvPr id="584" name="Google Shape;584;p33"/>
          <p:cNvSpPr/>
          <p:nvPr/>
        </p:nvSpPr>
        <p:spPr>
          <a:xfrm>
            <a:off x="3340000" y="1311297"/>
            <a:ext cx="2570100" cy="2780100"/>
          </a:xfrm>
          <a:prstGeom prst="roundRect">
            <a:avLst>
              <a:gd fmla="val 16667" name="adj"/>
            </a:avLst>
          </a:prstGeom>
          <a:solidFill>
            <a:srgbClr val="F0F0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33"/>
          <p:cNvSpPr/>
          <p:nvPr/>
        </p:nvSpPr>
        <p:spPr>
          <a:xfrm>
            <a:off x="3340000" y="1311297"/>
            <a:ext cx="2570100" cy="390000"/>
          </a:xfrm>
          <a:prstGeom prst="roundRect">
            <a:avLst>
              <a:gd fmla="val 16667" name="adj"/>
            </a:avLst>
          </a:prstGeom>
          <a:solidFill>
            <a:srgbClr val="6268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33"/>
          <p:cNvSpPr txBox="1"/>
          <p:nvPr/>
        </p:nvSpPr>
        <p:spPr>
          <a:xfrm>
            <a:off x="3430000" y="1369269"/>
            <a:ext cx="23901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600">
                <a:solidFill>
                  <a:srgbClr val="FFFFFF"/>
                </a:solidFill>
              </a:rPr>
              <a:t>신원 확인</a:t>
            </a:r>
            <a:endParaRPr b="1" sz="1600">
              <a:solidFill>
                <a:srgbClr val="FFFFFF"/>
              </a:solidFill>
            </a:endParaRPr>
          </a:p>
        </p:txBody>
      </p:sp>
      <p:sp>
        <p:nvSpPr>
          <p:cNvPr id="587" name="Google Shape;587;p33"/>
          <p:cNvSpPr/>
          <p:nvPr/>
        </p:nvSpPr>
        <p:spPr>
          <a:xfrm>
            <a:off x="3445000" y="1781297"/>
            <a:ext cx="2360100" cy="654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33"/>
          <p:cNvSpPr/>
          <p:nvPr/>
        </p:nvSpPr>
        <p:spPr>
          <a:xfrm>
            <a:off x="3560000" y="2006297"/>
            <a:ext cx="324900" cy="234900"/>
          </a:xfrm>
          <a:prstGeom prst="roundRect">
            <a:avLst>
              <a:gd fmla="val 16667" name="adj"/>
            </a:avLst>
          </a:prstGeom>
          <a:solidFill>
            <a:srgbClr val="F0F0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33"/>
          <p:cNvSpPr txBox="1"/>
          <p:nvPr/>
        </p:nvSpPr>
        <p:spPr>
          <a:xfrm>
            <a:off x="3565000" y="2016297"/>
            <a:ext cx="3120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4F55B2"/>
                </a:solidFill>
              </a:rPr>
              <a:t>1</a:t>
            </a:r>
            <a:endParaRPr b="1" sz="1100">
              <a:solidFill>
                <a:srgbClr val="4F55B2"/>
              </a:solidFill>
            </a:endParaRPr>
          </a:p>
        </p:txBody>
      </p:sp>
      <p:sp>
        <p:nvSpPr>
          <p:cNvPr id="590" name="Google Shape;590;p33"/>
          <p:cNvSpPr txBox="1"/>
          <p:nvPr/>
        </p:nvSpPr>
        <p:spPr>
          <a:xfrm>
            <a:off x="3940000" y="1920212"/>
            <a:ext cx="1659900" cy="21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rgbClr val="4F55B2"/>
                </a:solidFill>
              </a:rPr>
              <a:t>정면 얼굴 확보</a:t>
            </a:r>
            <a:endParaRPr b="1">
              <a:solidFill>
                <a:srgbClr val="4F55B2"/>
              </a:solidFill>
            </a:endParaRPr>
          </a:p>
        </p:txBody>
      </p:sp>
      <p:sp>
        <p:nvSpPr>
          <p:cNvPr id="591" name="Google Shape;591;p33"/>
          <p:cNvSpPr txBox="1"/>
          <p:nvPr/>
        </p:nvSpPr>
        <p:spPr>
          <a:xfrm>
            <a:off x="3940000" y="2133255"/>
            <a:ext cx="16500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435269"/>
                </a:solidFill>
              </a:rPr>
              <a:t>정면에 가까운 얼굴 이미지 획득</a:t>
            </a:r>
            <a:endParaRPr sz="800">
              <a:solidFill>
                <a:srgbClr val="435269"/>
              </a:solidFill>
            </a:endParaRPr>
          </a:p>
        </p:txBody>
      </p:sp>
      <p:sp>
        <p:nvSpPr>
          <p:cNvPr id="592" name="Google Shape;592;p33"/>
          <p:cNvSpPr/>
          <p:nvPr/>
        </p:nvSpPr>
        <p:spPr>
          <a:xfrm>
            <a:off x="3445000" y="2531297"/>
            <a:ext cx="2360100" cy="654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33"/>
          <p:cNvSpPr/>
          <p:nvPr/>
        </p:nvSpPr>
        <p:spPr>
          <a:xfrm>
            <a:off x="3560000" y="2756297"/>
            <a:ext cx="324900" cy="234900"/>
          </a:xfrm>
          <a:prstGeom prst="roundRect">
            <a:avLst>
              <a:gd fmla="val 16667" name="adj"/>
            </a:avLst>
          </a:prstGeom>
          <a:solidFill>
            <a:srgbClr val="F0F0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33"/>
          <p:cNvSpPr txBox="1"/>
          <p:nvPr/>
        </p:nvSpPr>
        <p:spPr>
          <a:xfrm>
            <a:off x="3565000" y="2766297"/>
            <a:ext cx="3120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4F55B2"/>
                </a:solidFill>
              </a:rPr>
              <a:t>2</a:t>
            </a:r>
            <a:endParaRPr b="1" sz="1100">
              <a:solidFill>
                <a:srgbClr val="4F55B2"/>
              </a:solidFill>
            </a:endParaRPr>
          </a:p>
        </p:txBody>
      </p:sp>
      <p:sp>
        <p:nvSpPr>
          <p:cNvPr id="595" name="Google Shape;595;p33"/>
          <p:cNvSpPr txBox="1"/>
          <p:nvPr/>
        </p:nvSpPr>
        <p:spPr>
          <a:xfrm>
            <a:off x="3940000" y="2643255"/>
            <a:ext cx="1659900" cy="21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rgbClr val="4F55B2"/>
                </a:solidFill>
              </a:rPr>
              <a:t>얼굴 특징 추출</a:t>
            </a:r>
            <a:endParaRPr b="1">
              <a:solidFill>
                <a:srgbClr val="4F55B2"/>
              </a:solidFill>
            </a:endParaRPr>
          </a:p>
        </p:txBody>
      </p:sp>
      <p:sp>
        <p:nvSpPr>
          <p:cNvPr id="596" name="Google Shape;596;p33"/>
          <p:cNvSpPr txBox="1"/>
          <p:nvPr/>
        </p:nvSpPr>
        <p:spPr>
          <a:xfrm>
            <a:off x="3940000" y="2883255"/>
            <a:ext cx="16500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435269"/>
                </a:solidFill>
              </a:rPr>
              <a:t>얼굴 특징 벡터 생성</a:t>
            </a:r>
            <a:endParaRPr sz="1000">
              <a:solidFill>
                <a:srgbClr val="435269"/>
              </a:solidFill>
            </a:endParaRPr>
          </a:p>
        </p:txBody>
      </p:sp>
      <p:sp>
        <p:nvSpPr>
          <p:cNvPr id="597" name="Google Shape;597;p33"/>
          <p:cNvSpPr/>
          <p:nvPr/>
        </p:nvSpPr>
        <p:spPr>
          <a:xfrm>
            <a:off x="3445000" y="3281297"/>
            <a:ext cx="2360100" cy="654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33"/>
          <p:cNvSpPr/>
          <p:nvPr/>
        </p:nvSpPr>
        <p:spPr>
          <a:xfrm>
            <a:off x="3560000" y="3506297"/>
            <a:ext cx="324900" cy="234900"/>
          </a:xfrm>
          <a:prstGeom prst="roundRect">
            <a:avLst>
              <a:gd fmla="val 16667" name="adj"/>
            </a:avLst>
          </a:prstGeom>
          <a:solidFill>
            <a:srgbClr val="F0F0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33"/>
          <p:cNvSpPr txBox="1"/>
          <p:nvPr/>
        </p:nvSpPr>
        <p:spPr>
          <a:xfrm>
            <a:off x="3565000" y="3516297"/>
            <a:ext cx="3120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4F55B2"/>
                </a:solidFill>
              </a:rPr>
              <a:t>3</a:t>
            </a:r>
            <a:endParaRPr b="1" sz="1100">
              <a:solidFill>
                <a:srgbClr val="4F55B2"/>
              </a:solidFill>
            </a:endParaRPr>
          </a:p>
        </p:txBody>
      </p:sp>
      <p:sp>
        <p:nvSpPr>
          <p:cNvPr id="600" name="Google Shape;600;p33"/>
          <p:cNvSpPr txBox="1"/>
          <p:nvPr/>
        </p:nvSpPr>
        <p:spPr>
          <a:xfrm>
            <a:off x="3940000" y="3420212"/>
            <a:ext cx="1659900" cy="21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rgbClr val="4F55B2"/>
                </a:solidFill>
              </a:rPr>
              <a:t>등록 정보 비교</a:t>
            </a:r>
            <a:endParaRPr b="1">
              <a:solidFill>
                <a:srgbClr val="4F55B2"/>
              </a:solidFill>
            </a:endParaRPr>
          </a:p>
        </p:txBody>
      </p:sp>
      <p:sp>
        <p:nvSpPr>
          <p:cNvPr id="601" name="Google Shape;601;p33"/>
          <p:cNvSpPr txBox="1"/>
          <p:nvPr/>
        </p:nvSpPr>
        <p:spPr>
          <a:xfrm>
            <a:off x="3940000" y="3633255"/>
            <a:ext cx="16500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435269"/>
                </a:solidFill>
              </a:rPr>
              <a:t>DB에 등록된 얼굴 정보와 비교</a:t>
            </a:r>
            <a:endParaRPr sz="800">
              <a:solidFill>
                <a:srgbClr val="435269"/>
              </a:solidFill>
            </a:endParaRPr>
          </a:p>
        </p:txBody>
      </p:sp>
      <p:sp>
        <p:nvSpPr>
          <p:cNvPr id="602" name="Google Shape;602;p33"/>
          <p:cNvSpPr/>
          <p:nvPr/>
        </p:nvSpPr>
        <p:spPr>
          <a:xfrm>
            <a:off x="6220000" y="1311297"/>
            <a:ext cx="2570100" cy="2780100"/>
          </a:xfrm>
          <a:prstGeom prst="roundRect">
            <a:avLst>
              <a:gd fmla="val 16667" name="adj"/>
            </a:avLst>
          </a:prstGeom>
          <a:solidFill>
            <a:srgbClr val="E9F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33"/>
          <p:cNvSpPr/>
          <p:nvPr/>
        </p:nvSpPr>
        <p:spPr>
          <a:xfrm>
            <a:off x="6220000" y="1311297"/>
            <a:ext cx="2570100" cy="390000"/>
          </a:xfrm>
          <a:prstGeom prst="roundRect">
            <a:avLst>
              <a:gd fmla="val 16667" name="adj"/>
            </a:avLst>
          </a:prstGeom>
          <a:solidFill>
            <a:srgbClr val="1576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33"/>
          <p:cNvSpPr txBox="1"/>
          <p:nvPr/>
        </p:nvSpPr>
        <p:spPr>
          <a:xfrm>
            <a:off x="6310000" y="1369269"/>
            <a:ext cx="23901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600">
                <a:solidFill>
                  <a:srgbClr val="FFFFFF"/>
                </a:solidFill>
              </a:rPr>
              <a:t>출입문 제어</a:t>
            </a:r>
            <a:endParaRPr b="1" sz="1600">
              <a:solidFill>
                <a:srgbClr val="FFFFFF"/>
              </a:solidFill>
            </a:endParaRPr>
          </a:p>
        </p:txBody>
      </p:sp>
      <p:sp>
        <p:nvSpPr>
          <p:cNvPr id="605" name="Google Shape;605;p33"/>
          <p:cNvSpPr/>
          <p:nvPr/>
        </p:nvSpPr>
        <p:spPr>
          <a:xfrm>
            <a:off x="6325000" y="1781297"/>
            <a:ext cx="2360100" cy="654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33"/>
          <p:cNvSpPr/>
          <p:nvPr/>
        </p:nvSpPr>
        <p:spPr>
          <a:xfrm>
            <a:off x="6440000" y="2006297"/>
            <a:ext cx="324900" cy="234900"/>
          </a:xfrm>
          <a:prstGeom prst="roundRect">
            <a:avLst>
              <a:gd fmla="val 16667" name="adj"/>
            </a:avLst>
          </a:prstGeom>
          <a:solidFill>
            <a:srgbClr val="E9F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33"/>
          <p:cNvSpPr txBox="1"/>
          <p:nvPr/>
        </p:nvSpPr>
        <p:spPr>
          <a:xfrm>
            <a:off x="6445000" y="2016297"/>
            <a:ext cx="3120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117357"/>
                </a:solidFill>
              </a:rPr>
              <a:t>1</a:t>
            </a:r>
            <a:endParaRPr b="1" sz="1100">
              <a:solidFill>
                <a:srgbClr val="117357"/>
              </a:solidFill>
            </a:endParaRPr>
          </a:p>
        </p:txBody>
      </p:sp>
      <p:sp>
        <p:nvSpPr>
          <p:cNvPr id="608" name="Google Shape;608;p33"/>
          <p:cNvSpPr txBox="1"/>
          <p:nvPr/>
        </p:nvSpPr>
        <p:spPr>
          <a:xfrm>
            <a:off x="6820000" y="1920212"/>
            <a:ext cx="1659900" cy="21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rgbClr val="117357"/>
                </a:solidFill>
              </a:rPr>
              <a:t>출입 권한 확인</a:t>
            </a:r>
            <a:endParaRPr b="1">
              <a:solidFill>
                <a:srgbClr val="117357"/>
              </a:solidFill>
            </a:endParaRPr>
          </a:p>
        </p:txBody>
      </p:sp>
      <p:sp>
        <p:nvSpPr>
          <p:cNvPr id="609" name="Google Shape;609;p33"/>
          <p:cNvSpPr txBox="1"/>
          <p:nvPr/>
        </p:nvSpPr>
        <p:spPr>
          <a:xfrm>
            <a:off x="6820000" y="2133250"/>
            <a:ext cx="17616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435269"/>
                </a:solidFill>
              </a:rPr>
              <a:t>직원·관리자 등 출입 가능 여부 확인</a:t>
            </a:r>
            <a:endParaRPr sz="800">
              <a:solidFill>
                <a:srgbClr val="435269"/>
              </a:solidFill>
            </a:endParaRPr>
          </a:p>
        </p:txBody>
      </p:sp>
      <p:sp>
        <p:nvSpPr>
          <p:cNvPr id="610" name="Google Shape;610;p33"/>
          <p:cNvSpPr/>
          <p:nvPr/>
        </p:nvSpPr>
        <p:spPr>
          <a:xfrm>
            <a:off x="6325000" y="2531297"/>
            <a:ext cx="2360100" cy="654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33"/>
          <p:cNvSpPr/>
          <p:nvPr/>
        </p:nvSpPr>
        <p:spPr>
          <a:xfrm>
            <a:off x="6440000" y="2756297"/>
            <a:ext cx="324900" cy="234900"/>
          </a:xfrm>
          <a:prstGeom prst="roundRect">
            <a:avLst>
              <a:gd fmla="val 16667" name="adj"/>
            </a:avLst>
          </a:prstGeom>
          <a:solidFill>
            <a:srgbClr val="E9F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33"/>
          <p:cNvSpPr txBox="1"/>
          <p:nvPr/>
        </p:nvSpPr>
        <p:spPr>
          <a:xfrm>
            <a:off x="6445000" y="2766297"/>
            <a:ext cx="3120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117357"/>
                </a:solidFill>
              </a:rPr>
              <a:t>2</a:t>
            </a:r>
            <a:endParaRPr b="1" sz="1100">
              <a:solidFill>
                <a:srgbClr val="117357"/>
              </a:solidFill>
            </a:endParaRPr>
          </a:p>
        </p:txBody>
      </p:sp>
      <p:sp>
        <p:nvSpPr>
          <p:cNvPr id="613" name="Google Shape;613;p33"/>
          <p:cNvSpPr txBox="1"/>
          <p:nvPr/>
        </p:nvSpPr>
        <p:spPr>
          <a:xfrm>
            <a:off x="6820000" y="2670212"/>
            <a:ext cx="1659900" cy="21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rgbClr val="117357"/>
                </a:solidFill>
              </a:rPr>
              <a:t>문 열림 제어</a:t>
            </a:r>
            <a:endParaRPr b="1">
              <a:solidFill>
                <a:srgbClr val="117357"/>
              </a:solidFill>
            </a:endParaRPr>
          </a:p>
        </p:txBody>
      </p:sp>
      <p:sp>
        <p:nvSpPr>
          <p:cNvPr id="614" name="Google Shape;614;p33"/>
          <p:cNvSpPr txBox="1"/>
          <p:nvPr/>
        </p:nvSpPr>
        <p:spPr>
          <a:xfrm>
            <a:off x="6820000" y="2883255"/>
            <a:ext cx="16500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435269"/>
                </a:solidFill>
              </a:rPr>
              <a:t>허용 시 출입문 모터를 구동해 개방</a:t>
            </a:r>
            <a:endParaRPr sz="800">
              <a:solidFill>
                <a:srgbClr val="435269"/>
              </a:solidFill>
            </a:endParaRPr>
          </a:p>
        </p:txBody>
      </p:sp>
      <p:sp>
        <p:nvSpPr>
          <p:cNvPr id="615" name="Google Shape;615;p33"/>
          <p:cNvSpPr/>
          <p:nvPr/>
        </p:nvSpPr>
        <p:spPr>
          <a:xfrm>
            <a:off x="6325000" y="3281297"/>
            <a:ext cx="2360100" cy="654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33"/>
          <p:cNvSpPr/>
          <p:nvPr/>
        </p:nvSpPr>
        <p:spPr>
          <a:xfrm>
            <a:off x="6440000" y="3506297"/>
            <a:ext cx="324900" cy="234900"/>
          </a:xfrm>
          <a:prstGeom prst="roundRect">
            <a:avLst>
              <a:gd fmla="val 16667" name="adj"/>
            </a:avLst>
          </a:prstGeom>
          <a:solidFill>
            <a:srgbClr val="E9F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33"/>
          <p:cNvSpPr txBox="1"/>
          <p:nvPr/>
        </p:nvSpPr>
        <p:spPr>
          <a:xfrm>
            <a:off x="6445000" y="3516297"/>
            <a:ext cx="3120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117357"/>
                </a:solidFill>
              </a:rPr>
              <a:t>3</a:t>
            </a:r>
            <a:endParaRPr b="1" sz="1100">
              <a:solidFill>
                <a:srgbClr val="117357"/>
              </a:solidFill>
            </a:endParaRPr>
          </a:p>
        </p:txBody>
      </p:sp>
      <p:sp>
        <p:nvSpPr>
          <p:cNvPr id="618" name="Google Shape;618;p33"/>
          <p:cNvSpPr txBox="1"/>
          <p:nvPr/>
        </p:nvSpPr>
        <p:spPr>
          <a:xfrm>
            <a:off x="6820000" y="3420212"/>
            <a:ext cx="1659900" cy="21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rgbClr val="117357"/>
                </a:solidFill>
              </a:rPr>
              <a:t>상태 확인</a:t>
            </a:r>
            <a:endParaRPr b="1">
              <a:solidFill>
                <a:srgbClr val="117357"/>
              </a:solidFill>
            </a:endParaRPr>
          </a:p>
        </p:txBody>
      </p:sp>
      <p:sp>
        <p:nvSpPr>
          <p:cNvPr id="619" name="Google Shape;619;p33"/>
          <p:cNvSpPr txBox="1"/>
          <p:nvPr/>
        </p:nvSpPr>
        <p:spPr>
          <a:xfrm>
            <a:off x="6820000" y="3633255"/>
            <a:ext cx="16500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435269"/>
                </a:solidFill>
              </a:rPr>
              <a:t>문 상태와 제어 결과 확인</a:t>
            </a:r>
            <a:endParaRPr sz="800">
              <a:solidFill>
                <a:srgbClr val="435269"/>
              </a:solidFill>
            </a:endParaRPr>
          </a:p>
        </p:txBody>
      </p:sp>
      <p:sp>
        <p:nvSpPr>
          <p:cNvPr id="620" name="Google Shape;620;p33"/>
          <p:cNvSpPr txBox="1"/>
          <p:nvPr/>
        </p:nvSpPr>
        <p:spPr>
          <a:xfrm>
            <a:off x="2962450" y="2511297"/>
            <a:ext cx="240000" cy="29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rgbClr val="85AFDD"/>
                </a:solidFill>
              </a:rPr>
              <a:t>→</a:t>
            </a:r>
            <a:endParaRPr b="1" sz="2000">
              <a:solidFill>
                <a:srgbClr val="85AFDD"/>
              </a:solidFill>
            </a:endParaRPr>
          </a:p>
        </p:txBody>
      </p:sp>
      <p:sp>
        <p:nvSpPr>
          <p:cNvPr id="621" name="Google Shape;621;p33"/>
          <p:cNvSpPr txBox="1"/>
          <p:nvPr/>
        </p:nvSpPr>
        <p:spPr>
          <a:xfrm>
            <a:off x="5851436" y="2511297"/>
            <a:ext cx="240000" cy="29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rgbClr val="88B9A8"/>
                </a:solidFill>
              </a:rPr>
              <a:t>→</a:t>
            </a:r>
            <a:endParaRPr b="1" sz="2000">
              <a:solidFill>
                <a:srgbClr val="88B9A8"/>
              </a:solidFill>
            </a:endParaRPr>
          </a:p>
        </p:txBody>
      </p:sp>
      <p:sp>
        <p:nvSpPr>
          <p:cNvPr id="622" name="Google Shape;622;p33"/>
          <p:cNvSpPr/>
          <p:nvPr/>
        </p:nvSpPr>
        <p:spPr>
          <a:xfrm>
            <a:off x="1260000" y="4254198"/>
            <a:ext cx="6600000" cy="36000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33"/>
          <p:cNvSpPr txBox="1"/>
          <p:nvPr/>
        </p:nvSpPr>
        <p:spPr>
          <a:xfrm>
            <a:off x="1350000" y="4293063"/>
            <a:ext cx="64200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216AD0"/>
                </a:solidFill>
              </a:rPr>
              <a:t>미등록 인원 또는 출입 권한이 없는 경우 문 열림 명령을 보내지 않음</a:t>
            </a:r>
            <a:endParaRPr sz="1100">
              <a:solidFill>
                <a:srgbClr val="216AD0"/>
              </a:solidFill>
            </a:endParaRPr>
          </a:p>
        </p:txBody>
      </p:sp>
      <p:sp>
        <p:nvSpPr>
          <p:cNvPr id="624" name="Google Shape;624;p33"/>
          <p:cNvSpPr txBox="1"/>
          <p:nvPr/>
        </p:nvSpPr>
        <p:spPr>
          <a:xfrm>
            <a:off x="420000" y="4890000"/>
            <a:ext cx="68001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93A0B3"/>
                </a:solidFill>
              </a:rPr>
              <a:t>T-Safe System · 요양시설 사고 감지 및 대응 모니터링 시스템</a:t>
            </a:r>
            <a:endParaRPr sz="800">
              <a:solidFill>
                <a:srgbClr val="93A0B3"/>
              </a:solidFill>
            </a:endParaRPr>
          </a:p>
        </p:txBody>
      </p:sp>
      <p:sp>
        <p:nvSpPr>
          <p:cNvPr id="625" name="Google Shape;625;p33"/>
          <p:cNvSpPr txBox="1"/>
          <p:nvPr/>
        </p:nvSpPr>
        <p:spPr>
          <a:xfrm>
            <a:off x="457200" y="177800"/>
            <a:ext cx="4445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50">
                <a:solidFill>
                  <a:srgbClr val="1A73E8"/>
                </a:solidFill>
                <a:latin typeface="Noto Sans KR"/>
                <a:ea typeface="Noto Sans KR"/>
                <a:cs typeface="Noto Sans KR"/>
                <a:sym typeface="Noto Sans KR"/>
              </a:rPr>
              <a:t>03  기술 상세 3 - 출입관리</a:t>
            </a:r>
            <a:endParaRPr b="1" sz="950">
              <a:solidFill>
                <a:srgbClr val="1A73E8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26" name="Google Shape;626;p33"/>
          <p:cNvSpPr txBox="1"/>
          <p:nvPr/>
        </p:nvSpPr>
        <p:spPr>
          <a:xfrm>
            <a:off x="7416800" y="4800600"/>
            <a:ext cx="1269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9AA0A6"/>
                </a:solidFill>
                <a:latin typeface="Noto Sans KR"/>
                <a:ea typeface="Noto Sans KR"/>
                <a:cs typeface="Noto Sans KR"/>
                <a:sym typeface="Noto Sans KR"/>
              </a:rPr>
              <a:t>21</a:t>
            </a:r>
            <a:r>
              <a:rPr lang="ko" sz="800">
                <a:solidFill>
                  <a:srgbClr val="9AA0A6"/>
                </a:solidFill>
                <a:latin typeface="Noto Sans KR"/>
                <a:ea typeface="Noto Sans KR"/>
                <a:cs typeface="Noto Sans KR"/>
                <a:sym typeface="Noto Sans KR"/>
              </a:rPr>
              <a:t> / 27</a:t>
            </a:r>
            <a:endParaRPr sz="800">
              <a:solidFill>
                <a:srgbClr val="9AA0A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34"/>
          <p:cNvSpPr txBox="1"/>
          <p:nvPr/>
        </p:nvSpPr>
        <p:spPr>
          <a:xfrm>
            <a:off x="457200" y="4800600"/>
            <a:ext cx="5079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9AA0A6"/>
                </a:solidFill>
                <a:latin typeface="Noto Sans KR"/>
                <a:ea typeface="Noto Sans KR"/>
                <a:cs typeface="Noto Sans KR"/>
                <a:sym typeface="Noto Sans KR"/>
              </a:rPr>
              <a:t>T-Safe System · 요양시설 사고 감지 및 대응 모니터링 시스템</a:t>
            </a:r>
            <a:endParaRPr sz="800">
              <a:solidFill>
                <a:srgbClr val="9AA0A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32" name="Google Shape;632;p34"/>
          <p:cNvSpPr/>
          <p:nvPr/>
        </p:nvSpPr>
        <p:spPr>
          <a:xfrm>
            <a:off x="457200" y="1066800"/>
            <a:ext cx="1244700" cy="787500"/>
          </a:xfrm>
          <a:prstGeom prst="roundRect">
            <a:avLst>
              <a:gd fmla="val 16667" name="adj"/>
            </a:avLst>
          </a:prstGeom>
          <a:solidFill>
            <a:srgbClr val="E8F0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50">
                <a:solidFill>
                  <a:srgbClr val="202124"/>
                </a:solidFill>
              </a:rPr>
              <a:t>얼굴 검출</a:t>
            </a:r>
            <a:endParaRPr sz="1250">
              <a:solidFill>
                <a:srgbClr val="202124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50">
                <a:solidFill>
                  <a:srgbClr val="202124"/>
                </a:solidFill>
              </a:rPr>
              <a:t>SCRFD</a:t>
            </a:r>
            <a:endParaRPr sz="1250">
              <a:solidFill>
                <a:srgbClr val="202124"/>
              </a:solidFill>
            </a:endParaRPr>
          </a:p>
        </p:txBody>
      </p:sp>
      <p:cxnSp>
        <p:nvCxnSpPr>
          <p:cNvPr id="633" name="Google Shape;633;p34"/>
          <p:cNvCxnSpPr/>
          <p:nvPr/>
        </p:nvCxnSpPr>
        <p:spPr>
          <a:xfrm>
            <a:off x="1701800" y="1460500"/>
            <a:ext cx="152400" cy="0"/>
          </a:xfrm>
          <a:prstGeom prst="straightConnector1">
            <a:avLst/>
          </a:prstGeom>
          <a:noFill/>
          <a:ln cap="flat" cmpd="sng" w="19050">
            <a:solidFill>
              <a:srgbClr val="1A73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34" name="Google Shape;634;p34"/>
          <p:cNvSpPr/>
          <p:nvPr/>
        </p:nvSpPr>
        <p:spPr>
          <a:xfrm>
            <a:off x="1854200" y="1066800"/>
            <a:ext cx="1244700" cy="787500"/>
          </a:xfrm>
          <a:prstGeom prst="roundRect">
            <a:avLst>
              <a:gd fmla="val 16667" name="adj"/>
            </a:avLst>
          </a:prstGeom>
          <a:solidFill>
            <a:srgbClr val="E8F0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50">
                <a:solidFill>
                  <a:srgbClr val="202124"/>
                </a:solidFill>
              </a:rPr>
              <a:t>얼굴 정렬</a:t>
            </a:r>
            <a:endParaRPr sz="1250">
              <a:solidFill>
                <a:srgbClr val="202124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50">
                <a:solidFill>
                  <a:srgbClr val="202124"/>
                </a:solidFill>
              </a:rPr>
              <a:t>얼굴 위치 보정</a:t>
            </a:r>
            <a:endParaRPr sz="1250">
              <a:solidFill>
                <a:srgbClr val="202124"/>
              </a:solidFill>
            </a:endParaRPr>
          </a:p>
        </p:txBody>
      </p:sp>
      <p:cxnSp>
        <p:nvCxnSpPr>
          <p:cNvPr id="635" name="Google Shape;635;p34"/>
          <p:cNvCxnSpPr/>
          <p:nvPr/>
        </p:nvCxnSpPr>
        <p:spPr>
          <a:xfrm>
            <a:off x="3098800" y="1460500"/>
            <a:ext cx="152400" cy="0"/>
          </a:xfrm>
          <a:prstGeom prst="straightConnector1">
            <a:avLst/>
          </a:prstGeom>
          <a:noFill/>
          <a:ln cap="flat" cmpd="sng" w="19050">
            <a:solidFill>
              <a:srgbClr val="1A73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36" name="Google Shape;636;p34"/>
          <p:cNvSpPr/>
          <p:nvPr/>
        </p:nvSpPr>
        <p:spPr>
          <a:xfrm>
            <a:off x="3251200" y="1066800"/>
            <a:ext cx="1244700" cy="787500"/>
          </a:xfrm>
          <a:prstGeom prst="roundRect">
            <a:avLst>
              <a:gd fmla="val 16667" name="adj"/>
            </a:avLst>
          </a:prstGeom>
          <a:solidFill>
            <a:srgbClr val="E8F0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50">
                <a:solidFill>
                  <a:srgbClr val="202124"/>
                </a:solidFill>
              </a:rPr>
              <a:t>특징 추출</a:t>
            </a:r>
            <a:endParaRPr sz="1250">
              <a:solidFill>
                <a:srgbClr val="202124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50">
                <a:solidFill>
                  <a:srgbClr val="202124"/>
                </a:solidFill>
              </a:rPr>
              <a:t>InsightFace</a:t>
            </a:r>
            <a:endParaRPr sz="1250">
              <a:solidFill>
                <a:srgbClr val="202124"/>
              </a:solidFill>
            </a:endParaRPr>
          </a:p>
        </p:txBody>
      </p:sp>
      <p:cxnSp>
        <p:nvCxnSpPr>
          <p:cNvPr id="637" name="Google Shape;637;p34"/>
          <p:cNvCxnSpPr/>
          <p:nvPr/>
        </p:nvCxnSpPr>
        <p:spPr>
          <a:xfrm>
            <a:off x="4495800" y="1460500"/>
            <a:ext cx="152400" cy="0"/>
          </a:xfrm>
          <a:prstGeom prst="straightConnector1">
            <a:avLst/>
          </a:prstGeom>
          <a:noFill/>
          <a:ln cap="flat" cmpd="sng" w="19050">
            <a:solidFill>
              <a:srgbClr val="1A73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38" name="Google Shape;638;p34"/>
          <p:cNvSpPr/>
          <p:nvPr/>
        </p:nvSpPr>
        <p:spPr>
          <a:xfrm>
            <a:off x="4648200" y="1066800"/>
            <a:ext cx="1244700" cy="787500"/>
          </a:xfrm>
          <a:prstGeom prst="roundRect">
            <a:avLst>
              <a:gd fmla="val 16667" name="adj"/>
            </a:avLst>
          </a:prstGeom>
          <a:solidFill>
            <a:srgbClr val="E8F0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50">
                <a:solidFill>
                  <a:srgbClr val="202124"/>
                </a:solidFill>
              </a:rPr>
              <a:t>512차원</a:t>
            </a:r>
            <a:endParaRPr sz="1250">
              <a:solidFill>
                <a:srgbClr val="202124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50">
                <a:solidFill>
                  <a:srgbClr val="202124"/>
                </a:solidFill>
              </a:rPr>
              <a:t>특징 벡터</a:t>
            </a:r>
            <a:endParaRPr sz="1250">
              <a:solidFill>
                <a:srgbClr val="202124"/>
              </a:solidFill>
            </a:endParaRPr>
          </a:p>
        </p:txBody>
      </p:sp>
      <p:cxnSp>
        <p:nvCxnSpPr>
          <p:cNvPr id="639" name="Google Shape;639;p34"/>
          <p:cNvCxnSpPr/>
          <p:nvPr/>
        </p:nvCxnSpPr>
        <p:spPr>
          <a:xfrm>
            <a:off x="5892800" y="1460500"/>
            <a:ext cx="152400" cy="0"/>
          </a:xfrm>
          <a:prstGeom prst="straightConnector1">
            <a:avLst/>
          </a:prstGeom>
          <a:noFill/>
          <a:ln cap="flat" cmpd="sng" w="19050">
            <a:solidFill>
              <a:srgbClr val="1A73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40" name="Google Shape;640;p34"/>
          <p:cNvSpPr/>
          <p:nvPr/>
        </p:nvSpPr>
        <p:spPr>
          <a:xfrm>
            <a:off x="6045200" y="1066800"/>
            <a:ext cx="1244700" cy="787500"/>
          </a:xfrm>
          <a:prstGeom prst="roundRect">
            <a:avLst>
              <a:gd fmla="val 16667" name="adj"/>
            </a:avLst>
          </a:prstGeom>
          <a:solidFill>
            <a:srgbClr val="E6F4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50">
                <a:solidFill>
                  <a:srgbClr val="202124"/>
                </a:solidFill>
              </a:rPr>
              <a:t>서버 전송</a:t>
            </a:r>
            <a:endParaRPr sz="1250">
              <a:solidFill>
                <a:srgbClr val="202124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50">
                <a:solidFill>
                  <a:srgbClr val="202124"/>
                </a:solidFill>
              </a:rPr>
              <a:t>벡터 전달</a:t>
            </a:r>
            <a:endParaRPr sz="1250">
              <a:solidFill>
                <a:srgbClr val="202124"/>
              </a:solidFill>
            </a:endParaRPr>
          </a:p>
        </p:txBody>
      </p:sp>
      <p:cxnSp>
        <p:nvCxnSpPr>
          <p:cNvPr id="641" name="Google Shape;641;p34"/>
          <p:cNvCxnSpPr/>
          <p:nvPr/>
        </p:nvCxnSpPr>
        <p:spPr>
          <a:xfrm>
            <a:off x="7289800" y="1460500"/>
            <a:ext cx="152400" cy="0"/>
          </a:xfrm>
          <a:prstGeom prst="straightConnector1">
            <a:avLst/>
          </a:prstGeom>
          <a:noFill/>
          <a:ln cap="flat" cmpd="sng" w="19050">
            <a:solidFill>
              <a:srgbClr val="1A73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42" name="Google Shape;642;p34"/>
          <p:cNvSpPr/>
          <p:nvPr/>
        </p:nvSpPr>
        <p:spPr>
          <a:xfrm>
            <a:off x="7442200" y="1066800"/>
            <a:ext cx="1244700" cy="787500"/>
          </a:xfrm>
          <a:prstGeom prst="roundRect">
            <a:avLst>
              <a:gd fmla="val 16667" name="adj"/>
            </a:avLst>
          </a:prstGeom>
          <a:solidFill>
            <a:srgbClr val="E6F4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50">
                <a:solidFill>
                  <a:srgbClr val="E8710A"/>
                </a:solidFill>
              </a:rPr>
              <a:t>서버 수신</a:t>
            </a:r>
            <a:endParaRPr sz="1250">
              <a:solidFill>
                <a:srgbClr val="E8710A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50">
                <a:solidFill>
                  <a:srgbClr val="E8710A"/>
                </a:solidFill>
              </a:rPr>
              <a:t>얼굴 식별 요청</a:t>
            </a:r>
            <a:endParaRPr sz="1250">
              <a:solidFill>
                <a:srgbClr val="E8710A"/>
              </a:solidFill>
            </a:endParaRPr>
          </a:p>
        </p:txBody>
      </p:sp>
      <p:sp>
        <p:nvSpPr>
          <p:cNvPr id="643" name="Google Shape;643;p34"/>
          <p:cNvSpPr txBox="1"/>
          <p:nvPr/>
        </p:nvSpPr>
        <p:spPr>
          <a:xfrm>
            <a:off x="7416800" y="4800600"/>
            <a:ext cx="1269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9AA0A6"/>
                </a:solidFill>
                <a:latin typeface="Noto Sans KR"/>
                <a:ea typeface="Noto Sans KR"/>
                <a:cs typeface="Noto Sans KR"/>
                <a:sym typeface="Noto Sans KR"/>
              </a:rPr>
              <a:t>22</a:t>
            </a:r>
            <a:r>
              <a:rPr lang="ko" sz="800">
                <a:solidFill>
                  <a:srgbClr val="9AA0A6"/>
                </a:solidFill>
                <a:latin typeface="Noto Sans KR"/>
                <a:ea typeface="Noto Sans KR"/>
                <a:cs typeface="Noto Sans KR"/>
                <a:sym typeface="Noto Sans KR"/>
              </a:rPr>
              <a:t> / </a:t>
            </a:r>
            <a:r>
              <a:rPr lang="ko" sz="800">
                <a:solidFill>
                  <a:srgbClr val="9AA0A6"/>
                </a:solidFill>
                <a:latin typeface="Noto Sans KR"/>
                <a:ea typeface="Noto Sans KR"/>
                <a:cs typeface="Noto Sans KR"/>
                <a:sym typeface="Noto Sans KR"/>
              </a:rPr>
              <a:t>27</a:t>
            </a:r>
            <a:endParaRPr sz="800">
              <a:solidFill>
                <a:srgbClr val="9AA0A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44" name="Google Shape;644;p34"/>
          <p:cNvSpPr txBox="1"/>
          <p:nvPr/>
        </p:nvSpPr>
        <p:spPr>
          <a:xfrm>
            <a:off x="457200" y="177800"/>
            <a:ext cx="4445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50">
                <a:solidFill>
                  <a:srgbClr val="1A73E8"/>
                </a:solidFill>
                <a:latin typeface="Noto Sans KR"/>
                <a:ea typeface="Noto Sans KR"/>
                <a:cs typeface="Noto Sans KR"/>
                <a:sym typeface="Noto Sans KR"/>
              </a:rPr>
              <a:t>03  기술 상세 3 - 출입관리</a:t>
            </a:r>
            <a:endParaRPr b="1" sz="950">
              <a:solidFill>
                <a:srgbClr val="1A73E8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45" name="Google Shape;645;p34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얼굴 인증</a:t>
            </a:r>
            <a:r>
              <a:rPr b="1" lang="ko" sz="19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b="1" lang="ko" sz="20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특징 벡터 생성</a:t>
            </a:r>
            <a:r>
              <a:rPr b="1" lang="ko" sz="20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b="1" sz="20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202124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46" name="Google Shape;646;p34"/>
          <p:cNvSpPr/>
          <p:nvPr/>
        </p:nvSpPr>
        <p:spPr>
          <a:xfrm>
            <a:off x="460000" y="2470000"/>
            <a:ext cx="8229900" cy="192000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47" name="Google Shape;647;p34"/>
          <p:cNvCxnSpPr/>
          <p:nvPr/>
        </p:nvCxnSpPr>
        <p:spPr>
          <a:xfrm>
            <a:off x="4570000" y="2670000"/>
            <a:ext cx="0" cy="1470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8" name="Google Shape;648;p34"/>
          <p:cNvSpPr txBox="1"/>
          <p:nvPr/>
        </p:nvSpPr>
        <p:spPr>
          <a:xfrm>
            <a:off x="700000" y="2680000"/>
            <a:ext cx="36501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1671D2"/>
                </a:solidFill>
              </a:rPr>
              <a:t>주요 기능</a:t>
            </a:r>
            <a:endParaRPr b="1" sz="1800">
              <a:solidFill>
                <a:srgbClr val="1671D2"/>
              </a:solidFill>
            </a:endParaRPr>
          </a:p>
        </p:txBody>
      </p:sp>
      <p:sp>
        <p:nvSpPr>
          <p:cNvPr id="649" name="Google Shape;649;p34"/>
          <p:cNvSpPr txBox="1"/>
          <p:nvPr/>
        </p:nvSpPr>
        <p:spPr>
          <a:xfrm>
            <a:off x="700000" y="3172028"/>
            <a:ext cx="3600000" cy="9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263B55"/>
                </a:solidFill>
              </a:rPr>
              <a:t>얼굴을 검출하고 정렬해 특징 추출</a:t>
            </a:r>
            <a:endParaRPr sz="1300">
              <a:solidFill>
                <a:srgbClr val="263B5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263B55"/>
                </a:solidFill>
              </a:rPr>
              <a:t>512차원 특징 벡터 생성</a:t>
            </a:r>
            <a:endParaRPr sz="1300">
              <a:solidFill>
                <a:srgbClr val="263B5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263B55"/>
                </a:solidFill>
              </a:rPr>
              <a:t>생성된 특징 벡터를 서버로 전달</a:t>
            </a:r>
            <a:endParaRPr sz="1300">
              <a:solidFill>
                <a:srgbClr val="263B55"/>
              </a:solidFill>
            </a:endParaRPr>
          </a:p>
        </p:txBody>
      </p:sp>
      <p:sp>
        <p:nvSpPr>
          <p:cNvPr id="650" name="Google Shape;650;p34"/>
          <p:cNvSpPr txBox="1"/>
          <p:nvPr/>
        </p:nvSpPr>
        <p:spPr>
          <a:xfrm>
            <a:off x="4860000" y="2680000"/>
            <a:ext cx="36501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13785B"/>
                </a:solidFill>
              </a:rPr>
              <a:t>사용 기술</a:t>
            </a:r>
            <a:endParaRPr b="1" sz="1800">
              <a:solidFill>
                <a:srgbClr val="13785B"/>
              </a:solidFill>
            </a:endParaRPr>
          </a:p>
        </p:txBody>
      </p:sp>
      <p:sp>
        <p:nvSpPr>
          <p:cNvPr id="651" name="Google Shape;651;p34"/>
          <p:cNvSpPr txBox="1"/>
          <p:nvPr/>
        </p:nvSpPr>
        <p:spPr>
          <a:xfrm>
            <a:off x="4860000" y="3154057"/>
            <a:ext cx="3600000" cy="9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263B55"/>
                </a:solidFill>
              </a:rPr>
              <a:t>얼굴 검출  SCRFD</a:t>
            </a:r>
            <a:endParaRPr sz="1300">
              <a:solidFill>
                <a:srgbClr val="263B5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263B55"/>
                </a:solidFill>
              </a:rPr>
              <a:t>특징 추출  InsightFace buffalo_l</a:t>
            </a:r>
            <a:endParaRPr sz="1300">
              <a:solidFill>
                <a:srgbClr val="263B5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263B55"/>
                </a:solidFill>
              </a:rPr>
              <a:t>벡터  512차원 · L2 정규화</a:t>
            </a:r>
            <a:endParaRPr sz="1300">
              <a:solidFill>
                <a:srgbClr val="263B55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35"/>
          <p:cNvSpPr txBox="1"/>
          <p:nvPr/>
        </p:nvSpPr>
        <p:spPr>
          <a:xfrm>
            <a:off x="457200" y="4800600"/>
            <a:ext cx="5079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9AA0A6"/>
                </a:solidFill>
                <a:latin typeface="Noto Sans KR"/>
                <a:ea typeface="Noto Sans KR"/>
                <a:cs typeface="Noto Sans KR"/>
                <a:sym typeface="Noto Sans KR"/>
              </a:rPr>
              <a:t>T-Safe System · 요양시설 사고 감지 및 대응 모니터링 시스템</a:t>
            </a:r>
            <a:endParaRPr sz="800">
              <a:solidFill>
                <a:srgbClr val="9AA0A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57" name="Google Shape;657;p35"/>
          <p:cNvSpPr/>
          <p:nvPr/>
        </p:nvSpPr>
        <p:spPr>
          <a:xfrm>
            <a:off x="457200" y="1066800"/>
            <a:ext cx="1244700" cy="787500"/>
          </a:xfrm>
          <a:prstGeom prst="roundRect">
            <a:avLst>
              <a:gd fmla="val 16667" name="adj"/>
            </a:avLst>
          </a:prstGeom>
          <a:solidFill>
            <a:srgbClr val="E8F0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50">
                <a:solidFill>
                  <a:srgbClr val="202124"/>
                </a:solidFill>
              </a:rPr>
              <a:t>특징 수신</a:t>
            </a:r>
            <a:endParaRPr sz="1250">
              <a:solidFill>
                <a:srgbClr val="202124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50">
                <a:solidFill>
                  <a:srgbClr val="202124"/>
                </a:solidFill>
              </a:rPr>
              <a:t>얼굴 벡터</a:t>
            </a:r>
            <a:endParaRPr sz="1250">
              <a:solidFill>
                <a:srgbClr val="202124"/>
              </a:solidFill>
            </a:endParaRPr>
          </a:p>
        </p:txBody>
      </p:sp>
      <p:cxnSp>
        <p:nvCxnSpPr>
          <p:cNvPr id="658" name="Google Shape;658;p35"/>
          <p:cNvCxnSpPr/>
          <p:nvPr/>
        </p:nvCxnSpPr>
        <p:spPr>
          <a:xfrm>
            <a:off x="1701800" y="1460500"/>
            <a:ext cx="152400" cy="0"/>
          </a:xfrm>
          <a:prstGeom prst="straightConnector1">
            <a:avLst/>
          </a:prstGeom>
          <a:noFill/>
          <a:ln cap="flat" cmpd="sng" w="19050">
            <a:solidFill>
              <a:srgbClr val="1A73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59" name="Google Shape;659;p35"/>
          <p:cNvSpPr/>
          <p:nvPr/>
        </p:nvSpPr>
        <p:spPr>
          <a:xfrm>
            <a:off x="1854200" y="1066800"/>
            <a:ext cx="1244700" cy="787500"/>
          </a:xfrm>
          <a:prstGeom prst="roundRect">
            <a:avLst>
              <a:gd fmla="val 16667" name="adj"/>
            </a:avLst>
          </a:prstGeom>
          <a:solidFill>
            <a:srgbClr val="E8F0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50">
                <a:solidFill>
                  <a:srgbClr val="202124"/>
                </a:solidFill>
              </a:rPr>
              <a:t>DB 검색</a:t>
            </a:r>
            <a:endParaRPr sz="1250">
              <a:solidFill>
                <a:srgbClr val="202124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50">
                <a:solidFill>
                  <a:srgbClr val="202124"/>
                </a:solidFill>
              </a:rPr>
              <a:t>pgvector</a:t>
            </a:r>
            <a:endParaRPr sz="1250">
              <a:solidFill>
                <a:srgbClr val="202124"/>
              </a:solidFill>
            </a:endParaRPr>
          </a:p>
        </p:txBody>
      </p:sp>
      <p:cxnSp>
        <p:nvCxnSpPr>
          <p:cNvPr id="660" name="Google Shape;660;p35"/>
          <p:cNvCxnSpPr/>
          <p:nvPr/>
        </p:nvCxnSpPr>
        <p:spPr>
          <a:xfrm>
            <a:off x="3098800" y="1460500"/>
            <a:ext cx="152400" cy="0"/>
          </a:xfrm>
          <a:prstGeom prst="straightConnector1">
            <a:avLst/>
          </a:prstGeom>
          <a:noFill/>
          <a:ln cap="flat" cmpd="sng" w="19050">
            <a:solidFill>
              <a:srgbClr val="1A73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61" name="Google Shape;661;p35"/>
          <p:cNvSpPr/>
          <p:nvPr/>
        </p:nvSpPr>
        <p:spPr>
          <a:xfrm>
            <a:off x="3251200" y="1066800"/>
            <a:ext cx="1244700" cy="787500"/>
          </a:xfrm>
          <a:prstGeom prst="roundRect">
            <a:avLst>
              <a:gd fmla="val 16667" name="adj"/>
            </a:avLst>
          </a:prstGeom>
          <a:solidFill>
            <a:srgbClr val="E8F0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50">
                <a:solidFill>
                  <a:srgbClr val="202124"/>
                </a:solidFill>
              </a:rPr>
              <a:t>유사도 판정</a:t>
            </a:r>
            <a:endParaRPr sz="1250">
              <a:solidFill>
                <a:srgbClr val="202124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50">
                <a:solidFill>
                  <a:srgbClr val="202124"/>
                </a:solidFill>
              </a:rPr>
              <a:t>일치 여부</a:t>
            </a:r>
            <a:endParaRPr sz="1250">
              <a:solidFill>
                <a:srgbClr val="202124"/>
              </a:solidFill>
            </a:endParaRPr>
          </a:p>
        </p:txBody>
      </p:sp>
      <p:cxnSp>
        <p:nvCxnSpPr>
          <p:cNvPr id="662" name="Google Shape;662;p35"/>
          <p:cNvCxnSpPr/>
          <p:nvPr/>
        </p:nvCxnSpPr>
        <p:spPr>
          <a:xfrm>
            <a:off x="4495800" y="1460500"/>
            <a:ext cx="152400" cy="0"/>
          </a:xfrm>
          <a:prstGeom prst="straightConnector1">
            <a:avLst/>
          </a:prstGeom>
          <a:noFill/>
          <a:ln cap="flat" cmpd="sng" w="19050">
            <a:solidFill>
              <a:srgbClr val="1A73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63" name="Google Shape;663;p35"/>
          <p:cNvSpPr/>
          <p:nvPr/>
        </p:nvSpPr>
        <p:spPr>
          <a:xfrm>
            <a:off x="4648200" y="1066800"/>
            <a:ext cx="1244700" cy="787500"/>
          </a:xfrm>
          <a:prstGeom prst="roundRect">
            <a:avLst>
              <a:gd fmla="val 16667" name="adj"/>
            </a:avLst>
          </a:prstGeom>
          <a:solidFill>
            <a:srgbClr val="E8F0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50">
                <a:solidFill>
                  <a:srgbClr val="202124"/>
                </a:solidFill>
              </a:rPr>
              <a:t>등록 인물 조회</a:t>
            </a:r>
            <a:endParaRPr sz="1250">
              <a:solidFill>
                <a:srgbClr val="202124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50">
                <a:solidFill>
                  <a:srgbClr val="202124"/>
                </a:solidFill>
              </a:rPr>
              <a:t>person_id</a:t>
            </a:r>
            <a:endParaRPr sz="1250">
              <a:solidFill>
                <a:srgbClr val="202124"/>
              </a:solidFill>
            </a:endParaRPr>
          </a:p>
        </p:txBody>
      </p:sp>
      <p:cxnSp>
        <p:nvCxnSpPr>
          <p:cNvPr id="664" name="Google Shape;664;p35"/>
          <p:cNvCxnSpPr/>
          <p:nvPr/>
        </p:nvCxnSpPr>
        <p:spPr>
          <a:xfrm>
            <a:off x="5892800" y="1460500"/>
            <a:ext cx="152400" cy="0"/>
          </a:xfrm>
          <a:prstGeom prst="straightConnector1">
            <a:avLst/>
          </a:prstGeom>
          <a:noFill/>
          <a:ln cap="flat" cmpd="sng" w="19050">
            <a:solidFill>
              <a:srgbClr val="1A73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65" name="Google Shape;665;p35"/>
          <p:cNvSpPr/>
          <p:nvPr/>
        </p:nvSpPr>
        <p:spPr>
          <a:xfrm>
            <a:off x="6045200" y="1066800"/>
            <a:ext cx="1244700" cy="787500"/>
          </a:xfrm>
          <a:prstGeom prst="roundRect">
            <a:avLst>
              <a:gd fmla="val 16667" name="adj"/>
            </a:avLst>
          </a:prstGeom>
          <a:solidFill>
            <a:srgbClr val="E6F4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50">
                <a:solidFill>
                  <a:srgbClr val="202124"/>
                </a:solidFill>
              </a:rPr>
              <a:t>출입 권한 확인</a:t>
            </a:r>
            <a:endParaRPr sz="1250">
              <a:solidFill>
                <a:srgbClr val="202124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50">
                <a:solidFill>
                  <a:srgbClr val="202124"/>
                </a:solidFill>
              </a:rPr>
              <a:t>can_open</a:t>
            </a:r>
            <a:endParaRPr sz="1250">
              <a:solidFill>
                <a:srgbClr val="202124"/>
              </a:solidFill>
            </a:endParaRPr>
          </a:p>
        </p:txBody>
      </p:sp>
      <p:cxnSp>
        <p:nvCxnSpPr>
          <p:cNvPr id="666" name="Google Shape;666;p35"/>
          <p:cNvCxnSpPr/>
          <p:nvPr/>
        </p:nvCxnSpPr>
        <p:spPr>
          <a:xfrm>
            <a:off x="7289800" y="1460500"/>
            <a:ext cx="152400" cy="0"/>
          </a:xfrm>
          <a:prstGeom prst="straightConnector1">
            <a:avLst/>
          </a:prstGeom>
          <a:noFill/>
          <a:ln cap="flat" cmpd="sng" w="19050">
            <a:solidFill>
              <a:srgbClr val="1A73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67" name="Google Shape;667;p35"/>
          <p:cNvSpPr/>
          <p:nvPr/>
        </p:nvSpPr>
        <p:spPr>
          <a:xfrm>
            <a:off x="7442200" y="1066800"/>
            <a:ext cx="1244700" cy="787500"/>
          </a:xfrm>
          <a:prstGeom prst="roundRect">
            <a:avLst>
              <a:gd fmla="val 16667" name="adj"/>
            </a:avLst>
          </a:prstGeom>
          <a:solidFill>
            <a:srgbClr val="E6F4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50">
                <a:solidFill>
                  <a:srgbClr val="E8710A"/>
                </a:solidFill>
              </a:rPr>
              <a:t>출입문 제어</a:t>
            </a:r>
            <a:endParaRPr sz="1250">
              <a:solidFill>
                <a:srgbClr val="E8710A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50">
                <a:solidFill>
                  <a:srgbClr val="E8710A"/>
                </a:solidFill>
              </a:rPr>
              <a:t>열림 / 거부</a:t>
            </a:r>
            <a:endParaRPr sz="1250">
              <a:solidFill>
                <a:srgbClr val="E8710A"/>
              </a:solidFill>
            </a:endParaRPr>
          </a:p>
        </p:txBody>
      </p:sp>
      <p:sp>
        <p:nvSpPr>
          <p:cNvPr id="668" name="Google Shape;668;p35"/>
          <p:cNvSpPr txBox="1"/>
          <p:nvPr/>
        </p:nvSpPr>
        <p:spPr>
          <a:xfrm>
            <a:off x="7416800" y="4800600"/>
            <a:ext cx="1269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9AA0A6"/>
                </a:solidFill>
                <a:latin typeface="Noto Sans KR"/>
                <a:ea typeface="Noto Sans KR"/>
                <a:cs typeface="Noto Sans KR"/>
                <a:sym typeface="Noto Sans KR"/>
              </a:rPr>
              <a:t>23</a:t>
            </a:r>
            <a:r>
              <a:rPr lang="ko" sz="800">
                <a:solidFill>
                  <a:srgbClr val="9AA0A6"/>
                </a:solidFill>
                <a:latin typeface="Noto Sans KR"/>
                <a:ea typeface="Noto Sans KR"/>
                <a:cs typeface="Noto Sans KR"/>
                <a:sym typeface="Noto Sans KR"/>
              </a:rPr>
              <a:t> / </a:t>
            </a:r>
            <a:r>
              <a:rPr lang="ko" sz="800">
                <a:solidFill>
                  <a:srgbClr val="9AA0A6"/>
                </a:solidFill>
                <a:latin typeface="Noto Sans KR"/>
                <a:ea typeface="Noto Sans KR"/>
                <a:cs typeface="Noto Sans KR"/>
                <a:sym typeface="Noto Sans KR"/>
              </a:rPr>
              <a:t>27</a:t>
            </a:r>
            <a:endParaRPr sz="800">
              <a:solidFill>
                <a:srgbClr val="9AA0A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69" name="Google Shape;669;p35"/>
          <p:cNvSpPr txBox="1"/>
          <p:nvPr/>
        </p:nvSpPr>
        <p:spPr>
          <a:xfrm>
            <a:off x="457200" y="177800"/>
            <a:ext cx="4445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50">
                <a:solidFill>
                  <a:srgbClr val="1A73E8"/>
                </a:solidFill>
                <a:latin typeface="Noto Sans KR"/>
                <a:ea typeface="Noto Sans KR"/>
                <a:cs typeface="Noto Sans KR"/>
                <a:sym typeface="Noto Sans KR"/>
              </a:rPr>
              <a:t>03  기술 상세 3 - 출입관리</a:t>
            </a:r>
            <a:endParaRPr b="1" sz="950">
              <a:solidFill>
                <a:srgbClr val="1A73E8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70" name="Google Shape;670;p35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얼굴 인증</a:t>
            </a:r>
            <a:r>
              <a:rPr b="1" lang="ko" sz="19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b="1" lang="ko" sz="20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식별과 출입 권한 </a:t>
            </a:r>
            <a:endParaRPr b="1" sz="20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202124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71" name="Google Shape;671;p35"/>
          <p:cNvSpPr/>
          <p:nvPr/>
        </p:nvSpPr>
        <p:spPr>
          <a:xfrm>
            <a:off x="460000" y="2470000"/>
            <a:ext cx="8229900" cy="1920000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72" name="Google Shape;672;p35"/>
          <p:cNvCxnSpPr/>
          <p:nvPr/>
        </p:nvCxnSpPr>
        <p:spPr>
          <a:xfrm>
            <a:off x="4570000" y="2670000"/>
            <a:ext cx="0" cy="1470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3" name="Google Shape;673;p35"/>
          <p:cNvSpPr txBox="1"/>
          <p:nvPr/>
        </p:nvSpPr>
        <p:spPr>
          <a:xfrm>
            <a:off x="700000" y="2680000"/>
            <a:ext cx="36501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1671D2"/>
                </a:solidFill>
              </a:rPr>
              <a:t>처리 흐름</a:t>
            </a:r>
            <a:endParaRPr b="1" sz="1800">
              <a:solidFill>
                <a:srgbClr val="1671D2"/>
              </a:solidFill>
            </a:endParaRPr>
          </a:p>
        </p:txBody>
      </p:sp>
      <p:sp>
        <p:nvSpPr>
          <p:cNvPr id="674" name="Google Shape;674;p35"/>
          <p:cNvSpPr txBox="1"/>
          <p:nvPr/>
        </p:nvSpPr>
        <p:spPr>
          <a:xfrm>
            <a:off x="700000" y="3172028"/>
            <a:ext cx="3600000" cy="9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263B55"/>
                </a:solidFill>
              </a:rPr>
              <a:t>얼굴 벡터로 등록 정보 검색</a:t>
            </a:r>
            <a:endParaRPr sz="1300">
              <a:solidFill>
                <a:srgbClr val="263B5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263B55"/>
                </a:solidFill>
              </a:rPr>
              <a:t>동일 인물 여부를 판정</a:t>
            </a:r>
            <a:endParaRPr sz="1300">
              <a:solidFill>
                <a:srgbClr val="263B5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263B55"/>
                </a:solidFill>
              </a:rPr>
              <a:t>식별된 인물의 출입 권한 확인</a:t>
            </a:r>
            <a:endParaRPr sz="1300">
              <a:solidFill>
                <a:srgbClr val="263B55"/>
              </a:solidFill>
            </a:endParaRPr>
          </a:p>
        </p:txBody>
      </p:sp>
      <p:sp>
        <p:nvSpPr>
          <p:cNvPr id="675" name="Google Shape;675;p35"/>
          <p:cNvSpPr txBox="1"/>
          <p:nvPr/>
        </p:nvSpPr>
        <p:spPr>
          <a:xfrm>
            <a:off x="4860000" y="2680000"/>
            <a:ext cx="36501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13785B"/>
                </a:solidFill>
              </a:rPr>
              <a:t>제어 결과</a:t>
            </a:r>
            <a:endParaRPr b="1" sz="1800">
              <a:solidFill>
                <a:srgbClr val="13785B"/>
              </a:solidFill>
            </a:endParaRPr>
          </a:p>
        </p:txBody>
      </p:sp>
      <p:sp>
        <p:nvSpPr>
          <p:cNvPr id="676" name="Google Shape;676;p35"/>
          <p:cNvSpPr txBox="1"/>
          <p:nvPr/>
        </p:nvSpPr>
        <p:spPr>
          <a:xfrm>
            <a:off x="4840000" y="3145071"/>
            <a:ext cx="3600000" cy="9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263B55"/>
                </a:solidFill>
              </a:rPr>
              <a:t>출입 허용  문 열림 명령 전달</a:t>
            </a:r>
            <a:endParaRPr sz="1300">
              <a:solidFill>
                <a:srgbClr val="263B5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263B55"/>
                </a:solidFill>
              </a:rPr>
              <a:t>미등록 인물  출입 거부</a:t>
            </a:r>
            <a:endParaRPr sz="1300">
              <a:solidFill>
                <a:srgbClr val="263B5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263B55"/>
                </a:solidFill>
              </a:rPr>
              <a:t>권한 없음  문 열림 명령 미전송</a:t>
            </a:r>
            <a:endParaRPr sz="1300">
              <a:solidFill>
                <a:srgbClr val="263B55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6"/>
          <p:cNvSpPr txBox="1"/>
          <p:nvPr/>
        </p:nvSpPr>
        <p:spPr>
          <a:xfrm>
            <a:off x="457200" y="177800"/>
            <a:ext cx="4445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50">
                <a:solidFill>
                  <a:srgbClr val="1A73E8"/>
                </a:solidFill>
                <a:latin typeface="Noto Sans KR"/>
                <a:ea typeface="Noto Sans KR"/>
                <a:cs typeface="Noto Sans KR"/>
                <a:sym typeface="Noto Sans KR"/>
              </a:rPr>
              <a:t>04 기능별 직무 분장표</a:t>
            </a:r>
            <a:endParaRPr b="1" sz="950">
              <a:solidFill>
                <a:srgbClr val="1A73E8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82" name="Google Shape;682;p36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rPr>
              <a:t>역할 분담</a:t>
            </a:r>
            <a:endParaRPr b="1" sz="2000">
              <a:solidFill>
                <a:srgbClr val="202124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83" name="Google Shape;683;p36"/>
          <p:cNvSpPr txBox="1"/>
          <p:nvPr/>
        </p:nvSpPr>
        <p:spPr>
          <a:xfrm>
            <a:off x="457200" y="4800600"/>
            <a:ext cx="5079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9AA0A6"/>
                </a:solidFill>
                <a:latin typeface="Noto Sans KR"/>
                <a:ea typeface="Noto Sans KR"/>
                <a:cs typeface="Noto Sans KR"/>
                <a:sym typeface="Noto Sans KR"/>
              </a:rPr>
              <a:t>T-Safe System · 요양시설 사고 감지 및 대응 모니터링 시스템</a:t>
            </a:r>
            <a:endParaRPr sz="800">
              <a:solidFill>
                <a:srgbClr val="9AA0A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84" name="Google Shape;684;p36"/>
          <p:cNvSpPr/>
          <p:nvPr/>
        </p:nvSpPr>
        <p:spPr>
          <a:xfrm>
            <a:off x="457200" y="1041400"/>
            <a:ext cx="2006700" cy="355500"/>
          </a:xfrm>
          <a:prstGeom prst="roundRect">
            <a:avLst>
              <a:gd fmla="val 16667" name="adj"/>
            </a:avLst>
          </a:prstGeom>
          <a:solidFill>
            <a:srgbClr val="F1F3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000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팀원  </a:t>
            </a:r>
            <a:endParaRPr b="1" sz="1000">
              <a:solidFill>
                <a:srgbClr val="5F6368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85" name="Google Shape;685;p36"/>
          <p:cNvSpPr/>
          <p:nvPr/>
        </p:nvSpPr>
        <p:spPr>
          <a:xfrm>
            <a:off x="2514600" y="1041400"/>
            <a:ext cx="1359900" cy="355500"/>
          </a:xfrm>
          <a:prstGeom prst="roundRect">
            <a:avLst>
              <a:gd fmla="val 16667" name="adj"/>
            </a:avLst>
          </a:prstGeom>
          <a:solidFill>
            <a:srgbClr val="1A73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0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출입 관리</a:t>
            </a:r>
            <a:endParaRPr b="1" sz="100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86" name="Google Shape;686;p36"/>
          <p:cNvSpPr/>
          <p:nvPr/>
        </p:nvSpPr>
        <p:spPr>
          <a:xfrm>
            <a:off x="3902675" y="1041400"/>
            <a:ext cx="1269900" cy="355500"/>
          </a:xfrm>
          <a:prstGeom prst="roundRect">
            <a:avLst>
              <a:gd fmla="val 16667" name="adj"/>
            </a:avLst>
          </a:prstGeom>
          <a:solidFill>
            <a:srgbClr val="C522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0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쓰러짐 </a:t>
            </a:r>
            <a:r>
              <a:rPr b="1" lang="ko" sz="10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감지</a:t>
            </a:r>
            <a:endParaRPr b="1" sz="100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87" name="Google Shape;687;p36"/>
          <p:cNvSpPr/>
          <p:nvPr/>
        </p:nvSpPr>
        <p:spPr>
          <a:xfrm>
            <a:off x="5200750" y="1028872"/>
            <a:ext cx="1428300" cy="355500"/>
          </a:xfrm>
          <a:prstGeom prst="roundRect">
            <a:avLst>
              <a:gd fmla="val 16667" name="adj"/>
            </a:avLst>
          </a:prstGeom>
          <a:solidFill>
            <a:srgbClr val="1880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0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입소자·직원 정보 관리</a:t>
            </a:r>
            <a:endParaRPr b="1" sz="100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88" name="Google Shape;688;p36"/>
          <p:cNvSpPr/>
          <p:nvPr/>
        </p:nvSpPr>
        <p:spPr>
          <a:xfrm>
            <a:off x="457200" y="1473200"/>
            <a:ext cx="7628400" cy="431700"/>
          </a:xfrm>
          <a:prstGeom prst="roundRect">
            <a:avLst>
              <a:gd fmla="val 16667" name="adj"/>
            </a:avLst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36"/>
          <p:cNvSpPr txBox="1"/>
          <p:nvPr/>
        </p:nvSpPr>
        <p:spPr>
          <a:xfrm>
            <a:off x="1160242" y="1473200"/>
            <a:ext cx="15747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rPr>
              <a:t>장 현 우</a:t>
            </a:r>
            <a:endParaRPr b="1" sz="1100">
              <a:solidFill>
                <a:srgbClr val="202124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rPr>
              <a:t>  </a:t>
            </a:r>
            <a:r>
              <a:rPr lang="ko" sz="1100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팀장</a:t>
            </a:r>
            <a:endParaRPr sz="1100">
              <a:solidFill>
                <a:srgbClr val="5F6368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90" name="Google Shape;690;p36"/>
          <p:cNvSpPr/>
          <p:nvPr/>
        </p:nvSpPr>
        <p:spPr>
          <a:xfrm>
            <a:off x="457200" y="1930400"/>
            <a:ext cx="7628400" cy="431700"/>
          </a:xfrm>
          <a:prstGeom prst="roundRect">
            <a:avLst>
              <a:gd fmla="val 16667" name="adj"/>
            </a:avLst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36"/>
          <p:cNvSpPr txBox="1"/>
          <p:nvPr/>
        </p:nvSpPr>
        <p:spPr>
          <a:xfrm>
            <a:off x="1160242" y="2006095"/>
            <a:ext cx="15747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rPr>
              <a:t>김 민 지</a:t>
            </a:r>
            <a:endParaRPr b="1" sz="1100">
              <a:solidFill>
                <a:srgbClr val="202124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5F6368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92" name="Google Shape;692;p36"/>
          <p:cNvSpPr/>
          <p:nvPr/>
        </p:nvSpPr>
        <p:spPr>
          <a:xfrm>
            <a:off x="2549022" y="1993900"/>
            <a:ext cx="1290900" cy="304800"/>
          </a:xfrm>
          <a:prstGeom prst="roundRect">
            <a:avLst>
              <a:gd fmla="val 16667" name="adj"/>
            </a:avLst>
          </a:prstGeom>
          <a:solidFill>
            <a:srgbClr val="E8F0FE"/>
          </a:solidFill>
          <a:ln cap="flat" cmpd="sng" w="9525">
            <a:solidFill>
              <a:srgbClr val="1A7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174EA6"/>
                </a:solidFill>
                <a:latin typeface="Noto Sans KR"/>
                <a:ea typeface="Noto Sans KR"/>
                <a:cs typeface="Noto Sans KR"/>
                <a:sym typeface="Noto Sans KR"/>
              </a:rPr>
              <a:t>얼굴 인식,GUI</a:t>
            </a:r>
            <a:endParaRPr b="1" sz="800">
              <a:solidFill>
                <a:srgbClr val="174EA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93" name="Google Shape;693;p36"/>
          <p:cNvSpPr/>
          <p:nvPr/>
        </p:nvSpPr>
        <p:spPr>
          <a:xfrm>
            <a:off x="457200" y="2387600"/>
            <a:ext cx="7628400" cy="431700"/>
          </a:xfrm>
          <a:prstGeom prst="roundRect">
            <a:avLst>
              <a:gd fmla="val 16667" name="adj"/>
            </a:avLst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36"/>
          <p:cNvSpPr txBox="1"/>
          <p:nvPr/>
        </p:nvSpPr>
        <p:spPr>
          <a:xfrm>
            <a:off x="1160242" y="2463295"/>
            <a:ext cx="15747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rPr>
              <a:t>원 지 승</a:t>
            </a:r>
            <a:endParaRPr b="1" sz="1100">
              <a:solidFill>
                <a:srgbClr val="202124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5F6368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95" name="Google Shape;695;p36"/>
          <p:cNvSpPr/>
          <p:nvPr/>
        </p:nvSpPr>
        <p:spPr>
          <a:xfrm>
            <a:off x="2549022" y="2451100"/>
            <a:ext cx="1290900" cy="304800"/>
          </a:xfrm>
          <a:prstGeom prst="roundRect">
            <a:avLst>
              <a:gd fmla="val 16667" name="adj"/>
            </a:avLst>
          </a:prstGeom>
          <a:solidFill>
            <a:srgbClr val="E8F0FE"/>
          </a:solidFill>
          <a:ln cap="flat" cmpd="sng" w="9525">
            <a:solidFill>
              <a:srgbClr val="1A7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174EA6"/>
                </a:solidFill>
                <a:latin typeface="Noto Sans KR"/>
                <a:ea typeface="Noto Sans KR"/>
                <a:cs typeface="Noto Sans KR"/>
                <a:sym typeface="Noto Sans KR"/>
              </a:rPr>
              <a:t>보조</a:t>
            </a:r>
            <a:endParaRPr b="1" sz="800">
              <a:solidFill>
                <a:srgbClr val="174EA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96" name="Google Shape;696;p36"/>
          <p:cNvSpPr/>
          <p:nvPr/>
        </p:nvSpPr>
        <p:spPr>
          <a:xfrm>
            <a:off x="457200" y="2844800"/>
            <a:ext cx="7628400" cy="431700"/>
          </a:xfrm>
          <a:prstGeom prst="roundRect">
            <a:avLst>
              <a:gd fmla="val 16667" name="adj"/>
            </a:avLst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36"/>
          <p:cNvSpPr txBox="1"/>
          <p:nvPr/>
        </p:nvSpPr>
        <p:spPr>
          <a:xfrm>
            <a:off x="1160242" y="2920495"/>
            <a:ext cx="15747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rPr>
              <a:t>장 윤 호</a:t>
            </a:r>
            <a:endParaRPr b="1" sz="1100">
              <a:solidFill>
                <a:srgbClr val="202124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5F6368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98" name="Google Shape;698;p36"/>
          <p:cNvSpPr/>
          <p:nvPr/>
        </p:nvSpPr>
        <p:spPr>
          <a:xfrm>
            <a:off x="3934823" y="2908300"/>
            <a:ext cx="1205400" cy="304800"/>
          </a:xfrm>
          <a:prstGeom prst="roundRect">
            <a:avLst>
              <a:gd fmla="val 16667" name="adj"/>
            </a:avLst>
          </a:prstGeom>
          <a:solidFill>
            <a:srgbClr val="FCE8E6"/>
          </a:solidFill>
          <a:ln cap="flat" cmpd="sng" w="9525">
            <a:solidFill>
              <a:srgbClr val="C522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A50E0E"/>
                </a:solidFill>
                <a:latin typeface="Noto Sans KR"/>
                <a:ea typeface="Noto Sans KR"/>
                <a:cs typeface="Noto Sans KR"/>
                <a:sym typeface="Noto Sans KR"/>
              </a:rPr>
              <a:t>쓰러짐 감지</a:t>
            </a:r>
            <a:endParaRPr b="1" sz="800">
              <a:solidFill>
                <a:srgbClr val="A50E0E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99" name="Google Shape;699;p36"/>
          <p:cNvSpPr/>
          <p:nvPr/>
        </p:nvSpPr>
        <p:spPr>
          <a:xfrm>
            <a:off x="457200" y="3302000"/>
            <a:ext cx="7628400" cy="431700"/>
          </a:xfrm>
          <a:prstGeom prst="roundRect">
            <a:avLst>
              <a:gd fmla="val 16667" name="adj"/>
            </a:avLst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36"/>
          <p:cNvSpPr txBox="1"/>
          <p:nvPr/>
        </p:nvSpPr>
        <p:spPr>
          <a:xfrm>
            <a:off x="1160242" y="3377695"/>
            <a:ext cx="15747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rPr>
              <a:t>윤 중 호</a:t>
            </a:r>
            <a:endParaRPr b="1" sz="1100">
              <a:solidFill>
                <a:srgbClr val="202124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5F6368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01" name="Google Shape;701;p36"/>
          <p:cNvSpPr/>
          <p:nvPr/>
        </p:nvSpPr>
        <p:spPr>
          <a:xfrm>
            <a:off x="457200" y="3759200"/>
            <a:ext cx="7628400" cy="431700"/>
          </a:xfrm>
          <a:prstGeom prst="roundRect">
            <a:avLst>
              <a:gd fmla="val 16667" name="adj"/>
            </a:avLst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36"/>
          <p:cNvSpPr txBox="1"/>
          <p:nvPr/>
        </p:nvSpPr>
        <p:spPr>
          <a:xfrm>
            <a:off x="1160242" y="3834895"/>
            <a:ext cx="15747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rPr>
              <a:t>이 채 민</a:t>
            </a:r>
            <a:endParaRPr b="1" sz="1100">
              <a:solidFill>
                <a:srgbClr val="202124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5F6368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03" name="Google Shape;703;p36"/>
          <p:cNvSpPr/>
          <p:nvPr/>
        </p:nvSpPr>
        <p:spPr>
          <a:xfrm>
            <a:off x="457200" y="4216400"/>
            <a:ext cx="7628400" cy="431700"/>
          </a:xfrm>
          <a:prstGeom prst="roundRect">
            <a:avLst>
              <a:gd fmla="val 16667" name="adj"/>
            </a:avLst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36"/>
          <p:cNvSpPr txBox="1"/>
          <p:nvPr/>
        </p:nvSpPr>
        <p:spPr>
          <a:xfrm>
            <a:off x="1160242" y="4292095"/>
            <a:ext cx="15747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rPr>
              <a:t>김 진 욱</a:t>
            </a:r>
            <a:endParaRPr b="1" sz="1100">
              <a:solidFill>
                <a:srgbClr val="202124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5F6368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05" name="Google Shape;705;p36"/>
          <p:cNvSpPr/>
          <p:nvPr/>
        </p:nvSpPr>
        <p:spPr>
          <a:xfrm>
            <a:off x="2549022" y="1511250"/>
            <a:ext cx="1290900" cy="304800"/>
          </a:xfrm>
          <a:prstGeom prst="roundRect">
            <a:avLst>
              <a:gd fmla="val 16667" name="adj"/>
            </a:avLst>
          </a:prstGeom>
          <a:solidFill>
            <a:srgbClr val="E8F0FE"/>
          </a:solidFill>
          <a:ln cap="flat" cmpd="sng" w="9525">
            <a:solidFill>
              <a:srgbClr val="1A7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174EA6"/>
                </a:solidFill>
                <a:latin typeface="Noto Sans KR"/>
                <a:ea typeface="Noto Sans KR"/>
                <a:cs typeface="Noto Sans KR"/>
                <a:sym typeface="Noto Sans KR"/>
              </a:rPr>
              <a:t>얼굴 추적</a:t>
            </a:r>
            <a:endParaRPr b="1" sz="800">
              <a:solidFill>
                <a:srgbClr val="174EA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06" name="Google Shape;706;p36"/>
          <p:cNvSpPr/>
          <p:nvPr/>
        </p:nvSpPr>
        <p:spPr>
          <a:xfrm>
            <a:off x="6657225" y="1028872"/>
            <a:ext cx="1428300" cy="355500"/>
          </a:xfrm>
          <a:prstGeom prst="roundRect">
            <a:avLst>
              <a:gd fmla="val 16667" name="adj"/>
            </a:avLst>
          </a:prstGeom>
          <a:solidFill>
            <a:srgbClr val="674E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0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시스템 설계 </a:t>
            </a:r>
            <a:endParaRPr b="1" sz="100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07" name="Google Shape;707;p36"/>
          <p:cNvSpPr/>
          <p:nvPr/>
        </p:nvSpPr>
        <p:spPr>
          <a:xfrm>
            <a:off x="6693381" y="3340100"/>
            <a:ext cx="1355700" cy="3048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9525">
            <a:solidFill>
              <a:srgbClr val="674E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674EA7"/>
                </a:solidFill>
                <a:latin typeface="Noto Sans KR"/>
                <a:ea typeface="Noto Sans KR"/>
                <a:cs typeface="Noto Sans KR"/>
                <a:sym typeface="Noto Sans KR"/>
              </a:rPr>
              <a:t>Sequence Diagram  설계 및 관리</a:t>
            </a:r>
            <a:endParaRPr b="1" sz="800">
              <a:solidFill>
                <a:srgbClr val="674EA7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08" name="Google Shape;708;p36"/>
          <p:cNvSpPr/>
          <p:nvPr/>
        </p:nvSpPr>
        <p:spPr>
          <a:xfrm>
            <a:off x="6693381" y="3810000"/>
            <a:ext cx="1355700" cy="3048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9525">
            <a:solidFill>
              <a:srgbClr val="674E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674EA7"/>
                </a:solidFill>
                <a:latin typeface="Noto Sans KR"/>
                <a:ea typeface="Noto Sans KR"/>
                <a:cs typeface="Noto Sans KR"/>
                <a:sym typeface="Noto Sans KR"/>
              </a:rPr>
              <a:t>Main Server </a:t>
            </a:r>
            <a:r>
              <a:rPr b="1" lang="ko" sz="800">
                <a:solidFill>
                  <a:srgbClr val="674EA7"/>
                </a:solidFill>
                <a:latin typeface="Noto Sans KR"/>
                <a:ea typeface="Noto Sans KR"/>
                <a:cs typeface="Noto Sans KR"/>
                <a:sym typeface="Noto Sans KR"/>
              </a:rPr>
              <a:t> · DB 구현</a:t>
            </a:r>
            <a:endParaRPr b="1" sz="800">
              <a:solidFill>
                <a:srgbClr val="674EA7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09" name="Google Shape;709;p36"/>
          <p:cNvSpPr/>
          <p:nvPr/>
        </p:nvSpPr>
        <p:spPr>
          <a:xfrm>
            <a:off x="5236906" y="4305300"/>
            <a:ext cx="1355700" cy="304800"/>
          </a:xfrm>
          <a:prstGeom prst="roundRect">
            <a:avLst>
              <a:gd fmla="val 16667" name="adj"/>
            </a:avLst>
          </a:prstGeom>
          <a:solidFill>
            <a:srgbClr val="E6F4EA"/>
          </a:solidFill>
          <a:ln cap="flat" cmpd="sng" w="952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0D652D"/>
                </a:solidFill>
                <a:latin typeface="Noto Sans KR"/>
                <a:ea typeface="Noto Sans KR"/>
                <a:cs typeface="Noto Sans KR"/>
                <a:sym typeface="Noto Sans KR"/>
              </a:rPr>
              <a:t>등록/수정/삭제 구현</a:t>
            </a:r>
            <a:endParaRPr b="1" sz="800">
              <a:solidFill>
                <a:srgbClr val="0D652D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10" name="Google Shape;710;p36"/>
          <p:cNvSpPr txBox="1"/>
          <p:nvPr/>
        </p:nvSpPr>
        <p:spPr>
          <a:xfrm>
            <a:off x="7416800" y="4800600"/>
            <a:ext cx="1269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9AA0A6"/>
                </a:solidFill>
                <a:latin typeface="Noto Sans KR"/>
                <a:ea typeface="Noto Sans KR"/>
                <a:cs typeface="Noto Sans KR"/>
                <a:sym typeface="Noto Sans KR"/>
              </a:rPr>
              <a:t>24 / </a:t>
            </a:r>
            <a:r>
              <a:rPr lang="ko" sz="800">
                <a:solidFill>
                  <a:srgbClr val="9AA0A6"/>
                </a:solidFill>
                <a:latin typeface="Noto Sans KR"/>
                <a:ea typeface="Noto Sans KR"/>
                <a:cs typeface="Noto Sans KR"/>
                <a:sym typeface="Noto Sans KR"/>
              </a:rPr>
              <a:t>27</a:t>
            </a:r>
            <a:endParaRPr sz="800">
              <a:solidFill>
                <a:srgbClr val="9AA0A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37"/>
          <p:cNvSpPr txBox="1"/>
          <p:nvPr/>
        </p:nvSpPr>
        <p:spPr>
          <a:xfrm>
            <a:off x="457200" y="177800"/>
            <a:ext cx="4445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50">
                <a:solidFill>
                  <a:srgbClr val="1A73E8"/>
                </a:solidFill>
                <a:latin typeface="Noto Sans KR"/>
                <a:ea typeface="Noto Sans KR"/>
                <a:cs typeface="Noto Sans KR"/>
                <a:sym typeface="Noto Sans KR"/>
              </a:rPr>
              <a:t>05 파트별 프로젝트 회고</a:t>
            </a:r>
            <a:endParaRPr b="1" sz="950">
              <a:solidFill>
                <a:srgbClr val="1A73E8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50">
              <a:solidFill>
                <a:srgbClr val="1A73E8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16" name="Google Shape;716;p37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rPr>
              <a:t>파트별 프로젝트 회고</a:t>
            </a:r>
            <a:endParaRPr b="1" sz="2000">
              <a:solidFill>
                <a:srgbClr val="202124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17" name="Google Shape;717;p37"/>
          <p:cNvSpPr txBox="1"/>
          <p:nvPr/>
        </p:nvSpPr>
        <p:spPr>
          <a:xfrm>
            <a:off x="457200" y="4800600"/>
            <a:ext cx="5079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9AA0A6"/>
                </a:solidFill>
                <a:latin typeface="Noto Sans KR"/>
                <a:ea typeface="Noto Sans KR"/>
                <a:cs typeface="Noto Sans KR"/>
                <a:sym typeface="Noto Sans KR"/>
              </a:rPr>
              <a:t>T-Safe System · 요양시설 사고 감지 및 대응 모니터링 시스템</a:t>
            </a:r>
            <a:endParaRPr sz="800">
              <a:solidFill>
                <a:srgbClr val="9AA0A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18" name="Google Shape;718;p37"/>
          <p:cNvSpPr/>
          <p:nvPr/>
        </p:nvSpPr>
        <p:spPr>
          <a:xfrm>
            <a:off x="457200" y="965200"/>
            <a:ext cx="8229600" cy="330300"/>
          </a:xfrm>
          <a:prstGeom prst="roundRect">
            <a:avLst>
              <a:gd fmla="val 16667" name="adj"/>
            </a:avLst>
          </a:prstGeom>
          <a:solidFill>
            <a:srgbClr val="FEF7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000">
                <a:solidFill>
                  <a:srgbClr val="B06000"/>
                </a:solidFill>
                <a:latin typeface="Noto Sans KR"/>
                <a:ea typeface="Noto Sans KR"/>
                <a:cs typeface="Noto Sans KR"/>
                <a:sym typeface="Noto Sans KR"/>
              </a:rPr>
              <a:t>Takeaway   </a:t>
            </a:r>
            <a:r>
              <a:rPr lang="ko" sz="900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분산 개발의 완성도는 인터페이스 합의와 통합 검증에서 결정된다</a:t>
            </a:r>
            <a:endParaRPr sz="900">
              <a:solidFill>
                <a:srgbClr val="5F6368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19" name="Google Shape;719;p37"/>
          <p:cNvSpPr/>
          <p:nvPr/>
        </p:nvSpPr>
        <p:spPr>
          <a:xfrm>
            <a:off x="1930400" y="1371600"/>
            <a:ext cx="1621500" cy="304800"/>
          </a:xfrm>
          <a:prstGeom prst="roundRect">
            <a:avLst>
              <a:gd fmla="val 16667" name="adj"/>
            </a:avLst>
          </a:prstGeom>
          <a:solidFill>
            <a:srgbClr val="1A73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5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출입 관리</a:t>
            </a:r>
            <a:endParaRPr b="1" sz="95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20" name="Google Shape;720;p37"/>
          <p:cNvSpPr/>
          <p:nvPr/>
        </p:nvSpPr>
        <p:spPr>
          <a:xfrm>
            <a:off x="3642000" y="1371600"/>
            <a:ext cx="1621500" cy="304800"/>
          </a:xfrm>
          <a:prstGeom prst="roundRect">
            <a:avLst>
              <a:gd fmla="val 16667" name="adj"/>
            </a:avLst>
          </a:prstGeom>
          <a:solidFill>
            <a:srgbClr val="C522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5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쓰러짐 감지</a:t>
            </a:r>
            <a:endParaRPr b="1" sz="95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21" name="Google Shape;721;p37"/>
          <p:cNvSpPr/>
          <p:nvPr/>
        </p:nvSpPr>
        <p:spPr>
          <a:xfrm>
            <a:off x="5353600" y="1371600"/>
            <a:ext cx="1621500" cy="304800"/>
          </a:xfrm>
          <a:prstGeom prst="roundRect">
            <a:avLst>
              <a:gd fmla="val 16667" name="adj"/>
            </a:avLst>
          </a:prstGeom>
          <a:solidFill>
            <a:srgbClr val="1880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5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입소자·직원 정보 관리</a:t>
            </a:r>
            <a:endParaRPr b="1" sz="95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22" name="Google Shape;722;p37"/>
          <p:cNvSpPr/>
          <p:nvPr/>
        </p:nvSpPr>
        <p:spPr>
          <a:xfrm>
            <a:off x="457200" y="1727200"/>
            <a:ext cx="1422300" cy="939900"/>
          </a:xfrm>
          <a:prstGeom prst="roundRect">
            <a:avLst>
              <a:gd fmla="val 16667" name="adj"/>
            </a:avLst>
          </a:prstGeom>
          <a:solidFill>
            <a:srgbClr val="F1F3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5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rPr>
              <a:t>Challenges</a:t>
            </a:r>
            <a:endParaRPr b="1" sz="850">
              <a:solidFill>
                <a:srgbClr val="202124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750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어려웠던 점</a:t>
            </a:r>
            <a:endParaRPr sz="750">
              <a:solidFill>
                <a:srgbClr val="5F6368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23" name="Google Shape;723;p37"/>
          <p:cNvSpPr/>
          <p:nvPr/>
        </p:nvSpPr>
        <p:spPr>
          <a:xfrm>
            <a:off x="1930400" y="1727200"/>
            <a:ext cx="1621500" cy="939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AD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80975" lvl="0" marL="152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850"/>
              <a:buFont typeface="Noto Sans KR"/>
              <a:buChar char="●"/>
            </a:pPr>
            <a:r>
              <a:rPr lang="ko" sz="850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카메라 성능</a:t>
            </a:r>
            <a:endParaRPr sz="850">
              <a:solidFill>
                <a:srgbClr val="5F6368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80975" lvl="0" marL="152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850"/>
              <a:buFont typeface="Noto Sans KR"/>
              <a:buChar char="●"/>
            </a:pPr>
            <a:r>
              <a:rPr lang="ko" sz="850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키트 도착 지연</a:t>
            </a:r>
            <a:endParaRPr sz="850">
              <a:solidFill>
                <a:srgbClr val="5F6368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24" name="Google Shape;724;p37"/>
          <p:cNvSpPr/>
          <p:nvPr/>
        </p:nvSpPr>
        <p:spPr>
          <a:xfrm>
            <a:off x="5353600" y="1727200"/>
            <a:ext cx="1621500" cy="939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AD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84150" lvl="0" marL="152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900"/>
              <a:buFont typeface="Noto Sans KR"/>
              <a:buChar char="●"/>
            </a:pPr>
            <a:r>
              <a:rPr lang="ko" sz="900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GUI·서버·DB 간</a:t>
            </a:r>
            <a:endParaRPr sz="900">
              <a:solidFill>
                <a:srgbClr val="5F6368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84150" lvl="0" marL="152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900"/>
              <a:buFont typeface="Noto Sans KR"/>
              <a:buChar char="●"/>
            </a:pPr>
            <a:r>
              <a:rPr lang="ko" sz="900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등록·수정 데이터 동기화</a:t>
            </a:r>
            <a:endParaRPr sz="900">
              <a:solidFill>
                <a:srgbClr val="5F6368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25" name="Google Shape;725;p37"/>
          <p:cNvSpPr/>
          <p:nvPr/>
        </p:nvSpPr>
        <p:spPr>
          <a:xfrm>
            <a:off x="457200" y="2717800"/>
            <a:ext cx="1422300" cy="939900"/>
          </a:xfrm>
          <a:prstGeom prst="roundRect">
            <a:avLst>
              <a:gd fmla="val 16667" name="adj"/>
            </a:avLst>
          </a:prstGeom>
          <a:solidFill>
            <a:srgbClr val="F1F3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5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rPr>
              <a:t>Data Gaps &amp; Bottlenecks</a:t>
            </a:r>
            <a:endParaRPr b="1" sz="850">
              <a:solidFill>
                <a:srgbClr val="202124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750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부족했던 데이터 · 병목</a:t>
            </a:r>
            <a:endParaRPr sz="750">
              <a:solidFill>
                <a:srgbClr val="5F6368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26" name="Google Shape;726;p37"/>
          <p:cNvSpPr/>
          <p:nvPr/>
        </p:nvSpPr>
        <p:spPr>
          <a:xfrm>
            <a:off x="5353600" y="2717800"/>
            <a:ext cx="1621500" cy="939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AD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80975" lvl="0" marL="152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850"/>
              <a:buFont typeface="Noto Sans KR"/>
              <a:buChar char="●"/>
            </a:pPr>
            <a:r>
              <a:rPr lang="ko" sz="850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로컬 캐시와 서버 값 불일치</a:t>
            </a:r>
            <a:endParaRPr sz="850">
              <a:solidFill>
                <a:srgbClr val="5F6368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80975" lvl="0" marL="152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850"/>
              <a:buFont typeface="Noto Sans KR"/>
              <a:buChar char="●"/>
            </a:pPr>
            <a:r>
              <a:rPr lang="ko" sz="850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중복 등록 문제 확인</a:t>
            </a:r>
            <a:endParaRPr sz="850">
              <a:solidFill>
                <a:srgbClr val="5F6368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27" name="Google Shape;727;p37"/>
          <p:cNvSpPr/>
          <p:nvPr/>
        </p:nvSpPr>
        <p:spPr>
          <a:xfrm>
            <a:off x="457200" y="3708400"/>
            <a:ext cx="1422300" cy="939900"/>
          </a:xfrm>
          <a:prstGeom prst="roundRect">
            <a:avLst>
              <a:gd fmla="val 16667" name="adj"/>
            </a:avLst>
          </a:prstGeom>
          <a:solidFill>
            <a:srgbClr val="F1F3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5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rPr>
              <a:t>Lessons Learned</a:t>
            </a:r>
            <a:endParaRPr b="1" sz="850">
              <a:solidFill>
                <a:srgbClr val="202124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750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배운 점</a:t>
            </a:r>
            <a:endParaRPr sz="750">
              <a:solidFill>
                <a:srgbClr val="5F6368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28" name="Google Shape;728;p37"/>
          <p:cNvSpPr/>
          <p:nvPr/>
        </p:nvSpPr>
        <p:spPr>
          <a:xfrm>
            <a:off x="5353600" y="3708400"/>
            <a:ext cx="1621500" cy="939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AD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80975" lvl="0" marL="152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850"/>
              <a:buFont typeface="Noto Sans KR"/>
              <a:buChar char="●"/>
            </a:pPr>
            <a:r>
              <a:rPr lang="ko" sz="850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서버 DB를 기준으로 관리</a:t>
            </a:r>
            <a:endParaRPr sz="850">
              <a:solidFill>
                <a:srgbClr val="5F6368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80975" lvl="0" marL="152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850"/>
              <a:buFont typeface="Noto Sans KR"/>
              <a:buChar char="●"/>
            </a:pPr>
            <a:r>
              <a:rPr lang="ko" sz="850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CRUD 결과를 교차 검증</a:t>
            </a:r>
            <a:endParaRPr sz="850">
              <a:solidFill>
                <a:srgbClr val="5F6368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29" name="Google Shape;729;p37"/>
          <p:cNvSpPr/>
          <p:nvPr/>
        </p:nvSpPr>
        <p:spPr>
          <a:xfrm>
            <a:off x="7065200" y="1371600"/>
            <a:ext cx="1621500" cy="304800"/>
          </a:xfrm>
          <a:prstGeom prst="roundRect">
            <a:avLst>
              <a:gd fmla="val 16667" name="adj"/>
            </a:avLst>
          </a:prstGeom>
          <a:solidFill>
            <a:srgbClr val="674E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5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시스템 설계</a:t>
            </a:r>
            <a:endParaRPr b="1" sz="95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30" name="Google Shape;730;p37"/>
          <p:cNvSpPr/>
          <p:nvPr/>
        </p:nvSpPr>
        <p:spPr>
          <a:xfrm>
            <a:off x="7065200" y="1727200"/>
            <a:ext cx="1621500" cy="939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AD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80975" lvl="0" marL="152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850"/>
              <a:buFont typeface="Noto Sans KR"/>
              <a:buChar char="●"/>
            </a:pPr>
            <a:r>
              <a:rPr lang="ko" sz="850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각 모듈 통신 규격 조율</a:t>
            </a:r>
            <a:endParaRPr sz="850">
              <a:solidFill>
                <a:srgbClr val="5F6368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80975" lvl="0" marL="152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850"/>
              <a:buFont typeface="Noto Sans KR"/>
              <a:buChar char="●"/>
            </a:pPr>
            <a:r>
              <a:rPr lang="ko" sz="850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서버·장치 연동 문제 해결</a:t>
            </a:r>
            <a:endParaRPr sz="850">
              <a:solidFill>
                <a:srgbClr val="5F6368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31" name="Google Shape;731;p37"/>
          <p:cNvSpPr/>
          <p:nvPr/>
        </p:nvSpPr>
        <p:spPr>
          <a:xfrm>
            <a:off x="7065200" y="2717800"/>
            <a:ext cx="1621500" cy="939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AD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80975" lvl="0" marL="152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850"/>
              <a:buFont typeface="Noto Sans KR"/>
              <a:buChar char="●"/>
            </a:pPr>
            <a:r>
              <a:rPr lang="ko" sz="850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시퀀스 변경 시 연동 재조정</a:t>
            </a:r>
            <a:endParaRPr sz="850">
              <a:solidFill>
                <a:srgbClr val="5F6368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80975" lvl="0" marL="152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850"/>
              <a:buFont typeface="Noto Sans KR"/>
              <a:buChar char="●"/>
            </a:pPr>
            <a:r>
              <a:rPr lang="ko" sz="850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장애·통합 시험 범위 부족</a:t>
            </a:r>
            <a:endParaRPr sz="850">
              <a:solidFill>
                <a:srgbClr val="5F6368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32" name="Google Shape;732;p37"/>
          <p:cNvSpPr/>
          <p:nvPr/>
        </p:nvSpPr>
        <p:spPr>
          <a:xfrm>
            <a:off x="7065200" y="3708400"/>
            <a:ext cx="1621500" cy="939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AD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80975" lvl="0" marL="152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850"/>
              <a:buFont typeface="Noto Sans KR"/>
              <a:buChar char="●"/>
            </a:pPr>
            <a:r>
              <a:rPr lang="ko" sz="850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시퀀스·명세 표준화가 병렬 개발과 통합의 기반</a:t>
            </a:r>
            <a:endParaRPr sz="850">
              <a:solidFill>
                <a:srgbClr val="5F6368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33" name="Google Shape;733;p37"/>
          <p:cNvSpPr/>
          <p:nvPr/>
        </p:nvSpPr>
        <p:spPr>
          <a:xfrm>
            <a:off x="1950000" y="2717800"/>
            <a:ext cx="1621500" cy="939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AD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80975" lvl="0" marL="152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850"/>
              <a:buFont typeface="Noto Sans KR"/>
              <a:buChar char="●"/>
            </a:pPr>
            <a:r>
              <a:rPr lang="ko" sz="850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전체 SA 작성 지연</a:t>
            </a:r>
            <a:endParaRPr sz="850">
              <a:solidFill>
                <a:srgbClr val="5F6368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80975" lvl="0" marL="152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850"/>
              <a:buFont typeface="Noto Sans KR"/>
              <a:buChar char="●"/>
            </a:pPr>
            <a:r>
              <a:rPr lang="ko" sz="850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기능 구현 불 충분</a:t>
            </a:r>
            <a:endParaRPr sz="850">
              <a:solidFill>
                <a:srgbClr val="5F6368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34" name="Google Shape;734;p37"/>
          <p:cNvSpPr/>
          <p:nvPr/>
        </p:nvSpPr>
        <p:spPr>
          <a:xfrm>
            <a:off x="1930400" y="3708400"/>
            <a:ext cx="1621500" cy="939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AD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80975" lvl="0" marL="152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850"/>
              <a:buFont typeface="Noto Sans KR"/>
              <a:buChar char="●"/>
            </a:pPr>
            <a:r>
              <a:rPr lang="ko" sz="850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기술 조사 미리하기</a:t>
            </a:r>
            <a:endParaRPr sz="850">
              <a:solidFill>
                <a:srgbClr val="5F6368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80975" lvl="0" marL="152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850"/>
              <a:buFont typeface="Noto Sans KR"/>
              <a:buChar char="●"/>
            </a:pPr>
            <a:r>
              <a:rPr lang="ko" sz="850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협동 SPRINT 빨리 작성</a:t>
            </a:r>
            <a:endParaRPr sz="850">
              <a:solidFill>
                <a:srgbClr val="5F6368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35" name="Google Shape;735;p37"/>
          <p:cNvSpPr/>
          <p:nvPr/>
        </p:nvSpPr>
        <p:spPr>
          <a:xfrm>
            <a:off x="3642000" y="1727200"/>
            <a:ext cx="1621500" cy="939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AD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80975" lvl="0" marL="152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850"/>
              <a:buFont typeface="Noto Sans KR"/>
              <a:buChar char="●"/>
            </a:pPr>
            <a:r>
              <a:rPr lang="ko" sz="850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쓰러짐 판단 기준 정의</a:t>
            </a:r>
            <a:endParaRPr sz="850">
              <a:solidFill>
                <a:srgbClr val="5F6368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80975" lvl="0" marL="152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850"/>
              <a:buFont typeface="Noto Sans KR"/>
              <a:buChar char="●"/>
            </a:pPr>
            <a:r>
              <a:rPr lang="ko" sz="850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행동 변화와 사고 상태 구분</a:t>
            </a:r>
            <a:endParaRPr sz="850">
              <a:solidFill>
                <a:srgbClr val="5F6368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36" name="Google Shape;736;p37"/>
          <p:cNvSpPr/>
          <p:nvPr/>
        </p:nvSpPr>
        <p:spPr>
          <a:xfrm>
            <a:off x="3661600" y="2717800"/>
            <a:ext cx="1621500" cy="939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AD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80975" lvl="0" marL="152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850"/>
              <a:buFont typeface="Noto Sans KR"/>
              <a:buChar char="●"/>
            </a:pPr>
            <a:r>
              <a:rPr lang="ko" sz="850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학습 영상·CCTV 환경 차이</a:t>
            </a:r>
            <a:endParaRPr sz="850">
              <a:solidFill>
                <a:srgbClr val="5F6368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80975" lvl="0" marL="152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850"/>
              <a:buFont typeface="Noto Sans KR"/>
              <a:buChar char="●"/>
            </a:pPr>
            <a:r>
              <a:rPr lang="ko" sz="850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시계열 구간 간 판단 불연속</a:t>
            </a:r>
            <a:endParaRPr sz="850">
              <a:solidFill>
                <a:srgbClr val="5F6368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37" name="Google Shape;737;p37"/>
          <p:cNvSpPr/>
          <p:nvPr/>
        </p:nvSpPr>
        <p:spPr>
          <a:xfrm>
            <a:off x="3661600" y="3708400"/>
            <a:ext cx="1621500" cy="939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AD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77800" lvl="0" marL="152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800"/>
              <a:buFont typeface="Noto Sans KR"/>
              <a:buChar char="●"/>
            </a:pPr>
            <a:r>
              <a:rPr lang="ko" sz="800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수식 기반 직접 판정의 한계</a:t>
            </a:r>
            <a:endParaRPr sz="800">
              <a:solidFill>
                <a:srgbClr val="5F6368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7800" lvl="0" marL="152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800"/>
              <a:buFont typeface="Noto Sans KR"/>
              <a:buChar char="●"/>
            </a:pPr>
            <a:r>
              <a:rPr lang="ko" sz="800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행동 인식과 상태 전이 분리</a:t>
            </a:r>
            <a:endParaRPr sz="800">
              <a:solidFill>
                <a:srgbClr val="5F6368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7800" lvl="0" marL="152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800"/>
              <a:buFont typeface="Noto Sans KR"/>
              <a:buChar char="●"/>
            </a:pPr>
            <a:r>
              <a:rPr lang="ko" sz="800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인식·상황 판단·결정의 연결</a:t>
            </a:r>
            <a:endParaRPr sz="800">
              <a:solidFill>
                <a:srgbClr val="5F6368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38" name="Google Shape;738;p37"/>
          <p:cNvSpPr txBox="1"/>
          <p:nvPr/>
        </p:nvSpPr>
        <p:spPr>
          <a:xfrm>
            <a:off x="7416800" y="4800600"/>
            <a:ext cx="1269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9AA0A6"/>
                </a:solidFill>
                <a:latin typeface="Noto Sans KR"/>
                <a:ea typeface="Noto Sans KR"/>
                <a:cs typeface="Noto Sans KR"/>
                <a:sym typeface="Noto Sans KR"/>
              </a:rPr>
              <a:t>25</a:t>
            </a:r>
            <a:r>
              <a:rPr lang="ko" sz="800">
                <a:solidFill>
                  <a:srgbClr val="9AA0A6"/>
                </a:solidFill>
                <a:latin typeface="Noto Sans KR"/>
                <a:ea typeface="Noto Sans KR"/>
                <a:cs typeface="Noto Sans KR"/>
                <a:sym typeface="Noto Sans KR"/>
              </a:rPr>
              <a:t> / </a:t>
            </a:r>
            <a:r>
              <a:rPr lang="ko" sz="800">
                <a:solidFill>
                  <a:srgbClr val="9AA0A6"/>
                </a:solidFill>
                <a:latin typeface="Noto Sans KR"/>
                <a:ea typeface="Noto Sans KR"/>
                <a:cs typeface="Noto Sans KR"/>
                <a:sym typeface="Noto Sans KR"/>
              </a:rPr>
              <a:t>27</a:t>
            </a:r>
            <a:endParaRPr sz="800">
              <a:solidFill>
                <a:srgbClr val="9AA0A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38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rPr>
              <a:t>한계와 다음 단계</a:t>
            </a:r>
            <a:endParaRPr b="1" sz="2000">
              <a:solidFill>
                <a:srgbClr val="202124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44" name="Google Shape;744;p38"/>
          <p:cNvSpPr txBox="1"/>
          <p:nvPr/>
        </p:nvSpPr>
        <p:spPr>
          <a:xfrm>
            <a:off x="457200" y="4800600"/>
            <a:ext cx="5079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9AA0A6"/>
                </a:solidFill>
                <a:latin typeface="Noto Sans KR"/>
                <a:ea typeface="Noto Sans KR"/>
                <a:cs typeface="Noto Sans KR"/>
                <a:sym typeface="Noto Sans KR"/>
              </a:rPr>
              <a:t>T-Safe System · 요양시설 사고 감지 및 대응 모니터링 시스템</a:t>
            </a:r>
            <a:endParaRPr sz="800">
              <a:solidFill>
                <a:srgbClr val="9AA0A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45" name="Google Shape;745;p38"/>
          <p:cNvSpPr/>
          <p:nvPr/>
        </p:nvSpPr>
        <p:spPr>
          <a:xfrm>
            <a:off x="457200" y="990600"/>
            <a:ext cx="8229600" cy="1650900"/>
          </a:xfrm>
          <a:prstGeom prst="roundRect">
            <a:avLst>
              <a:gd fmla="val 16667" name="adj"/>
            </a:avLst>
          </a:prstGeom>
          <a:solidFill>
            <a:srgbClr val="FEF7E0"/>
          </a:solidFill>
          <a:ln cap="flat" cmpd="sng" w="12700">
            <a:solidFill>
              <a:srgbClr val="B0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38"/>
          <p:cNvSpPr txBox="1"/>
          <p:nvPr/>
        </p:nvSpPr>
        <p:spPr>
          <a:xfrm>
            <a:off x="558800" y="1016000"/>
            <a:ext cx="80265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B06000"/>
                </a:solidFill>
                <a:latin typeface="Noto Sans KR"/>
                <a:ea typeface="Noto Sans KR"/>
                <a:cs typeface="Noto Sans KR"/>
                <a:sym typeface="Noto Sans KR"/>
              </a:rPr>
              <a:t>구현 결과를 바탕으로 실환경 검증과 판단 안정성 개선</a:t>
            </a:r>
            <a:r>
              <a:rPr b="1" lang="ko" sz="110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b="1" sz="1100">
              <a:solidFill>
                <a:srgbClr val="202124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47" name="Google Shape;747;p38"/>
          <p:cNvSpPr/>
          <p:nvPr/>
        </p:nvSpPr>
        <p:spPr>
          <a:xfrm>
            <a:off x="558800" y="1397000"/>
            <a:ext cx="2607600" cy="1143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50">
                <a:solidFill>
                  <a:srgbClr val="188038"/>
                </a:solidFill>
                <a:latin typeface="Noto Sans KR"/>
                <a:ea typeface="Noto Sans KR"/>
                <a:cs typeface="Noto Sans KR"/>
                <a:sym typeface="Noto Sans KR"/>
              </a:rPr>
              <a:t>● 구현 · 시험 현황</a:t>
            </a:r>
            <a:endParaRPr b="1" sz="850">
              <a:solidFill>
                <a:srgbClr val="188038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50">
              <a:solidFill>
                <a:srgbClr val="188038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4625" lvl="0" marL="152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750"/>
              <a:buFont typeface="Noto Sans KR"/>
              <a:buChar char="●"/>
            </a:pPr>
            <a:r>
              <a:rPr lang="ko" sz="75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rPr>
              <a:t>펌웨어 단위 27 / 27 · 통신 15 / 15</a:t>
            </a:r>
            <a:endParaRPr sz="750">
              <a:solidFill>
                <a:srgbClr val="202124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4625" lvl="0" marL="152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750"/>
              <a:buFont typeface="Noto Sans KR"/>
              <a:buChar char="●"/>
            </a:pPr>
            <a:r>
              <a:rPr lang="ko" sz="75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rPr>
              <a:t>얼굴감지모듈</a:t>
            </a:r>
            <a:r>
              <a:rPr lang="ko" sz="75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rPr>
              <a:t> → Main Server → MCU 통합</a:t>
            </a:r>
            <a:endParaRPr sz="750">
              <a:solidFill>
                <a:srgbClr val="202124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4625" lvl="0" marL="152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750"/>
              <a:buFont typeface="Noto Sans KR"/>
              <a:buChar char="●"/>
            </a:pPr>
            <a:r>
              <a:rPr lang="ko" sz="75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rPr>
              <a:t>쓰러짐 감지 → PC1·GUI 알림 데모 작동</a:t>
            </a:r>
            <a:endParaRPr sz="750">
              <a:solidFill>
                <a:srgbClr val="202124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solidFill>
                <a:srgbClr val="202124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48" name="Google Shape;748;p38"/>
          <p:cNvSpPr/>
          <p:nvPr/>
        </p:nvSpPr>
        <p:spPr>
          <a:xfrm>
            <a:off x="3268133" y="1397000"/>
            <a:ext cx="2607600" cy="1143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50">
                <a:solidFill>
                  <a:srgbClr val="C5221F"/>
                </a:solidFill>
                <a:latin typeface="Noto Sans KR"/>
                <a:ea typeface="Noto Sans KR"/>
                <a:cs typeface="Noto Sans KR"/>
                <a:sym typeface="Noto Sans KR"/>
              </a:rPr>
              <a:t>● 추가 검증 필요</a:t>
            </a:r>
            <a:endParaRPr b="1" sz="850">
              <a:solidFill>
                <a:srgbClr val="C5221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50">
              <a:solidFill>
                <a:srgbClr val="C5221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4625" lvl="0" marL="152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750"/>
              <a:buFont typeface="Noto Sans KR"/>
              <a:buChar char="●"/>
            </a:pPr>
            <a:r>
              <a:rPr lang="ko" sz="75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rPr>
              <a:t>얼굴 인식 정확도 · 쓰러짐 실환경 성능 검증</a:t>
            </a:r>
            <a:endParaRPr sz="750">
              <a:solidFill>
                <a:srgbClr val="202124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4625" lvl="0" marL="152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750"/>
              <a:buFont typeface="Noto Sans KR"/>
              <a:buChar char="●"/>
            </a:pPr>
            <a:r>
              <a:rPr lang="ko" sz="75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rPr>
              <a:t>서버 ↔ DB · 화면 표시 지연 측정</a:t>
            </a:r>
            <a:endParaRPr sz="750">
              <a:solidFill>
                <a:srgbClr val="202124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4625" lvl="0" marL="152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750"/>
              <a:buFont typeface="Noto Sans KR"/>
              <a:buChar char="●"/>
            </a:pPr>
            <a:r>
              <a:rPr lang="ko" sz="75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rPr>
              <a:t>가상으로 끝낸 항목의 실물 확인</a:t>
            </a:r>
            <a:endParaRPr sz="750">
              <a:solidFill>
                <a:srgbClr val="202124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49" name="Google Shape;749;p38"/>
          <p:cNvSpPr/>
          <p:nvPr/>
        </p:nvSpPr>
        <p:spPr>
          <a:xfrm>
            <a:off x="5977467" y="1397000"/>
            <a:ext cx="2607600" cy="1143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50">
                <a:solidFill>
                  <a:srgbClr val="1A73E8"/>
                </a:solidFill>
                <a:latin typeface="Noto Sans KR"/>
                <a:ea typeface="Noto Sans KR"/>
                <a:cs typeface="Noto Sans KR"/>
                <a:sym typeface="Noto Sans KR"/>
              </a:rPr>
              <a:t>● 다음 단계</a:t>
            </a:r>
            <a:endParaRPr b="1" sz="850">
              <a:solidFill>
                <a:srgbClr val="1A73E8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50">
              <a:solidFill>
                <a:srgbClr val="1A73E8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75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rPr>
              <a:t>① 등록 사진 및 고정 CCTV 평가 영상 확보</a:t>
            </a:r>
            <a:endParaRPr sz="750">
              <a:solidFill>
                <a:srgbClr val="202124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75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rPr>
              <a:t>② 남은 통합 시험 및 화면 지연 측정</a:t>
            </a:r>
            <a:endParaRPr sz="750">
              <a:solidFill>
                <a:srgbClr val="202124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solidFill>
                <a:srgbClr val="202124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50" name="Google Shape;750;p38"/>
          <p:cNvSpPr txBox="1"/>
          <p:nvPr/>
        </p:nvSpPr>
        <p:spPr>
          <a:xfrm>
            <a:off x="457200" y="2692400"/>
            <a:ext cx="82296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0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rPr>
              <a:t>그 밖의 한계  →  다음 단계</a:t>
            </a:r>
            <a:endParaRPr b="1" sz="900">
              <a:solidFill>
                <a:srgbClr val="202124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51" name="Google Shape;751;p38"/>
          <p:cNvSpPr/>
          <p:nvPr/>
        </p:nvSpPr>
        <p:spPr>
          <a:xfrm>
            <a:off x="457200" y="2997200"/>
            <a:ext cx="2667000" cy="685800"/>
          </a:xfrm>
          <a:prstGeom prst="roundRect">
            <a:avLst>
              <a:gd fmla="val 16667" name="adj"/>
            </a:avLst>
          </a:prstGeom>
          <a:solidFill>
            <a:srgbClr val="F8F9FA"/>
          </a:solidFill>
          <a:ln cap="flat" cmpd="sng" w="9525">
            <a:solidFill>
              <a:srgbClr val="DAD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0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rPr>
              <a:t>야간 · 어두운 곳</a:t>
            </a:r>
            <a:endParaRPr b="1" sz="900">
              <a:solidFill>
                <a:srgbClr val="202124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750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얼굴 인식·쓰러짐 감지 성능 추가 검증</a:t>
            </a:r>
            <a:endParaRPr b="1" sz="750">
              <a:solidFill>
                <a:srgbClr val="E8710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52" name="Google Shape;752;p38"/>
          <p:cNvSpPr/>
          <p:nvPr/>
        </p:nvSpPr>
        <p:spPr>
          <a:xfrm>
            <a:off x="3238500" y="2997200"/>
            <a:ext cx="2667000" cy="685800"/>
          </a:xfrm>
          <a:prstGeom prst="roundRect">
            <a:avLst>
              <a:gd fmla="val 16667" name="adj"/>
            </a:avLst>
          </a:prstGeom>
          <a:solidFill>
            <a:srgbClr val="F8F9FA"/>
          </a:solidFill>
          <a:ln cap="flat" cmpd="sng" w="9525">
            <a:solidFill>
              <a:srgbClr val="DAD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0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rPr>
              <a:t>관절 추적 연속성</a:t>
            </a:r>
            <a:endParaRPr b="1" sz="900">
              <a:solidFill>
                <a:srgbClr val="202124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0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rPr>
              <a:t>일시적 누락 시 상태 유지·복원</a:t>
            </a:r>
            <a:endParaRPr sz="750">
              <a:solidFill>
                <a:srgbClr val="5F6368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53" name="Google Shape;753;p38"/>
          <p:cNvSpPr/>
          <p:nvPr/>
        </p:nvSpPr>
        <p:spPr>
          <a:xfrm>
            <a:off x="6019800" y="2997200"/>
            <a:ext cx="2667000" cy="685800"/>
          </a:xfrm>
          <a:prstGeom prst="roundRect">
            <a:avLst>
              <a:gd fmla="val 16667" name="adj"/>
            </a:avLst>
          </a:prstGeom>
          <a:solidFill>
            <a:srgbClr val="F8F9FA"/>
          </a:solidFill>
          <a:ln cap="flat" cmpd="sng" w="9525">
            <a:solidFill>
              <a:srgbClr val="DAD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0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rPr>
              <a:t>개인별 사고 이력 연계</a:t>
            </a:r>
            <a:endParaRPr b="1" sz="900">
              <a:solidFill>
                <a:srgbClr val="202124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0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rPr>
              <a:t>추적 ID와 등록 인원 연결 검토</a:t>
            </a:r>
            <a:endParaRPr sz="750">
              <a:solidFill>
                <a:srgbClr val="5F6368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54" name="Google Shape;754;p38"/>
          <p:cNvSpPr/>
          <p:nvPr/>
        </p:nvSpPr>
        <p:spPr>
          <a:xfrm>
            <a:off x="457200" y="3784600"/>
            <a:ext cx="2667000" cy="685800"/>
          </a:xfrm>
          <a:prstGeom prst="roundRect">
            <a:avLst>
              <a:gd fmla="val 16667" name="adj"/>
            </a:avLst>
          </a:prstGeom>
          <a:solidFill>
            <a:srgbClr val="F8F9FA"/>
          </a:solidFill>
          <a:ln cap="flat" cmpd="sng" w="9525">
            <a:solidFill>
              <a:srgbClr val="DAD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0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rPr>
              <a:t>비상 시 문</a:t>
            </a:r>
            <a:endParaRPr b="1" sz="900">
              <a:solidFill>
                <a:srgbClr val="202124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750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화재 등 비상 상황의 문 개방 정책 (소방 규정 확인)</a:t>
            </a:r>
            <a:endParaRPr sz="750">
              <a:solidFill>
                <a:srgbClr val="5F6368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55" name="Google Shape;755;p38"/>
          <p:cNvSpPr/>
          <p:nvPr/>
        </p:nvSpPr>
        <p:spPr>
          <a:xfrm>
            <a:off x="3238500" y="3784600"/>
            <a:ext cx="2667000" cy="685800"/>
          </a:xfrm>
          <a:prstGeom prst="roundRect">
            <a:avLst>
              <a:gd fmla="val 16667" name="adj"/>
            </a:avLst>
          </a:prstGeom>
          <a:solidFill>
            <a:srgbClr val="F8F9FA"/>
          </a:solidFill>
          <a:ln cap="flat" cmpd="sng" w="9525">
            <a:solidFill>
              <a:srgbClr val="DAD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0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rPr>
              <a:t>알림 넓히기</a:t>
            </a:r>
            <a:endParaRPr b="1" sz="900">
              <a:solidFill>
                <a:srgbClr val="202124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750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모바일 · 호출벨로 직원에게 바로 전달</a:t>
            </a:r>
            <a:endParaRPr sz="750">
              <a:solidFill>
                <a:srgbClr val="5F6368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56" name="Google Shape;756;p38"/>
          <p:cNvSpPr/>
          <p:nvPr/>
        </p:nvSpPr>
        <p:spPr>
          <a:xfrm>
            <a:off x="6019800" y="3784600"/>
            <a:ext cx="2667000" cy="685800"/>
          </a:xfrm>
          <a:prstGeom prst="roundRect">
            <a:avLst>
              <a:gd fmla="val 16667" name="adj"/>
            </a:avLst>
          </a:prstGeom>
          <a:solidFill>
            <a:srgbClr val="F8F9FA"/>
          </a:solidFill>
          <a:ln cap="flat" cmpd="sng" w="9525">
            <a:solidFill>
              <a:srgbClr val="DAD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00">
                <a:solidFill>
                  <a:srgbClr val="202124"/>
                </a:solidFill>
                <a:latin typeface="Noto Sans KR"/>
                <a:ea typeface="Noto Sans KR"/>
                <a:cs typeface="Noto Sans KR"/>
                <a:sym typeface="Noto Sans KR"/>
              </a:rPr>
              <a:t>개인정보 보호</a:t>
            </a:r>
            <a:endParaRPr b="1" sz="900">
              <a:solidFill>
                <a:srgbClr val="202124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750">
                <a:solidFill>
                  <a:srgbClr val="5F6368"/>
                </a:solidFill>
                <a:latin typeface="Noto Sans KR"/>
                <a:ea typeface="Noto Sans KR"/>
                <a:cs typeface="Noto Sans KR"/>
                <a:sym typeface="Noto Sans KR"/>
              </a:rPr>
              <a:t>얼굴 데이터 암호화 · 접근 권한 · 보관 기간</a:t>
            </a:r>
            <a:endParaRPr sz="750">
              <a:solidFill>
                <a:srgbClr val="5F6368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57" name="Google Shape;757;p38"/>
          <p:cNvSpPr txBox="1"/>
          <p:nvPr/>
        </p:nvSpPr>
        <p:spPr>
          <a:xfrm>
            <a:off x="457200" y="177800"/>
            <a:ext cx="4445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50">
                <a:solidFill>
                  <a:srgbClr val="1A73E8"/>
                </a:solidFill>
                <a:latin typeface="Noto Sans KR"/>
                <a:ea typeface="Noto Sans KR"/>
                <a:cs typeface="Noto Sans KR"/>
                <a:sym typeface="Noto Sans KR"/>
              </a:rPr>
              <a:t>05 파트별 프로젝트 회고</a:t>
            </a:r>
            <a:endParaRPr b="1" sz="950">
              <a:solidFill>
                <a:srgbClr val="1A73E8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50">
              <a:solidFill>
                <a:srgbClr val="1A73E8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58" name="Google Shape;758;p38"/>
          <p:cNvSpPr txBox="1"/>
          <p:nvPr/>
        </p:nvSpPr>
        <p:spPr>
          <a:xfrm>
            <a:off x="7416800" y="4800600"/>
            <a:ext cx="1269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9AA0A6"/>
                </a:solidFill>
                <a:latin typeface="Noto Sans KR"/>
                <a:ea typeface="Noto Sans KR"/>
                <a:cs typeface="Noto Sans KR"/>
                <a:sym typeface="Noto Sans KR"/>
              </a:rPr>
              <a:t>26 / 27</a:t>
            </a:r>
            <a:endParaRPr sz="800">
              <a:solidFill>
                <a:srgbClr val="9AA0A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4EA6"/>
        </a:solidFill>
      </p:bgPr>
    </p:bg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39"/>
          <p:cNvSpPr txBox="1"/>
          <p:nvPr/>
        </p:nvSpPr>
        <p:spPr>
          <a:xfrm>
            <a:off x="609600" y="1625600"/>
            <a:ext cx="79248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6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감사합니다</a:t>
            </a:r>
            <a:endParaRPr b="1" sz="360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64" name="Google Shape;764;p39"/>
          <p:cNvSpPr txBox="1"/>
          <p:nvPr/>
        </p:nvSpPr>
        <p:spPr>
          <a:xfrm>
            <a:off x="609600" y="3810000"/>
            <a:ext cx="792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D2E3FC"/>
                </a:solidFill>
                <a:latin typeface="Noto Sans KR"/>
                <a:ea typeface="Noto Sans KR"/>
                <a:cs typeface="Noto Sans KR"/>
                <a:sym typeface="Noto Sans KR"/>
              </a:rPr>
              <a:t>T-Safe System   ·   티엔찌</a:t>
            </a:r>
            <a:endParaRPr sz="1200">
              <a:solidFill>
                <a:srgbClr val="D2E3FC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