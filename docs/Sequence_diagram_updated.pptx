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5143500" cx="9144000"/>
  <p:notesSz cx="6858000" cy="9144000"/>
  <p:embeddedFontLs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58E3B4-D6C7-4FFE-B36D-540DD2B49A24}">
  <a:tblStyle styleId="{CF58E3B4-D6C7-4FFE-B36D-540DD2B49A2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font" Target="fonts/RobotoMono-regular.fntdata"/><Relationship Id="rId22" Type="http://schemas.openxmlformats.org/officeDocument/2006/relationships/font" Target="fonts/RobotoMono-bold.fntdata"/><Relationship Id="rId23" Type="http://schemas.openxmlformats.org/officeDocument/2006/relationships/font" Target="fonts/RobotoMono-italic.fntdata"/><Relationship Id="rId24" Type="http://schemas.openxmlformats.org/officeDocument/2006/relationships/font" Target="fonts/RobotoMon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h670583c2be06218e_0_16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h670583c2be06218e_0_16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(전송방식) 적기</a:t>
            </a:r>
            <a:endParaRPr/>
          </a:p>
        </p:txBody>
      </p:sp>
      <p:sp>
        <p:nvSpPr>
          <p:cNvPr id="55" name="Google Shape;55;h670583c2be06218e_0_16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bf9dd76f2e3ebc0_18_5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hbf9dd76f2e3ebc0_18_5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PC4( IO manager) 내부에서 아두이노(cam 팬&amp;틸트 제어 모터 , 문 제어 모터) </a:t>
            </a:r>
            <a:r>
              <a:rPr lang="ko">
                <a:solidFill>
                  <a:schemeClr val="dk1"/>
                </a:solidFill>
              </a:rPr>
              <a:t>serial 통신 중.</a:t>
            </a:r>
            <a:r>
              <a:rPr lang="ko"/>
              <a:t> </a:t>
            </a:r>
            <a:endParaRPr/>
          </a:p>
        </p:txBody>
      </p:sp>
      <p:sp>
        <p:nvSpPr>
          <p:cNvPr id="98" name="Google Shape;98;hbf9dd76f2e3ebc0_18_5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bf9dd76f2e3ebc0_18_11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hbf9dd76f2e3ebc0_18_11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hbf9dd76f2e3ebc0_18_11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hbf9dd76f2e3ebc0_14_15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hbf9dd76f2e3ebc0_14_15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hbf9dd76f2e3ebc0_14_15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SLIDES_API852934150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SLIDES_API852934150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SLIDES_API852934150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SLIDES_API1113526673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SLIDES_API1113526673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SLIDES_API1113526673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hbf9dd76f2e3ebc0_41_2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hbf9dd76f2e3ebc0_41_2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hbf9dd76f2e3ebc0_41_2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SLIDES_API1113526673_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SLIDES_API1113526673_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SLIDES_API1113526673_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SLIDES_API1113526673_1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SLIDES_API1113526673_1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SLIDES_API1113526673_1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bf9dd76f2e3ebc0_84_1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hbf9dd76f2e3ebc0_84_1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hbf9dd76f2e3ebc0_84_1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hbf9dd76f2e3ebc0_30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hbf9dd76f2e3ebc0_30_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hbf9dd76f2e3ebc0_30_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hbf9dd76f2e3ebc0_3_1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hbf9dd76f2e3ebc0_3_1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hbf9dd76f2e3ebc0_3_1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hbf9dd76f2e3ebc0_3_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hbf9dd76f2e3ebc0_3_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hbf9dd76f2e3ebc0_3_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p1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/>
        </p:nvSpPr>
        <p:spPr>
          <a:xfrm>
            <a:off x="365710" y="165735"/>
            <a:ext cx="8412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0" i="0" lang="ko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1. 환자 정보 관리 (등록 · 수정 · 삭제)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1537970" y="640080"/>
            <a:ext cx="1828800" cy="567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 txBox="1"/>
          <p:nvPr/>
        </p:nvSpPr>
        <p:spPr>
          <a:xfrm>
            <a:off x="1537970" y="640080"/>
            <a:ext cx="1828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PC1 관리자 GUI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" name="Google Shape;60;p15"/>
          <p:cNvCxnSpPr/>
          <p:nvPr/>
        </p:nvCxnSpPr>
        <p:spPr>
          <a:xfrm>
            <a:off x="2465070" y="1207008"/>
            <a:ext cx="0" cy="37764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1" name="Google Shape;61;p15"/>
          <p:cNvSpPr/>
          <p:nvPr/>
        </p:nvSpPr>
        <p:spPr>
          <a:xfrm>
            <a:off x="3778250" y="640080"/>
            <a:ext cx="1828800" cy="567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 txBox="1"/>
          <p:nvPr/>
        </p:nvSpPr>
        <p:spPr>
          <a:xfrm>
            <a:off x="3778250" y="640080"/>
            <a:ext cx="1828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PC1 서버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p15"/>
          <p:cNvCxnSpPr/>
          <p:nvPr/>
        </p:nvCxnSpPr>
        <p:spPr>
          <a:xfrm>
            <a:off x="4705350" y="1207008"/>
            <a:ext cx="0" cy="37764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4" name="Google Shape;64;p15"/>
          <p:cNvSpPr/>
          <p:nvPr/>
        </p:nvSpPr>
        <p:spPr>
          <a:xfrm>
            <a:off x="6018530" y="640080"/>
            <a:ext cx="1828800" cy="567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 txBox="1"/>
          <p:nvPr/>
        </p:nvSpPr>
        <p:spPr>
          <a:xfrm>
            <a:off x="6018530" y="640080"/>
            <a:ext cx="1828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(PostgreSQL)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15"/>
          <p:cNvCxnSpPr/>
          <p:nvPr/>
        </p:nvCxnSpPr>
        <p:spPr>
          <a:xfrm>
            <a:off x="6945630" y="1207008"/>
            <a:ext cx="0" cy="37764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7" name="Google Shape;67;p15"/>
          <p:cNvSpPr/>
          <p:nvPr/>
        </p:nvSpPr>
        <p:spPr>
          <a:xfrm>
            <a:off x="1192775" y="1269825"/>
            <a:ext cx="6792300" cy="2212800"/>
          </a:xfrm>
          <a:prstGeom prst="rect">
            <a:avLst/>
          </a:prstGeom>
          <a:noFill/>
          <a:ln cap="flat" cmpd="sng" w="12700">
            <a:solidFill>
              <a:srgbClr val="2F559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1255646" y="1280136"/>
            <a:ext cx="365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597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등록 / 수정  (수정: 목록 더블클릭 → 고친 뒤 </a:t>
            </a:r>
            <a:r>
              <a:rPr b="1" lang="ko" sz="1000">
                <a:solidFill>
                  <a:srgbClr val="2F5597"/>
                </a:solidFill>
              </a:rPr>
              <a:t>add</a:t>
            </a:r>
            <a:r>
              <a:rPr b="1" i="0" lang="ko" sz="1000" u="none" cap="none" strike="noStrike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9;p15"/>
          <p:cNvCxnSpPr/>
          <p:nvPr/>
        </p:nvCxnSpPr>
        <p:spPr>
          <a:xfrm>
            <a:off x="2465070" y="1554480"/>
            <a:ext cx="274200" cy="0"/>
          </a:xfrm>
          <a:prstGeom prst="straightConnector1">
            <a:avLst/>
          </a:prstGeom>
          <a:noFill/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5"/>
          <p:cNvCxnSpPr/>
          <p:nvPr/>
        </p:nvCxnSpPr>
        <p:spPr>
          <a:xfrm>
            <a:off x="2739390" y="1554480"/>
            <a:ext cx="0" cy="164700"/>
          </a:xfrm>
          <a:prstGeom prst="straightConnector1">
            <a:avLst/>
          </a:prstGeom>
          <a:noFill/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5"/>
          <p:cNvCxnSpPr/>
          <p:nvPr/>
        </p:nvCxnSpPr>
        <p:spPr>
          <a:xfrm rot="10800000">
            <a:off x="2465190" y="1719072"/>
            <a:ext cx="274200" cy="0"/>
          </a:xfrm>
          <a:prstGeom prst="straightConnector1">
            <a:avLst/>
          </a:prstGeom>
          <a:noFill/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2" name="Google Shape;72;p15"/>
          <p:cNvSpPr txBox="1"/>
          <p:nvPr/>
        </p:nvSpPr>
        <p:spPr>
          <a:xfrm>
            <a:off x="2812542" y="1517904"/>
            <a:ext cx="1920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정보 입력 → </a:t>
            </a:r>
            <a:r>
              <a:rPr lang="ko" sz="1000">
                <a:solidFill>
                  <a:srgbClr val="333333"/>
                </a:solidFill>
              </a:rPr>
              <a:t>add</a:t>
            </a:r>
            <a:r>
              <a:rPr b="0" i="0" lang="ko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클릭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2465070" y="2057400"/>
            <a:ext cx="2240400" cy="0"/>
          </a:xfrm>
          <a:prstGeom prst="straightConnector1">
            <a:avLst/>
          </a:prstGeom>
          <a:noFill/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" name="Google Shape;74;p15"/>
          <p:cNvSpPr txBox="1"/>
          <p:nvPr/>
        </p:nvSpPr>
        <p:spPr>
          <a:xfrm>
            <a:off x="2510790" y="1828800"/>
            <a:ext cx="214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rPr sz="1000"/>
              <a:t>① 환자 정보 (HTTP)</a:t>
            </a:r>
          </a:p>
        </p:txBody>
      </p:sp>
      <p:cxnSp>
        <p:nvCxnSpPr>
          <p:cNvPr id="75" name="Google Shape;75;p15"/>
          <p:cNvCxnSpPr/>
          <p:nvPr/>
        </p:nvCxnSpPr>
        <p:spPr>
          <a:xfrm>
            <a:off x="4705350" y="2331720"/>
            <a:ext cx="2240400" cy="0"/>
          </a:xfrm>
          <a:prstGeom prst="straightConnector1">
            <a:avLst/>
          </a:prstGeom>
          <a:noFill/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" name="Google Shape;76;p15"/>
          <p:cNvSpPr txBox="1"/>
          <p:nvPr/>
        </p:nvSpPr>
        <p:spPr>
          <a:xfrm>
            <a:off x="4751070" y="2103120"/>
            <a:ext cx="214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rPr sz="1000"/>
              <a:t>② 새 번호 → 등록 / 있는 번호 → 수정</a:t>
            </a:r>
          </a:p>
          <a:p>
            <a:r>
              <a:rPr sz="1000"/>
              <a:t>(SQL)</a:t>
            </a:r>
          </a:p>
        </p:txBody>
      </p:sp>
      <p:cxnSp>
        <p:nvCxnSpPr>
          <p:cNvPr id="77" name="Google Shape;77;p15"/>
          <p:cNvCxnSpPr/>
          <p:nvPr/>
        </p:nvCxnSpPr>
        <p:spPr>
          <a:xfrm rot="10800000">
            <a:off x="2464950" y="2606040"/>
            <a:ext cx="2240400" cy="0"/>
          </a:xfrm>
          <a:prstGeom prst="straightConnector1">
            <a:avLst/>
          </a:prstGeom>
          <a:noFill/>
          <a:ln cap="flat" cmpd="sng" w="12700">
            <a:solidFill>
              <a:srgbClr val="555555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78" name="Google Shape;78;p15"/>
          <p:cNvSpPr txBox="1"/>
          <p:nvPr/>
        </p:nvSpPr>
        <p:spPr>
          <a:xfrm>
            <a:off x="2510790" y="2377440"/>
            <a:ext cx="214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rPr sz="1000"/>
              <a:t>③ 200 OK (HTTP)</a:t>
            </a:r>
          </a:p>
        </p:txBody>
      </p:sp>
      <p:cxnSp>
        <p:nvCxnSpPr>
          <p:cNvPr id="79" name="Google Shape;79;p15"/>
          <p:cNvCxnSpPr/>
          <p:nvPr/>
        </p:nvCxnSpPr>
        <p:spPr>
          <a:xfrm>
            <a:off x="2465070" y="3246120"/>
            <a:ext cx="274200" cy="0"/>
          </a:xfrm>
          <a:prstGeom prst="straightConnector1">
            <a:avLst/>
          </a:prstGeom>
          <a:noFill/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" name="Google Shape;80;p15"/>
          <p:cNvCxnSpPr/>
          <p:nvPr/>
        </p:nvCxnSpPr>
        <p:spPr>
          <a:xfrm>
            <a:off x="2739390" y="3246120"/>
            <a:ext cx="0" cy="164700"/>
          </a:xfrm>
          <a:prstGeom prst="straightConnector1">
            <a:avLst/>
          </a:prstGeom>
          <a:noFill/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" name="Google Shape;81;p15"/>
          <p:cNvCxnSpPr/>
          <p:nvPr/>
        </p:nvCxnSpPr>
        <p:spPr>
          <a:xfrm rot="10800000">
            <a:off x="2465190" y="3410712"/>
            <a:ext cx="274200" cy="0"/>
          </a:xfrm>
          <a:prstGeom prst="straightConnector1">
            <a:avLst/>
          </a:prstGeom>
          <a:noFill/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2" name="Google Shape;82;p15"/>
          <p:cNvSpPr txBox="1"/>
          <p:nvPr/>
        </p:nvSpPr>
        <p:spPr>
          <a:xfrm>
            <a:off x="2793967" y="3214957"/>
            <a:ext cx="1920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⑥ 목록 새로고침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1192900" y="3611875"/>
            <a:ext cx="6792300" cy="1326000"/>
          </a:xfrm>
          <a:prstGeom prst="rect">
            <a:avLst/>
          </a:prstGeom>
          <a:noFill/>
          <a:ln cap="flat" cmpd="sng" w="12700">
            <a:solidFill>
              <a:srgbClr val="C0392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 txBox="1"/>
          <p:nvPr/>
        </p:nvSpPr>
        <p:spPr>
          <a:xfrm>
            <a:off x="1250050" y="3637293"/>
            <a:ext cx="365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삭제  (목록에서 선택 → Delete → Yes)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15"/>
          <p:cNvCxnSpPr/>
          <p:nvPr/>
        </p:nvCxnSpPr>
        <p:spPr>
          <a:xfrm>
            <a:off x="2471420" y="3865118"/>
            <a:ext cx="274200" cy="0"/>
          </a:xfrm>
          <a:prstGeom prst="straightConnector1">
            <a:avLst/>
          </a:prstGeom>
          <a:noFill/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" name="Google Shape;86;p15"/>
          <p:cNvCxnSpPr/>
          <p:nvPr/>
        </p:nvCxnSpPr>
        <p:spPr>
          <a:xfrm>
            <a:off x="2752090" y="3858768"/>
            <a:ext cx="0" cy="164700"/>
          </a:xfrm>
          <a:prstGeom prst="straightConnector1">
            <a:avLst/>
          </a:prstGeom>
          <a:noFill/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" name="Google Shape;87;p15"/>
          <p:cNvCxnSpPr/>
          <p:nvPr/>
        </p:nvCxnSpPr>
        <p:spPr>
          <a:xfrm rot="10800000">
            <a:off x="2482879" y="4023360"/>
            <a:ext cx="274200" cy="0"/>
          </a:xfrm>
          <a:prstGeom prst="straightConnector1">
            <a:avLst/>
          </a:prstGeom>
          <a:noFill/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8" name="Google Shape;88;p15"/>
          <p:cNvSpPr txBox="1"/>
          <p:nvPr/>
        </p:nvSpPr>
        <p:spPr>
          <a:xfrm>
            <a:off x="2812538" y="3813267"/>
            <a:ext cx="1920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Delete 클릭 → 확인 Yes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15"/>
          <p:cNvCxnSpPr/>
          <p:nvPr/>
        </p:nvCxnSpPr>
        <p:spPr>
          <a:xfrm>
            <a:off x="2471420" y="4343400"/>
            <a:ext cx="2240400" cy="0"/>
          </a:xfrm>
          <a:prstGeom prst="straightConnector1">
            <a:avLst/>
          </a:prstGeom>
          <a:noFill/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0" name="Google Shape;90;p15"/>
          <p:cNvSpPr txBox="1"/>
          <p:nvPr/>
        </p:nvSpPr>
        <p:spPr>
          <a:xfrm>
            <a:off x="2513511" y="4102100"/>
            <a:ext cx="214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rPr sz="1000"/>
              <a:t>① 삭제 (HTTP)</a:t>
            </a:r>
          </a:p>
        </p:txBody>
      </p:sp>
      <p:cxnSp>
        <p:nvCxnSpPr>
          <p:cNvPr id="91" name="Google Shape;91;p15"/>
          <p:cNvCxnSpPr/>
          <p:nvPr/>
        </p:nvCxnSpPr>
        <p:spPr>
          <a:xfrm>
            <a:off x="4718050" y="4572000"/>
            <a:ext cx="2240400" cy="0"/>
          </a:xfrm>
          <a:prstGeom prst="straightConnector1">
            <a:avLst/>
          </a:prstGeom>
          <a:noFill/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2" name="Google Shape;92;p15"/>
          <p:cNvSpPr txBox="1"/>
          <p:nvPr/>
        </p:nvSpPr>
        <p:spPr>
          <a:xfrm>
            <a:off x="4753791" y="4343400"/>
            <a:ext cx="214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rPr sz="1000"/>
              <a:t>② 비활성화 + 얼굴·카드 해제</a:t>
            </a:r>
          </a:p>
          <a:p>
            <a:r>
              <a:rPr sz="1000"/>
              <a:t>(SQL)</a:t>
            </a:r>
          </a:p>
        </p:txBody>
      </p:sp>
      <p:cxnSp>
        <p:nvCxnSpPr>
          <p:cNvPr id="93" name="Google Shape;93;p15"/>
          <p:cNvCxnSpPr/>
          <p:nvPr/>
        </p:nvCxnSpPr>
        <p:spPr>
          <a:xfrm rot="10800000">
            <a:off x="2464950" y="4828032"/>
            <a:ext cx="2240400" cy="0"/>
          </a:xfrm>
          <a:prstGeom prst="straightConnector1">
            <a:avLst/>
          </a:prstGeom>
          <a:noFill/>
          <a:ln cap="flat" cmpd="sng" w="12700">
            <a:solidFill>
              <a:srgbClr val="555555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94" name="Google Shape;94;p15"/>
          <p:cNvSpPr txBox="1"/>
          <p:nvPr/>
        </p:nvSpPr>
        <p:spPr>
          <a:xfrm>
            <a:off x="2510790" y="4567682"/>
            <a:ext cx="214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rPr sz="1000"/>
              <a:t>③ 200 OK → 목록 새로고침</a:t>
            </a:r>
          </a:p>
          <a:p>
            <a:r>
              <a:rPr sz="1000"/>
              <a:t>(HTTP)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0" i="0" lang="ko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2. 문 출입제어 — 얼굴 인식 (case 1 환자 / case 2 직원)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320040" y="640080"/>
            <a:ext cx="1828800" cy="566928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320040" y="640080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PC4 Door kit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(카메라·서보·도어 MCU)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16"/>
          <p:cNvCxnSpPr/>
          <p:nvPr/>
        </p:nvCxnSpPr>
        <p:spPr>
          <a:xfrm>
            <a:off x="1234440" y="1207008"/>
            <a:ext cx="0" cy="3776472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4" name="Google Shape;104;p16"/>
          <p:cNvSpPr/>
          <p:nvPr/>
        </p:nvSpPr>
        <p:spPr>
          <a:xfrm>
            <a:off x="2560320" y="640080"/>
            <a:ext cx="1828800" cy="566928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2560320" y="640080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PC2 얼굴 인식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16"/>
          <p:cNvCxnSpPr/>
          <p:nvPr/>
        </p:nvCxnSpPr>
        <p:spPr>
          <a:xfrm>
            <a:off x="3474720" y="1207008"/>
            <a:ext cx="0" cy="3776472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7" name="Google Shape;107;p16"/>
          <p:cNvSpPr/>
          <p:nvPr/>
        </p:nvSpPr>
        <p:spPr>
          <a:xfrm>
            <a:off x="4800600" y="640080"/>
            <a:ext cx="1828800" cy="566928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 txBox="1"/>
          <p:nvPr/>
        </p:nvSpPr>
        <p:spPr>
          <a:xfrm>
            <a:off x="4800600" y="640080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PC1 서버 · DB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16"/>
          <p:cNvCxnSpPr/>
          <p:nvPr/>
        </p:nvCxnSpPr>
        <p:spPr>
          <a:xfrm>
            <a:off x="5715000" y="1207008"/>
            <a:ext cx="0" cy="3776472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16"/>
          <p:cNvSpPr/>
          <p:nvPr/>
        </p:nvSpPr>
        <p:spPr>
          <a:xfrm>
            <a:off x="7040880" y="640080"/>
            <a:ext cx="1828800" cy="566928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7040880" y="640080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PC1 관리자 GUI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16"/>
          <p:cNvCxnSpPr/>
          <p:nvPr/>
        </p:nvCxnSpPr>
        <p:spPr>
          <a:xfrm>
            <a:off x="7955280" y="1207008"/>
            <a:ext cx="0" cy="3776472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3" name="Google Shape;113;p16"/>
          <p:cNvCxnSpPr/>
          <p:nvPr/>
        </p:nvCxnSpPr>
        <p:spPr>
          <a:xfrm>
            <a:off x="1234440" y="1536192"/>
            <a:ext cx="2240280" cy="0"/>
          </a:xfrm>
          <a:prstGeom prst="straightConnector1">
            <a:avLst/>
          </a:prstGeom>
          <a:noFill/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4" name="Google Shape;114;p16"/>
          <p:cNvSpPr txBox="1"/>
          <p:nvPr/>
        </p:nvSpPr>
        <p:spPr>
          <a:xfrm>
            <a:off x="1280160" y="1307592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① 카메라 영상(</a:t>
            </a:r>
            <a:r>
              <a:rPr lang="ko" sz="1000">
                <a:solidFill>
                  <a:srgbClr val="333333"/>
                </a:solidFill>
              </a:rPr>
              <a:t>UDP</a:t>
            </a:r>
            <a:r>
              <a:rPr b="0" i="0" lang="ko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16"/>
          <p:cNvCxnSpPr/>
          <p:nvPr/>
        </p:nvCxnSpPr>
        <p:spPr>
          <a:xfrm>
            <a:off x="3474720" y="1810512"/>
            <a:ext cx="2240280" cy="0"/>
          </a:xfrm>
          <a:prstGeom prst="straightConnector1">
            <a:avLst/>
          </a:prstGeom>
          <a:noFill/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6" name="Google Shape;116;p16"/>
          <p:cNvSpPr txBox="1"/>
          <p:nvPr/>
        </p:nvSpPr>
        <p:spPr>
          <a:xfrm>
            <a:off x="3520440" y="1581912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② 얼굴 좌표 (</a:t>
            </a:r>
            <a:r>
              <a:rPr lang="ko" sz="1000">
                <a:solidFill>
                  <a:srgbClr val="333333"/>
                </a:solidFill>
              </a:rPr>
              <a:t>TCP</a:t>
            </a:r>
            <a:r>
              <a:rPr b="0" i="0" lang="ko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16"/>
          <p:cNvCxnSpPr/>
          <p:nvPr/>
        </p:nvCxnSpPr>
        <p:spPr>
          <a:xfrm rot="10800000">
            <a:off x="1234440" y="2084832"/>
            <a:ext cx="4480560" cy="0"/>
          </a:xfrm>
          <a:prstGeom prst="straightConnector1">
            <a:avLst/>
          </a:prstGeom>
          <a:noFill/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8" name="Google Shape;118;p16"/>
          <p:cNvSpPr txBox="1"/>
          <p:nvPr/>
        </p:nvSpPr>
        <p:spPr>
          <a:xfrm>
            <a:off x="1280160" y="1856232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③ 서보 이동</a:t>
            </a:r>
            <a:r>
              <a:rPr lang="ko" sz="1000">
                <a:solidFill>
                  <a:srgbClr val="333333"/>
                </a:solidFill>
              </a:rPr>
              <a:t> 좌표 </a:t>
            </a:r>
            <a:r>
              <a:rPr b="0" i="0" lang="ko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" sz="1000">
                <a:solidFill>
                  <a:srgbClr val="333333"/>
                </a:solidFill>
              </a:rPr>
              <a:t>(TCP)</a:t>
            </a:r>
            <a:r>
              <a:rPr b="0" i="0" lang="ko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→ 얼굴 추적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16"/>
          <p:cNvCxnSpPr/>
          <p:nvPr/>
        </p:nvCxnSpPr>
        <p:spPr>
          <a:xfrm>
            <a:off x="3474720" y="2359152"/>
            <a:ext cx="2240280" cy="0"/>
          </a:xfrm>
          <a:prstGeom prst="straightConnector1">
            <a:avLst/>
          </a:prstGeom>
          <a:noFill/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0" name="Google Shape;120;p16"/>
          <p:cNvSpPr txBox="1"/>
          <p:nvPr/>
        </p:nvSpPr>
        <p:spPr>
          <a:xfrm>
            <a:off x="3520440" y="2130552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④ 얼굴 특징벡터 (HT</a:t>
            </a:r>
            <a:r>
              <a:rPr lang="ko" sz="1000">
                <a:solidFill>
                  <a:srgbClr val="333333"/>
                </a:solidFill>
              </a:rPr>
              <a:t>TP POST</a:t>
            </a:r>
            <a:r>
              <a:rPr b="0" i="0" lang="ko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16"/>
          <p:cNvCxnSpPr/>
          <p:nvPr/>
        </p:nvCxnSpPr>
        <p:spPr>
          <a:xfrm>
            <a:off x="5715000" y="2487168"/>
            <a:ext cx="274320" cy="0"/>
          </a:xfrm>
          <a:prstGeom prst="straightConnector1">
            <a:avLst/>
          </a:prstGeom>
          <a:noFill/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5989320" y="2487168"/>
            <a:ext cx="0" cy="164592"/>
          </a:xfrm>
          <a:prstGeom prst="straightConnector1">
            <a:avLst/>
          </a:prstGeom>
          <a:noFill/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" name="Google Shape;123;p16"/>
          <p:cNvCxnSpPr/>
          <p:nvPr/>
        </p:nvCxnSpPr>
        <p:spPr>
          <a:xfrm rot="10800000">
            <a:off x="5715000" y="2651760"/>
            <a:ext cx="274320" cy="0"/>
          </a:xfrm>
          <a:prstGeom prst="straightConnector1">
            <a:avLst/>
          </a:prstGeom>
          <a:noFill/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4" name="Google Shape;124;p16"/>
          <p:cNvSpPr txBox="1"/>
          <p:nvPr/>
        </p:nvSpPr>
        <p:spPr>
          <a:xfrm>
            <a:off x="6062472" y="2450592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⑤ DB 검색 → 번호·역할 확인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182880" y="2816352"/>
            <a:ext cx="8778300" cy="713100"/>
          </a:xfrm>
          <a:prstGeom prst="rect">
            <a:avLst/>
          </a:prstGeom>
          <a:noFill/>
          <a:ln cap="flat" cmpd="sng" w="12700">
            <a:solidFill>
              <a:srgbClr val="C0392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228600" y="283464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case 1  환자 (출입 권한 X)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>
            <a:off x="5715000" y="3246120"/>
            <a:ext cx="2240280" cy="0"/>
          </a:xfrm>
          <a:prstGeom prst="straightConnector1">
            <a:avLst/>
          </a:prstGeom>
          <a:noFill/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8" name="Google Shape;128;p16"/>
          <p:cNvSpPr txBox="1"/>
          <p:nvPr/>
        </p:nvSpPr>
        <p:spPr>
          <a:xfrm>
            <a:off x="5760720" y="3017520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rPr sz="1000"/>
              <a:t>⑥ 출입 거부 표시</a:t>
            </a:r>
          </a:p>
        </p:txBody>
      </p:sp>
      <p:sp>
        <p:nvSpPr>
          <p:cNvPr id="129" name="Google Shape;129;p16"/>
          <p:cNvSpPr txBox="1"/>
          <p:nvPr/>
        </p:nvSpPr>
        <p:spPr>
          <a:xfrm>
            <a:off x="411480" y="3108960"/>
            <a:ext cx="16459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문 안 열림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182880" y="3602736"/>
            <a:ext cx="8778240" cy="1188720"/>
          </a:xfrm>
          <a:prstGeom prst="rect">
            <a:avLst/>
          </a:prstGeom>
          <a:noFill/>
          <a:ln cap="flat" cmpd="sng" w="12700">
            <a:solidFill>
              <a:srgbClr val="1E7B4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228600" y="362102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B4A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1E7B4A"/>
                </a:solidFill>
                <a:latin typeface="Arial"/>
                <a:ea typeface="Arial"/>
                <a:cs typeface="Arial"/>
                <a:sym typeface="Arial"/>
              </a:rPr>
              <a:t>case 2  직원 (출입 권한 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16"/>
          <p:cNvCxnSpPr/>
          <p:nvPr/>
        </p:nvCxnSpPr>
        <p:spPr>
          <a:xfrm rot="10800000">
            <a:off x="1234440" y="4041648"/>
            <a:ext cx="4480560" cy="0"/>
          </a:xfrm>
          <a:prstGeom prst="straightConnector1">
            <a:avLst/>
          </a:prstGeom>
          <a:noFill/>
          <a:ln cap="flat" cmpd="sng" w="12700">
            <a:solidFill>
              <a:srgbClr val="1E7B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3" name="Google Shape;133;p16"/>
          <p:cNvSpPr txBox="1"/>
          <p:nvPr/>
        </p:nvSpPr>
        <p:spPr>
          <a:xfrm>
            <a:off x="1280160" y="3813048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rPr sz="1000"/>
              <a:t>⑥ 문 열기 명령 (TCP)</a:t>
            </a:r>
          </a:p>
        </p:txBody>
      </p:sp>
      <p:cxnSp>
        <p:nvCxnSpPr>
          <p:cNvPr id="134" name="Google Shape;134;p16"/>
          <p:cNvCxnSpPr/>
          <p:nvPr/>
        </p:nvCxnSpPr>
        <p:spPr>
          <a:xfrm>
            <a:off x="1234440" y="4361688"/>
            <a:ext cx="4480560" cy="0"/>
          </a:xfrm>
          <a:prstGeom prst="straightConnector1">
            <a:avLst/>
          </a:prstGeom>
          <a:noFill/>
          <a:ln cap="flat" cmpd="sng" w="12700">
            <a:solidFill>
              <a:srgbClr val="1E7B4A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35" name="Google Shape;135;p16"/>
          <p:cNvSpPr txBox="1"/>
          <p:nvPr/>
        </p:nvSpPr>
        <p:spPr>
          <a:xfrm>
            <a:off x="1280160" y="4133088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rPr sz="1000"/>
              <a:t>⑦ 문 열림 상태 (TCP)</a:t>
            </a:r>
          </a:p>
        </p:txBody>
      </p:sp>
      <p:cxnSp>
        <p:nvCxnSpPr>
          <p:cNvPr id="136" name="Google Shape;136;p16"/>
          <p:cNvCxnSpPr/>
          <p:nvPr/>
        </p:nvCxnSpPr>
        <p:spPr>
          <a:xfrm>
            <a:off x="5715000" y="4681728"/>
            <a:ext cx="2240280" cy="0"/>
          </a:xfrm>
          <a:prstGeom prst="straightConnector1">
            <a:avLst/>
          </a:prstGeom>
          <a:noFill/>
          <a:ln cap="flat" cmpd="sng" w="12700">
            <a:solidFill>
              <a:srgbClr val="1E7B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7" name="Google Shape;137;p16"/>
          <p:cNvSpPr txBox="1"/>
          <p:nvPr/>
        </p:nvSpPr>
        <p:spPr>
          <a:xfrm>
            <a:off x="5760720" y="4453128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rPr sz="1000"/>
              <a:t>⑧ 문 상태 + 직원 이름</a:t>
            </a:r>
          </a:p>
        </p:txBody>
      </p:sp>
      <p:sp>
        <p:nvSpPr>
          <p:cNvPr id="140" name="Google Shape;140;p16"/>
          <p:cNvSpPr txBox="1"/>
          <p:nvPr/>
        </p:nvSpPr>
        <p:spPr>
          <a:xfrm>
            <a:off x="1280235" y="2473370"/>
            <a:ext cx="4389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16"/>
          <p:cNvCxnSpPr>
            <a:stCxn id="140" idx="1"/>
            <a:endCxn id="140" idx="3"/>
          </p:cNvCxnSpPr>
          <p:nvPr/>
        </p:nvCxnSpPr>
        <p:spPr>
          <a:xfrm>
            <a:off x="1280235" y="2583170"/>
            <a:ext cx="4389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" name="Google Shape;142;p16"/>
          <p:cNvSpPr txBox="1"/>
          <p:nvPr/>
        </p:nvSpPr>
        <p:spPr>
          <a:xfrm>
            <a:off x="2651700" y="2388813"/>
            <a:ext cx="2148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문 상태 피드백 (TCP)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0" i="0" lang="ko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3. 모니터링 및 낙상 감지 — 낙상 발생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320040" y="640080"/>
            <a:ext cx="1828800" cy="566928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320040" y="640080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PC3 쓰러짐 감지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(카메라 + AI)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17"/>
          <p:cNvCxnSpPr/>
          <p:nvPr/>
        </p:nvCxnSpPr>
        <p:spPr>
          <a:xfrm>
            <a:off x="1234440" y="1207008"/>
            <a:ext cx="0" cy="3776472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2" name="Google Shape;152;p17"/>
          <p:cNvSpPr/>
          <p:nvPr/>
        </p:nvSpPr>
        <p:spPr>
          <a:xfrm>
            <a:off x="2560320" y="640080"/>
            <a:ext cx="1828800" cy="566928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2560320" y="640080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PC1 서버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17"/>
          <p:cNvCxnSpPr/>
          <p:nvPr/>
        </p:nvCxnSpPr>
        <p:spPr>
          <a:xfrm>
            <a:off x="3474720" y="1207008"/>
            <a:ext cx="0" cy="3776472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5" name="Google Shape;155;p17"/>
          <p:cNvSpPr/>
          <p:nvPr/>
        </p:nvSpPr>
        <p:spPr>
          <a:xfrm>
            <a:off x="4800600" y="640080"/>
            <a:ext cx="1828800" cy="566928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4800600" y="640080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(PostgreSQL)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17"/>
          <p:cNvCxnSpPr/>
          <p:nvPr/>
        </p:nvCxnSpPr>
        <p:spPr>
          <a:xfrm>
            <a:off x="5715000" y="1207008"/>
            <a:ext cx="0" cy="3776472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8" name="Google Shape;158;p17"/>
          <p:cNvSpPr/>
          <p:nvPr/>
        </p:nvSpPr>
        <p:spPr>
          <a:xfrm>
            <a:off x="7040880" y="640080"/>
            <a:ext cx="1828800" cy="566928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7040880" y="640080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PC1 관리자 GUI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(모니터링 화면)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17"/>
          <p:cNvCxnSpPr/>
          <p:nvPr/>
        </p:nvCxnSpPr>
        <p:spPr>
          <a:xfrm>
            <a:off x="7955280" y="1207008"/>
            <a:ext cx="0" cy="3776472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1" name="Google Shape;161;p17"/>
          <p:cNvSpPr/>
          <p:nvPr/>
        </p:nvSpPr>
        <p:spPr>
          <a:xfrm>
            <a:off x="182875" y="1325875"/>
            <a:ext cx="8778300" cy="1052700"/>
          </a:xfrm>
          <a:prstGeom prst="rect">
            <a:avLst/>
          </a:prstGeom>
          <a:noFill/>
          <a:ln cap="flat" cmpd="sng" w="12700">
            <a:solidFill>
              <a:srgbClr val="7D3C9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228600" y="134416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7D3C98"/>
                </a:solidFill>
                <a:latin typeface="Arial"/>
                <a:ea typeface="Arial"/>
                <a:cs typeface="Arial"/>
                <a:sym typeface="Arial"/>
              </a:rPr>
              <a:t>loop  0.5초마다 (상시 모니터링)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17"/>
          <p:cNvCxnSpPr/>
          <p:nvPr/>
        </p:nvCxnSpPr>
        <p:spPr>
          <a:xfrm>
            <a:off x="1280120" y="1828330"/>
            <a:ext cx="2240400" cy="0"/>
          </a:xfrm>
          <a:prstGeom prst="straightConnector1">
            <a:avLst/>
          </a:prstGeom>
          <a:noFill/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4" name="Google Shape;164;p17"/>
          <p:cNvCxnSpPr/>
          <p:nvPr/>
        </p:nvCxnSpPr>
        <p:spPr>
          <a:xfrm>
            <a:off x="3474715" y="2841005"/>
            <a:ext cx="2240400" cy="0"/>
          </a:xfrm>
          <a:prstGeom prst="straightConnector1">
            <a:avLst/>
          </a:prstGeom>
          <a:noFill/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5" name="Google Shape;165;p17"/>
          <p:cNvSpPr txBox="1"/>
          <p:nvPr/>
        </p:nvSpPr>
        <p:spPr>
          <a:xfrm>
            <a:off x="1280135" y="1594768"/>
            <a:ext cx="214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Arial"/>
              <a:buNone/>
            </a:pPr>
            <a:r>
              <a:rPr lang="ko" sz="1000">
                <a:solidFill>
                  <a:srgbClr val="7D3C98"/>
                </a:solidFill>
              </a:rPr>
              <a:t>① </a:t>
            </a:r>
            <a:r>
              <a:rPr lang="ko" sz="1000">
                <a:solidFill>
                  <a:srgbClr val="7D3C98"/>
                </a:solidFill>
              </a:rPr>
              <a:t>이미지 + 좌표 + 이벤트 로그 </a:t>
            </a:r>
            <a:endParaRPr b="0" i="0" sz="1000" u="none" cap="none" strike="noStrike">
              <a:solidFill>
                <a:srgbClr val="7D3C9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17"/>
          <p:cNvCxnSpPr/>
          <p:nvPr/>
        </p:nvCxnSpPr>
        <p:spPr>
          <a:xfrm flipH="1" rot="10800000">
            <a:off x="3474657" y="2045630"/>
            <a:ext cx="4518300" cy="9900"/>
          </a:xfrm>
          <a:prstGeom prst="straightConnector1">
            <a:avLst/>
          </a:prstGeom>
          <a:noFill/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7" name="Google Shape;167;p17"/>
          <p:cNvSpPr txBox="1"/>
          <p:nvPr/>
        </p:nvSpPr>
        <p:spPr>
          <a:xfrm>
            <a:off x="4640560" y="1787580"/>
            <a:ext cx="214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Arial"/>
              <a:buNone/>
            </a:pPr>
            <a:r>
              <a:rPr lang="ko" sz="1000">
                <a:solidFill>
                  <a:srgbClr val="7D3C98"/>
                </a:solidFill>
              </a:rPr>
              <a:t>② 이미지 + 좌표 </a:t>
            </a:r>
            <a:endParaRPr b="0" i="0" sz="1000" u="none" cap="none" strike="noStrike">
              <a:solidFill>
                <a:srgbClr val="7D3C9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3520423" y="2558968"/>
            <a:ext cx="214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Arial"/>
              <a:buNone/>
            </a:pPr>
            <a:r>
              <a:rPr lang="ko" sz="1000">
                <a:solidFill>
                  <a:srgbClr val="C0392B"/>
                </a:solidFill>
              </a:rPr>
              <a:t>③</a:t>
            </a:r>
            <a:r>
              <a:rPr lang="ko" sz="1000">
                <a:solidFill>
                  <a:srgbClr val="C0392B"/>
                </a:solidFill>
              </a:rPr>
              <a:t> 낙상 발생시 이벤트 로그 </a:t>
            </a:r>
            <a:endParaRPr b="0" i="0" sz="10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 txBox="1"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0" i="0" lang="ko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3. 모니터링 및 낙상 감지 — 알람 해제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320040" y="640080"/>
            <a:ext cx="1828800" cy="566928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320040" y="640080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PC3 쓰러짐 감지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(카메라 + AI)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2560320" y="640080"/>
            <a:ext cx="1828800" cy="566928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2560320" y="640080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PC1 서버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4800600" y="640080"/>
            <a:ext cx="1828800" cy="566928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4800600" y="640080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(PostgreSQL)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7040880" y="640080"/>
            <a:ext cx="1828800" cy="566928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7040880" y="640080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PC1 관리자 GUI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ko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(모니터링 화면)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7086600" y="1371600"/>
            <a:ext cx="173736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E7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B4A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1E7B4A"/>
                </a:solidFill>
                <a:latin typeface="Arial"/>
                <a:ea typeface="Arial"/>
                <a:cs typeface="Arial"/>
                <a:sym typeface="Arial"/>
              </a:rPr>
              <a:t>관리자가 현장 확인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" name="Google Shape;184;p18"/>
          <p:cNvCxnSpPr/>
          <p:nvPr/>
        </p:nvCxnSpPr>
        <p:spPr>
          <a:xfrm rot="10800000">
            <a:off x="3474720" y="2011680"/>
            <a:ext cx="4480560" cy="0"/>
          </a:xfrm>
          <a:prstGeom prst="straightConnector1">
            <a:avLst/>
          </a:prstGeom>
          <a:noFill/>
          <a:ln cap="flat" cmpd="sng" w="12700">
            <a:solidFill>
              <a:srgbClr val="1E7B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5" name="Google Shape;185;p18"/>
          <p:cNvSpPr txBox="1"/>
          <p:nvPr/>
        </p:nvSpPr>
        <p:spPr>
          <a:xfrm>
            <a:off x="3520440" y="1783080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rPr sz="1000"/>
              <a:t>① Emergency release 버튼 (HTTP)</a:t>
            </a:r>
          </a:p>
        </p:txBody>
      </p:sp>
      <p:cxnSp>
        <p:nvCxnSpPr>
          <p:cNvPr id="186" name="Google Shape;186;p18"/>
          <p:cNvCxnSpPr/>
          <p:nvPr/>
        </p:nvCxnSpPr>
        <p:spPr>
          <a:xfrm>
            <a:off x="3474720" y="2514600"/>
            <a:ext cx="2240280" cy="0"/>
          </a:xfrm>
          <a:prstGeom prst="straightConnector1">
            <a:avLst/>
          </a:prstGeom>
          <a:noFill/>
          <a:ln cap="flat" cmpd="sng" w="12700">
            <a:solidFill>
              <a:srgbClr val="1E7B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7" name="Google Shape;187;p18"/>
          <p:cNvSpPr txBox="1"/>
          <p:nvPr/>
        </p:nvSpPr>
        <p:spPr>
          <a:xfrm>
            <a:off x="3520440" y="2286000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rPr sz="1000"/>
              <a:t>② 알람 상태 RESOLVED 저장 (SQL)</a:t>
            </a:r>
          </a:p>
        </p:txBody>
      </p:sp>
      <p:cxnSp>
        <p:nvCxnSpPr>
          <p:cNvPr id="188" name="Google Shape;188;p18"/>
          <p:cNvCxnSpPr/>
          <p:nvPr/>
        </p:nvCxnSpPr>
        <p:spPr>
          <a:xfrm>
            <a:off x="3474720" y="3017520"/>
            <a:ext cx="4480560" cy="0"/>
          </a:xfrm>
          <a:prstGeom prst="straightConnector1">
            <a:avLst/>
          </a:prstGeom>
          <a:noFill/>
          <a:ln cap="flat" cmpd="sng" w="12700">
            <a:solidFill>
              <a:srgbClr val="1E7B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9" name="Google Shape;189;p18"/>
          <p:cNvSpPr txBox="1"/>
          <p:nvPr/>
        </p:nvSpPr>
        <p:spPr>
          <a:xfrm>
            <a:off x="3520440" y="2788920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rPr sz="1000"/>
              <a:t>③ NORMAL (HTTP)</a:t>
            </a:r>
          </a:p>
        </p:txBody>
      </p:sp>
      <p:cxnSp>
        <p:nvCxnSpPr>
          <p:cNvPr id="190" name="Google Shape;190;p18"/>
          <p:cNvCxnSpPr/>
          <p:nvPr/>
        </p:nvCxnSpPr>
        <p:spPr>
          <a:xfrm>
            <a:off x="7680960" y="3154680"/>
            <a:ext cx="274320" cy="0"/>
          </a:xfrm>
          <a:prstGeom prst="straightConnector1">
            <a:avLst/>
          </a:prstGeom>
          <a:noFill/>
          <a:ln cap="flat" cmpd="sng" w="12700">
            <a:solidFill>
              <a:srgbClr val="1E7B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" name="Google Shape;191;p18"/>
          <p:cNvCxnSpPr/>
          <p:nvPr/>
        </p:nvCxnSpPr>
        <p:spPr>
          <a:xfrm>
            <a:off x="7680960" y="3154680"/>
            <a:ext cx="0" cy="164592"/>
          </a:xfrm>
          <a:prstGeom prst="straightConnector1">
            <a:avLst/>
          </a:prstGeom>
          <a:noFill/>
          <a:ln cap="flat" cmpd="sng" w="12700">
            <a:solidFill>
              <a:srgbClr val="1E7B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" name="Google Shape;192;p18"/>
          <p:cNvCxnSpPr/>
          <p:nvPr/>
        </p:nvCxnSpPr>
        <p:spPr>
          <a:xfrm>
            <a:off x="7680960" y="3319272"/>
            <a:ext cx="274320" cy="0"/>
          </a:xfrm>
          <a:prstGeom prst="straightConnector1">
            <a:avLst/>
          </a:prstGeom>
          <a:noFill/>
          <a:ln cap="flat" cmpd="sng" w="12700">
            <a:solidFill>
              <a:srgbClr val="1E7B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3" name="Google Shape;193;p18"/>
          <p:cNvSpPr txBox="1"/>
          <p:nvPr/>
        </p:nvSpPr>
        <p:spPr>
          <a:xfrm>
            <a:off x="5669280" y="3118104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7B4A"/>
              </a:buClr>
              <a:buSzPts val="1000"/>
              <a:buFont typeface="Arial"/>
              <a:buNone/>
            </a:pPr>
            <a:r>
              <a:rPr b="0" i="0" lang="ko" sz="1000" u="none" cap="none" strike="noStrike">
                <a:solidFill>
                  <a:srgbClr val="1E7B4A"/>
                </a:solidFill>
                <a:latin typeface="Arial"/>
                <a:ea typeface="Arial"/>
                <a:cs typeface="Arial"/>
                <a:sym typeface="Arial"/>
              </a:rPr>
              <a:t>④ 초록 NORMAL 표시 + 로그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365760" y="4206240"/>
            <a:ext cx="84124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18"/>
          <p:cNvCxnSpPr/>
          <p:nvPr/>
        </p:nvCxnSpPr>
        <p:spPr>
          <a:xfrm>
            <a:off x="1234440" y="1207008"/>
            <a:ext cx="0" cy="37764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96" name="Google Shape;196;p18"/>
          <p:cNvCxnSpPr/>
          <p:nvPr/>
        </p:nvCxnSpPr>
        <p:spPr>
          <a:xfrm>
            <a:off x="3474720" y="1207008"/>
            <a:ext cx="0" cy="37764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97" name="Google Shape;197;p18"/>
          <p:cNvCxnSpPr/>
          <p:nvPr/>
        </p:nvCxnSpPr>
        <p:spPr>
          <a:xfrm>
            <a:off x="5715000" y="1207008"/>
            <a:ext cx="0" cy="37764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98" name="Google Shape;198;p18"/>
          <p:cNvCxnSpPr/>
          <p:nvPr/>
        </p:nvCxnSpPr>
        <p:spPr>
          <a:xfrm>
            <a:off x="7955280" y="1207008"/>
            <a:ext cx="0" cy="37764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"/>
          <p:cNvSpPr txBox="1"/>
          <p:nvPr/>
        </p:nvSpPr>
        <p:spPr>
          <a:xfrm>
            <a:off x="365760" y="137160"/>
            <a:ext cx="8412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lang="ko" sz="1600">
                <a:solidFill>
                  <a:srgbClr val="333333"/>
                </a:solidFill>
              </a:rPr>
              <a:t>통신 명세표 — 화살표 번호: [2-①]   구분: [ PC4 Door kit → PC2 얼굴 인식 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5" name="Google Shape;205;p19"/>
          <p:cNvGraphicFramePr/>
          <p:nvPr/>
        </p:nvGraphicFramePr>
        <p:xfrm>
          <a:off x="274320" y="6217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{CF58E3B4-D6C7-4FFE-B36D-540DD2B49A24}</a:tableStyleId>
              </a:tblPr>
              <a:tblGrid>
                <a:gridCol w="3486800"/>
                <a:gridCol w="4717400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항목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작성 칸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 목적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PC4 카메라 영상을 PC2로 전송하여 얼굴·신체 검출 수행</a:t>
                      </a:r>
                      <a:endParaRPr sz="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 전송 방식 / 누가 접속 / 포트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UDP / PC4 → PC2 / 8766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 인터페이스 (주소 또는 한 줄 형식)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UDP 192.168.15.129:8766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 예시 메시지 (실제 출력 복사)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frame=30 jpeg=29460 bytes packets=25</a:t>
                      </a:r>
                      <a:endParaRPr sz="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 필드 (이름·타입·단위·필수·범위)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프레임 ID, 패킷 번호, 총 패킷 수, JPEG 크기, 이미지 데이터(bytes)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 발생 조건 / 빈도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카메라 실행 중 / 목표 15fps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 원하는 응답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별도 응답 없음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 시간 제한 / 실패 시 동작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미수신 프레임 폐기, 일정 시간 미수신 시 추적 중단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 중복 판단 기준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프레임 ID 기준, 최신 프레임 우선 처리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 나중에 보고 싶은 기록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프레임 수신 시간, 수신 FPS, 패킷 손실 여부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6" name="Google Shape;206;p19"/>
          <p:cNvSpPr txBox="1"/>
          <p:nvPr/>
        </p:nvSpPr>
        <p:spPr>
          <a:xfrm>
            <a:off x="274320" y="4224528"/>
            <a:ext cx="8595300" cy="457200"/>
          </a:xfrm>
          <a:prstGeom prst="rect">
            <a:avLst/>
          </a:prstGeom>
          <a:solidFill>
            <a:srgbClr val="F7F7F7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381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1" i="0" lang="ko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공통 규칙  </a:t>
            </a:r>
            <a:r>
              <a:rPr b="0" i="0" lang="ko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사람 번호 p_num (1~3000 환자 · 3001~4000 방문자 · 4001~5000 직원) · 장치 ID CAM01 / FACE01 / door_01 · 시각은 시간대 포함 (+09:00) · UTF-8 · TCP·Serial 텍스트는 한 줄에 하나, 끝은 \n · 바이너리는 바이트 순서와 필드별 바이트 수 표기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 txBox="1"/>
          <p:nvPr/>
        </p:nvSpPr>
        <p:spPr>
          <a:xfrm>
            <a:off x="365760" y="137160"/>
            <a:ext cx="8412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lang="ko" sz="1600">
                <a:solidFill>
                  <a:srgbClr val="333333"/>
                </a:solidFill>
              </a:rPr>
              <a:t>통신 명세표 — 화살표 번호: [2-②]   구분: [ PC2 얼굴 인식 → PC1 서버 · DB 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3" name="Google Shape;213;p20"/>
          <p:cNvGraphicFramePr/>
          <p:nvPr/>
        </p:nvGraphicFramePr>
        <p:xfrm>
          <a:off x="274320" y="6217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{CF58E3B4-D6C7-4FFE-B36D-540DD2B49A24}</a:tableStyleId>
              </a:tblPr>
              <a:tblGrid>
                <a:gridCol w="3575375"/>
                <a:gridCol w="4837225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항목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작성 칸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 목적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얼굴·몸 검출 여부 및 Bounding Box 좌표 전송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 전송 방식 / 누가 접속 / 포트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TCP / PC2 → PC1 / 8102</a:t>
                      </a:r>
                      <a:endParaRPr sz="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 인터페이스 (주소 또는 한 줄 형식)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TCP PC1_IP:8102</a:t>
                      </a: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/ 쉼표 구분 텍스트</a:t>
                      </a:r>
                      <a:endParaRPr sz="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 예시 메시지 (실제 출력 복사)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T,T,254,241,434,421,179,202,516,479\n</a:t>
                      </a:r>
                      <a:endParaRPr sz="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 필드 (이름·타입·단위·필수·범위)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얼굴·몸 T/N, 얼굴 좌표 4개, 몸 좌표 4개 (미검출 -1)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 발생 조건 / 빈도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객체 검출 중 / 최대 10Hz</a:t>
                      </a:r>
                      <a:endParaRPr sz="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 원하는 응답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별도 응답 없음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 시간 제한 / 실패 시 동작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연결 실패 시 2초 간격 재연결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 중복 판단 기준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최신 좌표 우선 처리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 나중에 보고 싶은 기록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검출 여부, 좌표, 수신 시간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4" name="Google Shape;214;p20"/>
          <p:cNvSpPr txBox="1"/>
          <p:nvPr/>
        </p:nvSpPr>
        <p:spPr>
          <a:xfrm>
            <a:off x="274320" y="4224528"/>
            <a:ext cx="8595300" cy="457200"/>
          </a:xfrm>
          <a:prstGeom prst="rect">
            <a:avLst/>
          </a:prstGeom>
          <a:solidFill>
            <a:srgbClr val="F7F7F7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381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1" i="0" lang="ko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공통 규칙  </a:t>
            </a:r>
            <a:r>
              <a:rPr b="0" i="0" lang="ko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사람 번호 p_num (1~3000 환자 · 3001~4000 방문자 · 4001~5000 직원) · 장치 ID CAM01 / FACE01 / door_01 · 시각은 시간대 포함 (+09:00) · UTF-8 · TCP·Serial 텍스트는 한 줄에 하나, 끝은 \n · 바이너리는 바이트 순서와 필드별 바이트 수 표기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/>
          <p:cNvSpPr txBox="1"/>
          <p:nvPr/>
        </p:nvSpPr>
        <p:spPr>
          <a:xfrm>
            <a:off x="365760" y="137160"/>
            <a:ext cx="8412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lang="ko" sz="1600">
                <a:solidFill>
                  <a:srgbClr val="333333"/>
                </a:solidFill>
              </a:rPr>
              <a:t>통신 명세표 — 화살표 번호: [2-</a:t>
            </a:r>
            <a:r>
              <a:rPr lang="ko" sz="1600">
                <a:solidFill>
                  <a:srgbClr val="333333"/>
                </a:solidFill>
              </a:rPr>
              <a:t>④</a:t>
            </a:r>
            <a:r>
              <a:rPr lang="ko" sz="1600">
                <a:solidFill>
                  <a:srgbClr val="333333"/>
                </a:solidFill>
              </a:rPr>
              <a:t>]   구분: [ PC2 얼굴 인식 → PC1 서버 · DB 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1" name="Google Shape;221;p21"/>
          <p:cNvGraphicFramePr/>
          <p:nvPr/>
        </p:nvGraphicFramePr>
        <p:xfrm>
          <a:off x="274320" y="6217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{CF58E3B4-D6C7-4FFE-B36D-540DD2B49A24}</a:tableStyleId>
              </a:tblPr>
              <a:tblGrid>
                <a:gridCol w="3341050"/>
                <a:gridCol w="4520250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항목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작성 칸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 목적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추출한 512차원 얼굴 임베딩을 PC1으로 전송하여 신원 비교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 전송 방식 / 누가 접속 / 포트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HTTP / PC2 → PC1 / 8101</a:t>
                      </a:r>
                      <a:endParaRPr sz="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 인터페이스 (주소 또는 한 줄 형식)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POST /api/v1/face/identify</a:t>
                      </a:r>
                      <a:endParaRPr sz="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 예시 메시지 (실제 출력 복사)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얼굴 임베딩 벡터(512차원)를 포함한 JSON</a:t>
                      </a:r>
                      <a:endParaRPr sz="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 필드 (이름·타입·단위·필수·범위)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이벤트 ID, 장치 ID, 얼굴 임베딩 배열 등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 발생 조건 / 빈도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얼굴 촬영 및 임베딩 추출 성공 시</a:t>
                      </a:r>
                      <a:endParaRPr sz="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 원하는 응답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별도 응답 없음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 시간 제한 / 실패 시 동작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전송 실패 시 저장 후 재시도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 중복 판단 기준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event_id</a:t>
                      </a: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기준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 나중에 보고 싶은 기록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전송 시간, 인식 결과, 전송 성공 여부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2" name="Google Shape;222;p21"/>
          <p:cNvSpPr txBox="1"/>
          <p:nvPr/>
        </p:nvSpPr>
        <p:spPr>
          <a:xfrm>
            <a:off x="274320" y="4224528"/>
            <a:ext cx="8595300" cy="457200"/>
          </a:xfrm>
          <a:prstGeom prst="rect">
            <a:avLst/>
          </a:prstGeom>
          <a:solidFill>
            <a:srgbClr val="F7F7F7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381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1" i="0" lang="ko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공통 규칙  </a:t>
            </a:r>
            <a:r>
              <a:rPr b="0" i="0" lang="ko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사람 번호 p_num (1~3000 환자 · 3001~4000 방문자 · 4001~5000 직원) · 장치 ID CAM01 / FACE01 / door_01 · 시각은 시간대 포함 (+09:00) · UTF-8 · TCP·Serial 텍스트는 한 줄에 하나, 끝은 \n · 바이너리는 바이트 순서와 필드별 바이트 수 표기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"/>
          <p:cNvSpPr txBox="1"/>
          <p:nvPr/>
        </p:nvSpPr>
        <p:spPr>
          <a:xfrm>
            <a:off x="365760" y="137160"/>
            <a:ext cx="8412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lang="ko" sz="1600">
                <a:solidFill>
                  <a:srgbClr val="333333"/>
                </a:solidFill>
              </a:rPr>
              <a:t>통신 명세표 — 화살표 번호: [③]   구분: [ PC1 서버 → PC4 Door kit 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9" name="Google Shape;229;p22"/>
          <p:cNvGraphicFramePr/>
          <p:nvPr/>
        </p:nvGraphicFramePr>
        <p:xfrm>
          <a:off x="274320" y="6217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{CF58E3B4-D6C7-4FFE-B36D-540DD2B49A24}</a:tableStyleId>
              </a:tblPr>
              <a:tblGrid>
                <a:gridCol w="3346450"/>
                <a:gridCol w="4527550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항목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작성 칸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 목적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PC1이 PC2의 추적 좌표를 PC4로 전달하여 Arduino가 Pan/Tilt를 제어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 전송 방식 / 누가 접속 / 포트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TCP / PC1이 PC4 Bridge에 접속 / 8765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 인터페이스 (주소 또는 한 줄 형식)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한 줄 텍스트: TRACK,body,face,x1,y1,x2,y2,width,height\\n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 예시 메시지 (실제 출력 복사)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TRACK,1,1,220,100,350,260,640,480\\n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 필드 (이름·타입·단위·필수·범위)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body·face 0/1 / bbox 좌상단·우하단 픽셀 정수 / frame width·height 1~4096 / UTF-8 ASCII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 발생 조건 / 빈도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유효한 PC2 관측을 최대 10 Hz로 전달. 무대상 시 TRACK,0,0,-1,-1,-1,-1,width,height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 원하는 응답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응답 없음. PC4 Bridge가 Arduino Serial 115200으로 전달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 시간 제한 / 실패 시 동작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1.5초 동안 PC2 입력이 없으면 무대상 프레임을 전송하여 Arduino를 정지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 중복 판단 기준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동일 관측의 재전송은 최신 값으로 덮어씀; request_id 없음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 나중에 보고 싶은 기록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추적 로그·마지막 bbox 보관 여부는 서버 결정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0" name="Google Shape;230;p22"/>
          <p:cNvSpPr txBox="1"/>
          <p:nvPr/>
        </p:nvSpPr>
        <p:spPr>
          <a:xfrm>
            <a:off x="274320" y="4224528"/>
            <a:ext cx="8595300" cy="457200"/>
          </a:xfrm>
          <a:prstGeom prst="rect">
            <a:avLst/>
          </a:prstGeom>
          <a:solidFill>
            <a:srgbClr val="F7F7F7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381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1" i="0" lang="ko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공통 규칙  </a:t>
            </a:r>
            <a:r>
              <a:rPr b="0" i="0" lang="ko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사람 번호 p_num (1~3000 환자 · 3001~4000 방문자 · 4001~5000 직원) · 장치 ID CAM01 / FACE01 / door_01 · 시각은 시간대 포함 (+09:00) · UTF-8 · TCP·Serial 텍스트는 한 줄에 하나, 끝은 \n · 바이너리는 바이트 순서와 필드별 바이트 수 표기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 txBox="1"/>
          <p:nvPr/>
        </p:nvSpPr>
        <p:spPr>
          <a:xfrm>
            <a:off x="365760" y="137160"/>
            <a:ext cx="8412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lang="ko" sz="1600">
                <a:solidFill>
                  <a:srgbClr val="333333"/>
                </a:solidFill>
              </a:rPr>
              <a:t>통신 명세표 — 화살표 번호: [⑥]   구분: [ PC1 서버 → PC4 Door kit 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7" name="Google Shape;237;p23"/>
          <p:cNvGraphicFramePr/>
          <p:nvPr/>
        </p:nvGraphicFramePr>
        <p:xfrm>
          <a:off x="274320" y="6217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{CF58E3B4-D6C7-4FFE-B36D-540DD2B49A24}</a:tableStyleId>
              </a:tblPr>
              <a:tblGrid>
                <a:gridCol w="3597450"/>
                <a:gridCol w="4867100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항목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작성 칸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 목적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권한이 있는 직원 또는 관리자 명령에 따라 PC4 문을 열도록 요청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 전송 방식 / 누가 접속 / 포트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TCP / PC1이 PC4 Bridge에 접속 / 8765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 인터페이스 (주소 또는 한 줄 형식)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DOOR,OPEN,request_id\\n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 예시 메시지 (실제 출력 복사)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DOOR,OPEN,102\\n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 필드 (이름·타입·단위·필수·범위)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action 고정 문자열 OPEN / request_id 정수 1~2147483647 필수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 발생 조건 / 빈도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직원 권한 승인 또는 관리자 OPEN 시 1회 전송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 원하는 응답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ACK,request_id,OPEN_RECEIVED 후 EVENT,request_id,OPEN_COMPLETED (JSON 변환은 Bridge 구현)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 시간 제한 / 실패 시 동작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5초 내 ACK/EVENT가 없으면 실패 처리; 재전송 여부는 서버 결정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 중복 판단 기준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request_id가 같으면 PC4는 중복 개방 동작을 하지 않음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 나중에 보고 싶은 기록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명령 시각·요청자·결과 저장 여부는 서버 결정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8" name="Google Shape;238;p23"/>
          <p:cNvSpPr txBox="1"/>
          <p:nvPr/>
        </p:nvSpPr>
        <p:spPr>
          <a:xfrm>
            <a:off x="274320" y="4224528"/>
            <a:ext cx="8595300" cy="457200"/>
          </a:xfrm>
          <a:prstGeom prst="rect">
            <a:avLst/>
          </a:prstGeom>
          <a:solidFill>
            <a:srgbClr val="F7F7F7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381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1" i="0" lang="ko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공통 규칙  </a:t>
            </a:r>
            <a:r>
              <a:rPr b="0" i="0" lang="ko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사람 번호 p_num (1~3000 환자 · 3001~4000 방문자 · 4001~5000 직원) · 장치 ID CAM01 / FACE01 / door_01 · 시각은 시간대 포함 (+09:00) · UTF-8 · TCP·Serial 텍스트는 한 줄에 하나, 끝은 \n · 바이너리는 바이트 순서와 필드별 바이트 수 표기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4"/>
          <p:cNvSpPr txBox="1"/>
          <p:nvPr/>
        </p:nvSpPr>
        <p:spPr>
          <a:xfrm>
            <a:off x="365760" y="137160"/>
            <a:ext cx="8412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lang="ko" sz="1600">
                <a:solidFill>
                  <a:srgbClr val="333333"/>
                </a:solidFill>
              </a:rPr>
              <a:t>통신 명세표 — 화살표 번호: [⑥]   구분: [ </a:t>
            </a:r>
            <a:r>
              <a:rPr lang="ko" sz="1600">
                <a:solidFill>
                  <a:srgbClr val="333333"/>
                </a:solidFill>
              </a:rPr>
              <a:t>PC4 Door kit → PC1 서버 </a:t>
            </a:r>
            <a:r>
              <a:rPr lang="ko" sz="1600">
                <a:solidFill>
                  <a:srgbClr val="333333"/>
                </a:solidFill>
              </a:rPr>
              <a:t> 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5" name="Google Shape;245;p24"/>
          <p:cNvGraphicFramePr/>
          <p:nvPr/>
        </p:nvGraphicFramePr>
        <p:xfrm>
          <a:off x="274320" y="6217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{CF58E3B4-D6C7-4FFE-B36D-540DD2B49A24}</a:tableStyleId>
              </a:tblPr>
              <a:tblGrid>
                <a:gridCol w="3597450"/>
                <a:gridCol w="4867100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항목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작성 칸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 목적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Arduino로 카메라 모터·문을 제어한 결과(</a:t>
                      </a:r>
                      <a:r>
                        <a:rPr lang="ko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ACK,V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ko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DOOR,1/0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)를 PC1에 보고 (향후 구현, 현재는 PC4 터미널에만 표시)</a:t>
                      </a:r>
                      <a:endParaRPr sz="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 전송 방식 / 누가 접속 / 포트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TCP / PC4 Bridge → PC1 / 포트 미정 (PC1 서버와 협의)</a:t>
                      </a:r>
                      <a:endParaRPr sz="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 인터페이스 (주소 또는 한 줄 형식)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미정 — 보고할 원본은 Arduino 출력 </a:t>
                      </a:r>
                      <a:r>
                        <a:rPr lang="ko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ACK,V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ko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DOOR,1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ko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DOOR,0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 (한 줄, 끝은 </a:t>
                      </a:r>
                      <a:r>
                        <a:rPr lang="ko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\n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)</a:t>
                      </a:r>
                      <a:endParaRPr sz="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 예시 메시지 (실제 출력 복사)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ACK,V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 (Arduino 수신 시험의 실제 응답) · </a:t>
                      </a:r>
                      <a:r>
                        <a:rPr lang="ko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DOOR,1/0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은 아직 실제 로그 없음.</a:t>
                      </a:r>
                      <a:endParaRPr sz="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 필드 (이름·타입·단위·필수·범위)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CK,V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(문자열): V 명령 파싱 확인, 모터 도착 확인 아님 · </a:t>
                      </a:r>
                      <a:r>
                        <a:rPr lang="ko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DOOR,1/0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(문자열): </a:t>
                      </a:r>
                      <a:r>
                        <a:rPr lang="ko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 열기 / </a:t>
                      </a:r>
                      <a:r>
                        <a:rPr lang="ko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 닫기를 서보에 씀 · (제안) </a:t>
                      </a:r>
                      <a:r>
                        <a:rPr lang="ko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event_id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ko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camera_id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 추가</a:t>
                      </a:r>
                      <a:endParaRPr sz="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 발생 조건 / 빈도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ACK,V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: 첫 유효 V 명령 시, 이후 최대 5초마다 · </a:t>
                      </a:r>
                      <a:r>
                        <a:rPr lang="ko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DOOR,1/0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: 문 상태가 바뀔 때만</a:t>
                      </a:r>
                      <a:endParaRPr sz="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 원하는 응답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현재 없음 · (제안) PC1이 </a:t>
                      </a:r>
                      <a:r>
                        <a:rPr lang="ko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event_id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로 수신 확인 응답</a:t>
                      </a:r>
                      <a:endParaRPr sz="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 시간 제한 / 실패 시 동작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sz="800"/>
                        <a:t>응답 제한 시간·재시도 횟수 미정 · 문 열기 명령은 실패 후 자동 재전송 안 함</a:t>
                      </a:r>
                      <a:endParaRPr sz="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 중복 판단 기준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현재 ID 없음 → (제안) </a:t>
                      </a:r>
                      <a:r>
                        <a:rPr lang="ko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camera_id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 + </a:t>
                      </a:r>
                      <a:r>
                        <a:rPr lang="ko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event_id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 기준 · 문 열기 요청은 별도 </a:t>
                      </a:r>
                      <a:r>
                        <a:rPr lang="ko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request_id</a:t>
                      </a:r>
                      <a:endParaRPr sz="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 나중에 보고 싶은 기록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발생 시각, </a:t>
                      </a:r>
                      <a:r>
                        <a:rPr lang="ko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camera_id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, 송수신 방향, 원본 </a:t>
                      </a:r>
                      <a:r>
                        <a:rPr lang="ko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TRACK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·변환된 </a:t>
                      </a:r>
                      <a:r>
                        <a:rPr lang="ko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ko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ACK,V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·</a:t>
                      </a:r>
                      <a:r>
                        <a:rPr lang="ko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DOOR,1/0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, (재)연결 시각, 실패 이유, PC1 수신 확인, 응답까지 걸린 시간</a:t>
                      </a:r>
                      <a:endParaRPr sz="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 txBox="1"/>
          <p:nvPr/>
        </p:nvSpPr>
        <p:spPr>
          <a:xfrm>
            <a:off x="365760" y="13716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ko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통신 명세표 — 화살표 번호: [  </a:t>
            </a:r>
            <a:r>
              <a:rPr lang="ko" sz="1600">
                <a:solidFill>
                  <a:srgbClr val="333333"/>
                </a:solidFill>
              </a:rPr>
              <a:t>3</a:t>
            </a:r>
            <a:r>
              <a:rPr lang="ko" sz="1600">
                <a:solidFill>
                  <a:srgbClr val="333333"/>
                </a:solidFill>
              </a:rPr>
              <a:t>-①</a:t>
            </a:r>
            <a:r>
              <a:rPr b="0" i="0" lang="ko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]   구분: [ </a:t>
            </a:r>
            <a:r>
              <a:rPr b="1" lang="ko" sz="1100">
                <a:solidFill>
                  <a:srgbClr val="333333"/>
                </a:solidFill>
              </a:rPr>
              <a:t>PC3 쓰러짐 감지</a:t>
            </a: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ko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→ </a:t>
            </a:r>
            <a:r>
              <a:rPr b="1" lang="ko" sz="1100">
                <a:solidFill>
                  <a:srgbClr val="333333"/>
                </a:solidFill>
              </a:rPr>
              <a:t>PC1 서버</a:t>
            </a:r>
            <a:r>
              <a:rPr b="0" i="0" lang="ko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2" name="Google Shape;252;p25"/>
          <p:cNvGraphicFramePr/>
          <p:nvPr/>
        </p:nvGraphicFramePr>
        <p:xfrm>
          <a:off x="274320" y="6217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{CF58E3B4-D6C7-4FFE-B36D-540DD2B49A24}</a:tableStyleId>
              </a:tblPr>
              <a:tblGrid>
                <a:gridCol w="2331725"/>
                <a:gridCol w="5936625"/>
                <a:gridCol w="327000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항목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작성 칸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 목적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실시간 영상 JPEG와 사람별 관절 좌표, 추적 ID, 낙상 판단 및 이벤트를 PC1 서버로 전달</a:t>
                      </a:r>
                      <a:endParaRPr sz="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 전송 방식 / 누가 접속 / 포트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900"/>
                        <a:t>HTTP POST / PC3 AI → PC1 Main Service / TCP 8101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 인터페이스 (주소 또는 한 줄 형식)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ko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POST </a:t>
                      </a:r>
                      <a:r>
                        <a:rPr lang="ko" sz="1100" u="sng">
                          <a:solidFill>
                            <a:schemeClr val="hlink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rId3"/>
                        </a:rPr>
                        <a:t>http://(P1</a:t>
                      </a:r>
                      <a:r>
                        <a:rPr lang="ko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IP)</a:t>
                      </a:r>
                      <a:r>
                        <a:rPr lang="ko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:</a:t>
                      </a:r>
                      <a:r>
                        <a:rPr lang="ko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8101/api/v1/live/frame</a:t>
                      </a: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/ </a:t>
                      </a:r>
                      <a:r>
                        <a:rPr lang="ko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multipart/form-data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 예시 메시지 (실제 출력 복사)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metadata</a:t>
                      </a:r>
                      <a:r>
                        <a:rPr lang="ko" sz="1100">
                          <a:solidFill>
                            <a:schemeClr val="dk1"/>
                          </a:solidFill>
                        </a:rPr>
                        <a:t>: JSON 분석 결과 / </a:t>
                      </a:r>
                      <a:r>
                        <a:rPr lang="ko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image</a:t>
                      </a:r>
                      <a:r>
                        <a:rPr lang="ko" sz="1100">
                          <a:solidFill>
                            <a:schemeClr val="dk1"/>
                          </a:solidFill>
                        </a:rPr>
                        <a:t>: JPEG 바이너리(</a:t>
                      </a:r>
                      <a:r>
                        <a:rPr lang="ko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frame.jpg</a:t>
                      </a:r>
                      <a:r>
                        <a:rPr lang="ko" sz="1100">
                          <a:solidFill>
                            <a:schemeClr val="dk1"/>
                          </a:solidFill>
                        </a:rPr>
                        <a:t>). 아래 상세 예시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metadata: JSON 분석 결과 / image: JPEG 바이너리(frame.jpg). 아래 상세 예시 참조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{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"message_type": "frame_analysis",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"frame_id": 1234,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"observed_at": "2026-10-22T14:30:00.123+0900",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"camera": {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"camera_id": "camera_1",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"location": "ROOM_1"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},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"source_size": [1920, 1080],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"coordinate_system": "original_frame_pixels",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"image": {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"format": "jpeg",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"source_size": [1920, 1080],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"display_size": [640, 360],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"coordinate_system": "original_frame_pixels"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},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"persons": [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{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"track_id": 7,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"bbox_xyxy": [205.0, 550.0, 1190.0, 950.0],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"detection_confidence": 0.91,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"landmarks": [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  {"name":"nose","x":780,"y":630,"confidence":0.87},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  {"name":"left_eye","x":788,"y":622,"confidence":0.85},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  {"name":"right_eye","x":778,"y":622,"confidence":0.84},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  {"name":"left_ear","x":800,"y":631,"confidence":0.80},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  {"name":"right_ear","x":765,"y":631,"confidence":0.81},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  {"name":"left_shoulder","x":670,"y":665,"confidence":0.93},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  {"name":"right_shoulder","x":650,"y":695,"confidence":0.92},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  {"name":"left_elbow","x":600,"y":620,"confidence":0.88},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  {"name":"right_elbow","x":610,"y":755,"confidence":0.89},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  {"name":"left_wrist","x":525,"y":605,"confidence":0.83},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  {"name":"right_wrist","x":550,"y":800,"confidence":0.82},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  {"name":"left_hip","x":535,"y":720,"confidence":0.91},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  {"name":"right_hip","x":505,"y":750,"confidence":0.90},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  {"name":"left_knee","x":400,"y":755,"confidence":0.85},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  {"name":"right_knee","x":385,"y":820,"confidence":0.86},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  {"name":"left_ankle","x":290,"y":760,"confidence":0.78},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  {"name":"right_ankle","x":275,"y":850,"confidence":0.77}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]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}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],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"fall_judgments": [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{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"track_id": 7,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"state": "fall_confirmed",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"frames_collected": 40,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"fall_probability": 0.92,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"geometry_score": 0.97,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"model_evidence": true,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"input_valid": true,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"input_rejected_reason": null,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"fall_latched": false,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"confirmed_frame_id": 1234,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"confirmed_timestamp_ms": 41133,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"confirmed_at": "2026-10-22T14:30:00.123+0900",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"confirmed_score": 0.92,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"peak_fall_probability": 0.92,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"transition_evidence": true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}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],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"event": {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"current_states": [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{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  "track_id": 7,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  "state": "fall_confirmed",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  "confirmed_frame_id": 1234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}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],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"new_events": [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{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  "event_type": "fall_confirmed",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  "camera_id": "camera_1",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  "track_id": 7,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  "confirmed_frame_id": 1234,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  "confirmed_at": "2026-10-22T14:30:00.123+0900",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  "fall_probability": 0.92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  }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  ]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 }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}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 필드 (이름·타입·단위·필수·범위)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ko" sz="900"/>
                        <a:t>frame_id: int, 프레임 번호</a:t>
                      </a:r>
                      <a:endParaRPr sz="900"/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ko" sz="900"/>
                        <a:t>observed_at: string, 관측 시각</a:t>
                      </a:r>
                      <a:endParaRPr sz="900"/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ko" sz="900"/>
                        <a:t>camera_id/location: string, 카메라 식별 정보</a:t>
                      </a:r>
                      <a:endParaRPr sz="900"/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ko" sz="900"/>
                        <a:t>source_size/display_size: int[2], 픽셀 해상도</a:t>
                      </a:r>
                      <a:endParaRPr sz="900"/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ko" sz="900"/>
                        <a:t>persons: array, track_id·bbox·COCO-17 관절 좌표 및 신뢰도</a:t>
                      </a:r>
                      <a:endParaRPr sz="900"/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ko" sz="900"/>
                        <a:t>fall_judgments: array, state·fall_probability(0~1)·geometry_score(0~1)·판단 근거</a:t>
                      </a:r>
                      <a:endParaRPr sz="900"/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ko" sz="900"/>
                        <a:t>event.current_states: array, 현재 감지 상태</a:t>
                      </a:r>
                      <a:endParaRPr sz="900"/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ko" sz="900"/>
                        <a:t>event.new_events: array, 신규 낙상 확정 정보</a:t>
                      </a:r>
                      <a:endParaRPr sz="900"/>
                    </a:p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ko" sz="900"/>
                        <a:t>image: JPEG 바이너리, 가로 최대 640px</a:t>
                      </a:r>
                      <a:endParaRPr sz="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 발생 조건 / 빈도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AI 추론 중 프레임별 전송 시도 / 설정 상한 최대 10 FPS (변경가능)  / 낙상 확정 시 신규 이벤트 포함</a:t>
                      </a:r>
                      <a:endParaRPr sz="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 원하는 응답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HTTP 2xx(200~299) 성공 처리 / 응답 JSON 필드 별도 요구 없음</a:t>
                      </a:r>
                      <a:endParaRPr sz="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 시간 제한 / 실패 시 동작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타임아웃 3초 / 전송 오류 처리 / 미전달 낙상 이벤트가 있으면 1초 후 재시도</a:t>
                      </a:r>
                      <a:endParaRPr sz="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 중복 판단 기준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낙상 이벤트는 </a:t>
                      </a:r>
                      <a:r>
                        <a:rPr lang="ko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(camera_id, track_id, confirmed_frame_id)</a:t>
                      </a:r>
                      <a:r>
                        <a:rPr lang="ko" sz="1100">
                          <a:solidFill>
                            <a:schemeClr val="dk1"/>
                          </a:solidFill>
                        </a:rPr>
                        <a:t> 조합으로 실행 중 중복 전송 방지</a:t>
                      </a:r>
                      <a:endParaRPr sz="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 나중에 보고 싶은 기록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/>
                        <a:t>카메라 ID, 프레임·관측 시각, 추적 ID, 낙상 발생 시각·확률, 전송 성공·실패, 처리 상태</a:t>
                      </a:r>
                      <a:endParaRPr sz="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3" name="Google Shape;253;p25"/>
          <p:cNvSpPr txBox="1"/>
          <p:nvPr/>
        </p:nvSpPr>
        <p:spPr>
          <a:xfrm>
            <a:off x="182895" y="5198503"/>
            <a:ext cx="8595300" cy="457200"/>
          </a:xfrm>
          <a:prstGeom prst="rect">
            <a:avLst/>
          </a:prstGeom>
          <a:solidFill>
            <a:srgbClr val="F7F7F7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381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1" i="0" lang="ko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공통 규칙  </a:t>
            </a:r>
            <a:r>
              <a:rPr b="0" i="0" lang="ko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사람 번호 p_num (1~3000 환자 · 3001~4000 방문자 · 4001~5000 직원) · 장치 ID CAM01 / FACE01 / door_01 · 시각은 시간대 포함 (+09:00) · UTF-8 · TCP·Serial 텍스트는 한 줄에 하나, 끝은 \n · 바이너리는 바이트 순서와 필드별 바이트 수 표기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 txBox="1"/>
          <p:nvPr/>
        </p:nvSpPr>
        <p:spPr>
          <a:xfrm>
            <a:off x="365750" y="137150"/>
            <a:ext cx="8412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ko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통신 명세표 — 화살표 번호: [  </a:t>
            </a:r>
            <a:r>
              <a:rPr lang="ko" sz="1600">
                <a:solidFill>
                  <a:srgbClr val="333333"/>
                </a:solidFill>
              </a:rPr>
              <a:t>3-②</a:t>
            </a:r>
            <a:r>
              <a:rPr b="0" i="0" lang="ko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]   구분: [ </a:t>
            </a:r>
            <a:r>
              <a:rPr b="1" lang="ko" sz="1100">
                <a:solidFill>
                  <a:srgbClr val="333333"/>
                </a:solidFill>
              </a:rPr>
              <a:t>PC1 서버</a:t>
            </a: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ko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→ </a:t>
            </a:r>
            <a:r>
              <a:rPr b="1" lang="ko" sz="1100">
                <a:solidFill>
                  <a:srgbClr val="333333"/>
                </a:solidFill>
              </a:rPr>
              <a:t>PC1 관리자 GUI(모니터링 화면)</a:t>
            </a:r>
            <a:r>
              <a:rPr b="0" i="0" lang="ko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6"/>
          <p:cNvSpPr txBox="1"/>
          <p:nvPr/>
        </p:nvSpPr>
        <p:spPr>
          <a:xfrm>
            <a:off x="274345" y="4686303"/>
            <a:ext cx="8595300" cy="457200"/>
          </a:xfrm>
          <a:prstGeom prst="rect">
            <a:avLst/>
          </a:prstGeom>
          <a:solidFill>
            <a:srgbClr val="F7F7F7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381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1" i="0" lang="ko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공통 규칙  </a:t>
            </a:r>
            <a:r>
              <a:rPr b="0" i="0" lang="ko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사람 번호 p_num (1~3000 환자 · 3001~4000 방문자 · 4001~5000 직원) · 장치 ID CAM01 / FACE01 / door_01 · 시각은 시간대 포함 (+09:00) · UTF-8 · TCP·Serial 텍스트는 한 줄에 하나, 끝은 \n · 바이너리는 바이트 순서와 필드별 바이트 수 표기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1" name="Google Shape;261;p26"/>
          <p:cNvGraphicFramePr/>
          <p:nvPr/>
        </p:nvGraphicFramePr>
        <p:xfrm>
          <a:off x="274320" y="6217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{CF58E3B4-D6C7-4FFE-B36D-540DD2B49A24}</a:tableStyleId>
              </a:tblPr>
              <a:tblGrid>
                <a:gridCol w="3446300"/>
                <a:gridCol w="4662650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항목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작성 칸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70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 목적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sz="1000"/>
                        <a:t>PC1 서버가 수신한 AI 분석용 실시간 CCTV 영상(JPEG)을 관리자 GUI에 전달하여 화면에 표시</a:t>
                      </a:r>
                      <a:endParaRPr sz="10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 전송 방식 / 누가 접속 / 포트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HTTP GET / GUI가 PC1 서버에 접속 / TCP 8101</a:t>
                      </a:r>
                      <a:endParaRPr sz="11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 인터페이스 (주소 또는 한 줄 형식)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sz="9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GET /api/v1/live/frame/{camera_id}/image</a:t>
                      </a:r>
                      <a:endParaRPr sz="9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9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 예시 메시지 (실제 출력 복사)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HTTP 200 OK / </a:t>
                      </a:r>
                      <a:r>
                        <a:rPr lang="ko" sz="9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Content-Type: image/jpeg</a:t>
                      </a:r>
                      <a:r>
                        <a:rPr lang="ko" sz="900">
                          <a:solidFill>
                            <a:schemeClr val="dk1"/>
                          </a:solidFill>
                        </a:rPr>
                        <a:t> / JPEG 바이너리 데이터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 필드 (이름·타입·단위·필수·범위)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sz="9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tcamera_id</a:t>
                      </a:r>
                      <a:r>
                        <a:rPr lang="ko" sz="900">
                          <a:solidFill>
                            <a:schemeClr val="dk1"/>
                          </a:solidFill>
                        </a:rPr>
                        <a:t>: string, 카메라 식별자(필수, URL 경로) / 응답 본문: JPEG image(bytes)</a:t>
                      </a:r>
                      <a:endParaRPr sz="9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 발생 조건 / 빈도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GUI가 최신 영상을 요청할 때마다 전송. AI → 서버 입력은 최대 10 FPS 설정이며 GUI 요청 FPS는 별도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 원하는 응답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sz="900"/>
                        <a:t>HTTP 200 OK + JPEG 바이너리 / 영상 미존재 시 HTTP 404</a:t>
                      </a:r>
                      <a:endParaRPr sz="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 시간 제한 / 실패 시 동작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sz="1000"/>
                        <a:t>서버 코드에 별도 응답 제한시간 없음. 통신 실패 시 GUI 측 재요청 정책 필요</a:t>
                      </a:r>
                      <a:endParaRPr sz="10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 중복 판단 기준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서버는 카메라별 최신 프레임만 메모리에 유지. 이전 프레임은 새 프레임으로 덮어씀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 나중에 보고 싶은 기록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전카메라 ID, 프레임 수신 시각, 영상 조회 시각, 전송 성공·실패 및 지연시간 (기록 기능 별도 구현 필요)</a:t>
                      </a:r>
                      <a:endParaRPr sz="13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"/>
          <p:cNvSpPr txBox="1"/>
          <p:nvPr/>
        </p:nvSpPr>
        <p:spPr>
          <a:xfrm>
            <a:off x="365760" y="137160"/>
            <a:ext cx="8412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ko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통신 명세표 — 화살표 번호: [  </a:t>
            </a:r>
            <a:r>
              <a:rPr lang="ko" sz="1600">
                <a:solidFill>
                  <a:srgbClr val="333333"/>
                </a:solidFill>
              </a:rPr>
              <a:t>3-③</a:t>
            </a:r>
            <a:r>
              <a:rPr b="0" i="0" lang="ko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]   구분: [ </a:t>
            </a:r>
            <a:r>
              <a:rPr b="1" lang="ko" sz="1100">
                <a:solidFill>
                  <a:srgbClr val="333333"/>
                </a:solidFill>
              </a:rPr>
              <a:t>PC1 서버</a:t>
            </a:r>
            <a:r>
              <a:rPr lang="ko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ko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→ </a:t>
            </a:r>
            <a:r>
              <a:rPr b="1" lang="ko" sz="1100">
                <a:solidFill>
                  <a:srgbClr val="333333"/>
                </a:solidFill>
              </a:rPr>
              <a:t>DB(PostgreSQL)</a:t>
            </a:r>
            <a:r>
              <a:rPr b="0" i="0" lang="ko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7"/>
          <p:cNvSpPr txBox="1"/>
          <p:nvPr/>
        </p:nvSpPr>
        <p:spPr>
          <a:xfrm>
            <a:off x="274345" y="4561778"/>
            <a:ext cx="8595300" cy="457200"/>
          </a:xfrm>
          <a:prstGeom prst="rect">
            <a:avLst/>
          </a:prstGeom>
          <a:solidFill>
            <a:srgbClr val="F7F7F7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381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1" i="0" lang="ko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공통 규칙  </a:t>
            </a:r>
            <a:r>
              <a:rPr b="0" i="0" lang="ko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사람 번호 p_num (1~3000 환자 · 3001~4000 방문자 · 4001~5000 직원) · 장치 ID CAM01 / FACE01 / door_01 · 시각은 시간대 포함 (+09:00) · UTF-8 · TCP·Serial 텍스트는 한 줄에 하나, 끝은 \n · 바이너리는 바이트 순서와 필드별 바이트 수 표기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9" name="Google Shape;269;p27"/>
          <p:cNvGraphicFramePr/>
          <p:nvPr/>
        </p:nvGraphicFramePr>
        <p:xfrm>
          <a:off x="274320" y="6217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{CF58E3B4-D6C7-4FFE-B36D-540DD2B49A24}</a:tableStyleId>
              </a:tblPr>
              <a:tblGrid>
                <a:gridCol w="3548875"/>
                <a:gridCol w="5046450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항목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작성 칸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 목적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낙상 이벤트를 DB에 기록하고 알람을 생성 (나중에 조회·통계·처리 이력용)</a:t>
                      </a:r>
                      <a:endParaRPr sz="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 전송 방식 / 누가 접속 / 포트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PostgreSQL 접속 (psycopg) / 서버가 DB에 접속 / 5432 (PC1 내부만, 외부 차단)</a:t>
                      </a:r>
                      <a:endParaRPr sz="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 인터페이스 (주소 또는 한 줄 형식)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INSERT INTO hcc.fall_events</a:t>
                      </a:r>
                      <a:r>
                        <a:rPr lang="ko" sz="900">
                          <a:solidFill>
                            <a:schemeClr val="dk1"/>
                          </a:solidFill>
                        </a:rPr>
                        <a:t> → </a:t>
                      </a:r>
                      <a:r>
                        <a:rPr lang="ko" sz="9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INSERT INTO hcc.alerts</a:t>
                      </a:r>
                      <a:r>
                        <a:rPr lang="ko" sz="900">
                          <a:solidFill>
                            <a:schemeClr val="dk1"/>
                          </a:solidFill>
                        </a:rPr>
                        <a:t> (한 트랜잭션)</a:t>
                      </a:r>
                      <a:endParaRPr sz="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 예시 메시지 (실제 출력 복사)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fall_events: ('a1b2', NULL, 'CAM01', '3', 'FALL', '2026-10-22T14:00:00+09:00', 'room_101', 0.91, [100,120,260,400])</a:t>
                      </a:r>
                      <a:r>
                        <a:rPr lang="ko" sz="900">
                          <a:solidFill>
                            <a:schemeClr val="dk1"/>
                          </a:solidFill>
                        </a:rPr>
                        <a:t> / </a:t>
                      </a:r>
                      <a:r>
                        <a:rPr lang="ko" sz="9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alerts: (fall_event_id='a1b2', status='ACTIVE')</a:t>
                      </a:r>
                      <a:endParaRPr sz="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 필드 (이름·타입·단위·필수·범위)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event_id 문자 ≤64 필수(PK) / camera_id 문자 필수(등록된 카메라) / event_type FALL·COLLAPSE·SUSPECTED_FALL 필수 / occurred_at 시각(+09:00) 필수 / location 문자 선택(없으면 카메라 위치) / confidence 실수 0~1 선택 / bbox_xyxy 숫자 4개 선택 / track_id 문자 선택 / person_id 문자 선택</a:t>
                      </a:r>
                      <a:endParaRPr sz="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 발생 조건 / 빈도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PC3가 낙상으로 판단해 서버에 보냈을 때만 (0.5초마다 오는 영상·좌표는 저장 안 함). 같은 사람 10초에 최대 1번</a:t>
                      </a:r>
                      <a:endParaRPr sz="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 원하는 응답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저장 성공 시 alert_id (알람 번호, UUID) 반환 → 서버가 GUI에 FALL 알림</a:t>
                      </a:r>
                      <a:endParaRPr sz="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 시간 제한 / 실패 시 동작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수 ms 이내 / DB 오류면 저장 전체 취소(롤백), 서버는 PC3에 503 응답 → PC3가 다시 보냄</a:t>
                      </a:r>
                      <a:endParaRPr sz="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 중복 판단 기준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event_id가 같으면 같은 낙상 → 두 번째는 저장 안 함 (알람도 하나만)</a:t>
                      </a:r>
                      <a:endParaRPr sz="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1" lang="ko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 나중에 보고 싶은 기록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낙상 시각·위치·카메라·신뢰도 목록, 알람 상태(ACTIVE → ACKNOWLEDGED → RESOLVED)와 처리 시각·처리자·메모</a:t>
                      </a:r>
                      <a:endParaRPr sz="9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